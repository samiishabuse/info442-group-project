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charts/chart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3.xml" ContentType="application/vnd.openxmlformats-officedocument.drawingml.chart+xml"/>
  <Override PartName="/ppt/notesSlides/notesSlide13.xml" ContentType="application/vnd.openxmlformats-officedocument.presentationml.notesSlide+xml"/>
  <Override PartName="/ppt/charts/chart4.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9" d="100"/>
          <a:sy n="119" d="100"/>
        </p:scale>
        <p:origin x="216" y="3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6202F"/>
                </a:solidFill>
                <a:latin typeface="Calibri"/>
              </a:defRPr>
            </a:pPr>
            <a:r>
              <a:rPr sz="1200" b="0" i="0" u="none" strike="noStrike">
                <a:solidFill>
                  <a:srgbClr val="16202F"/>
                </a:solidFill>
                <a:latin typeface="Calibri"/>
              </a:rPr>
              <a:t>Random-forest feature importance</a:t>
            </a:r>
          </a:p>
        </c:rich>
      </c:tx>
      <c:overlay val="0"/>
    </c:title>
    <c:autoTitleDeleted val="0"/>
    <c:plotArea>
      <c:layout/>
      <c:barChart>
        <c:barDir val="bar"/>
        <c:grouping val="clustered"/>
        <c:varyColors val="0"/>
        <c:ser>
          <c:idx val="0"/>
          <c:order val="0"/>
          <c:tx>
            <c:strRef>
              <c:f>Sheet1!$B$1</c:f>
              <c:strCache>
                <c:ptCount val="1"/>
                <c:pt idx="0">
                  <c:v>RF importance</c:v>
                </c:pt>
              </c:strCache>
            </c:strRef>
          </c:tx>
          <c:spPr>
            <a:solidFill>
              <a:srgbClr val="00A896"/>
            </a:solidFill>
            <a:effectLst/>
          </c:spPr>
          <c:invertIfNegative val="0"/>
          <c:dLbls>
            <c:numFmt formatCode="0.00" sourceLinked="0"/>
            <c:spPr>
              <a:noFill/>
              <a:ln>
                <a:noFill/>
              </a:ln>
              <a:effectLst/>
            </c:spPr>
            <c:txPr>
              <a:bodyPr/>
              <a:lstStyle/>
              <a:p>
                <a:pPr>
                  <a:defRPr sz="900" b="0" i="0" u="none" strike="noStrike">
                    <a:solidFill>
                      <a:srgbClr val="5D6E85"/>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cpi_pct_change</c:v>
                </c:pt>
                <c:pt idx="1">
                  <c:v>risk_free_rate</c:v>
                </c:pt>
                <c:pt idx="2">
                  <c:v>vix</c:v>
                </c:pt>
                <c:pt idx="3">
                  <c:v>yield_curve</c:v>
                </c:pt>
                <c:pt idx="4">
                  <c:v>recession_flag</c:v>
                </c:pt>
                <c:pt idx="5">
                  <c:v>rolling_vol_5d</c:v>
                </c:pt>
                <c:pt idx="6">
                  <c:v>rolling_abs_ret_20d</c:v>
                </c:pt>
              </c:strCache>
            </c:strRef>
          </c:cat>
          <c:val>
            <c:numRef>
              <c:f>Sheet1!$B$2:$B$8</c:f>
              <c:numCache>
                <c:formatCode>General</c:formatCode>
                <c:ptCount val="7"/>
                <c:pt idx="0">
                  <c:v>0.108</c:v>
                </c:pt>
                <c:pt idx="1">
                  <c:v>0.112</c:v>
                </c:pt>
                <c:pt idx="2">
                  <c:v>6.2E-2</c:v>
                </c:pt>
                <c:pt idx="3">
                  <c:v>3.9E-2</c:v>
                </c:pt>
                <c:pt idx="4">
                  <c:v>3.4000000000000002E-2</c:v>
                </c:pt>
                <c:pt idx="5">
                  <c:v>3.4000000000000002E-2</c:v>
                </c:pt>
                <c:pt idx="6">
                  <c:v>0.432</c:v>
                </c:pt>
              </c:numCache>
            </c:numRef>
          </c:val>
          <c:extLst>
            <c:ext xmlns:c16="http://schemas.microsoft.com/office/drawing/2014/chart" uri="{C3380CC4-5D6E-409C-BE32-E72D297353CC}">
              <c16:uniqueId val="{00000000-1DAD-3941-A1BD-9F1DF38BF95E}"/>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5D6E85"/>
                </a:solidFill>
                <a:latin typeface="Arial"/>
              </a:defRPr>
            </a:pPr>
            <a:endParaRPr lang="en-US"/>
          </a:p>
        </c:txPr>
        <c:crossAx val="2094734552"/>
        <c:crosses val="autoZero"/>
        <c:auto val="1"/>
        <c:lblAlgn val="ctr"/>
        <c:lblOffset val="100"/>
        <c:noMultiLvlLbl val="1"/>
      </c:catAx>
      <c:valAx>
        <c:axId val="2094734552"/>
        <c:scaling>
          <c:orientation val="minMax"/>
          <c:max val="0.5"/>
        </c:scaling>
        <c:delete val="0"/>
        <c:axPos val="b"/>
        <c:majorGridlines>
          <c:spPr>
            <a:ln w="12700" cap="flat">
              <a:solidFill>
                <a:srgbClr val="E4E9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D6E85"/>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6202F"/>
                </a:solidFill>
                <a:latin typeface="Calibri"/>
              </a:defRPr>
            </a:pPr>
            <a:r>
              <a:rPr sz="1200" b="0" i="0" u="none" strike="noStrike">
                <a:solidFill>
                  <a:srgbClr val="16202F"/>
                </a:solidFill>
                <a:latin typeface="Calibri"/>
              </a:rPr>
              <a:t>Test RMSE — lower is better (all tickers, 2024–2025)</a:t>
            </a:r>
          </a:p>
        </c:rich>
      </c:tx>
      <c:overlay val="0"/>
    </c:title>
    <c:autoTitleDeleted val="0"/>
    <c:plotArea>
      <c:layout/>
      <c:barChart>
        <c:barDir val="bar"/>
        <c:grouping val="clustered"/>
        <c:varyColors val="0"/>
        <c:ser>
          <c:idx val="0"/>
          <c:order val="0"/>
          <c:tx>
            <c:strRef>
              <c:f>Sheet1!$B$1</c:f>
              <c:strCache>
                <c:ptCount val="1"/>
                <c:pt idx="0">
                  <c:v>RMSE</c:v>
                </c:pt>
              </c:strCache>
            </c:strRef>
          </c:tx>
          <c:spPr>
            <a:solidFill>
              <a:srgbClr val="5D6E85"/>
            </a:solidFill>
            <a:effectLst/>
          </c:spPr>
          <c:invertIfNegative val="0"/>
          <c:dPt>
            <c:idx val="0"/>
            <c:invertIfNegative val="0"/>
            <c:bubble3D val="0"/>
            <c:extLst>
              <c:ext xmlns:c16="http://schemas.microsoft.com/office/drawing/2014/chart" uri="{C3380CC4-5D6E-409C-BE32-E72D297353CC}">
                <c16:uniqueId val="{00000001-3DC7-B64A-9763-969722DE6C42}"/>
              </c:ext>
            </c:extLst>
          </c:dPt>
          <c:dPt>
            <c:idx val="1"/>
            <c:invertIfNegative val="0"/>
            <c:bubble3D val="0"/>
            <c:extLst>
              <c:ext xmlns:c16="http://schemas.microsoft.com/office/drawing/2014/chart" uri="{C3380CC4-5D6E-409C-BE32-E72D297353CC}">
                <c16:uniqueId val="{00000003-3DC7-B64A-9763-969722DE6C42}"/>
              </c:ext>
            </c:extLst>
          </c:dPt>
          <c:dPt>
            <c:idx val="2"/>
            <c:invertIfNegative val="0"/>
            <c:bubble3D val="0"/>
            <c:spPr>
              <a:solidFill>
                <a:srgbClr val="E8A33D"/>
              </a:solidFill>
              <a:effectLst/>
            </c:spPr>
            <c:extLst>
              <c:ext xmlns:c16="http://schemas.microsoft.com/office/drawing/2014/chart" uri="{C3380CC4-5D6E-409C-BE32-E72D297353CC}">
                <c16:uniqueId val="{00000005-3DC7-B64A-9763-969722DE6C42}"/>
              </c:ext>
            </c:extLst>
          </c:dPt>
          <c:dPt>
            <c:idx val="3"/>
            <c:invertIfNegative val="0"/>
            <c:bubble3D val="0"/>
            <c:spPr>
              <a:solidFill>
                <a:srgbClr val="6FD3C4"/>
              </a:solidFill>
              <a:effectLst/>
            </c:spPr>
            <c:extLst>
              <c:ext xmlns:c16="http://schemas.microsoft.com/office/drawing/2014/chart" uri="{C3380CC4-5D6E-409C-BE32-E72D297353CC}">
                <c16:uniqueId val="{00000007-3DC7-B64A-9763-969722DE6C42}"/>
              </c:ext>
            </c:extLst>
          </c:dPt>
          <c:dPt>
            <c:idx val="4"/>
            <c:invertIfNegative val="0"/>
            <c:bubble3D val="0"/>
            <c:spPr>
              <a:solidFill>
                <a:srgbClr val="00A896"/>
              </a:solidFill>
              <a:effectLst/>
            </c:spPr>
            <c:extLst>
              <c:ext xmlns:c16="http://schemas.microsoft.com/office/drawing/2014/chart" uri="{C3380CC4-5D6E-409C-BE32-E72D297353CC}">
                <c16:uniqueId val="{00000009-3DC7-B64A-9763-969722DE6C42}"/>
              </c:ext>
            </c:extLst>
          </c:dPt>
          <c:dLbls>
            <c:numFmt formatCode="0.00000" sourceLinked="0"/>
            <c:spPr>
              <a:noFill/>
              <a:ln>
                <a:noFill/>
              </a:ln>
              <a:effectLst/>
            </c:spPr>
            <c:txPr>
              <a:bodyPr/>
              <a:lstStyle/>
              <a:p>
                <a:pPr>
                  <a:defRPr sz="1000" b="0" i="0" u="none" strike="noStrike">
                    <a:solidFill>
                      <a:srgbClr val="16202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Linear Regression</c:v>
                </c:pt>
                <c:pt idx="1">
                  <c:v>Ridge Regression</c:v>
                </c:pt>
                <c:pt idx="2">
                  <c:v>Baseline: 20d rolling vol</c:v>
                </c:pt>
                <c:pt idx="3">
                  <c:v>Gradient Boosting</c:v>
                </c:pt>
                <c:pt idx="4">
                  <c:v>Random Forest (tuned)</c:v>
                </c:pt>
              </c:strCache>
            </c:strRef>
          </c:cat>
          <c:val>
            <c:numRef>
              <c:f>Sheet1!$B$2:$B$6</c:f>
              <c:numCache>
                <c:formatCode>General</c:formatCode>
                <c:ptCount val="5"/>
                <c:pt idx="0">
                  <c:v>7.7640000000000001E-3</c:v>
                </c:pt>
                <c:pt idx="1">
                  <c:v>7.7629999999999999E-3</c:v>
                </c:pt>
                <c:pt idx="2">
                  <c:v>7.1300000000000001E-3</c:v>
                </c:pt>
                <c:pt idx="3">
                  <c:v>5.9459999999999999E-3</c:v>
                </c:pt>
                <c:pt idx="4">
                  <c:v>5.8019999999999999E-3</c:v>
                </c:pt>
              </c:numCache>
            </c:numRef>
          </c:val>
          <c:extLst>
            <c:ext xmlns:c16="http://schemas.microsoft.com/office/drawing/2014/chart" uri="{C3380CC4-5D6E-409C-BE32-E72D297353CC}">
              <c16:uniqueId val="{0000000A-3DC7-B64A-9763-969722DE6C42}"/>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02F"/>
                </a:solidFill>
                <a:latin typeface="Arial"/>
              </a:defRPr>
            </a:pPr>
            <a:endParaRPr lang="en-US"/>
          </a:p>
        </c:txPr>
        <c:crossAx val="2094734552"/>
        <c:crosses val="autoZero"/>
        <c:auto val="1"/>
        <c:lblAlgn val="ctr"/>
        <c:lblOffset val="100"/>
        <c:noMultiLvlLbl val="1"/>
      </c:catAx>
      <c:valAx>
        <c:axId val="2094734552"/>
        <c:scaling>
          <c:orientation val="minMax"/>
          <c:max val="8.9999999999999993E-3"/>
        </c:scaling>
        <c:delete val="0"/>
        <c:axPos val="b"/>
        <c:majorGridlines>
          <c:spPr>
            <a:ln w="12700" cap="flat">
              <a:solidFill>
                <a:srgbClr val="E4E9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D6E85"/>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RF Predictive Max Sharpe</c:v>
                </c:pt>
              </c:strCache>
            </c:strRef>
          </c:tx>
          <c:spPr>
            <a:ln w="31750" cap="flat">
              <a:solidFill>
                <a:srgbClr val="00A896"/>
              </a:solidFill>
              <a:prstDash val="solid"/>
              <a:round/>
            </a:ln>
            <a:effectLst/>
          </c:spPr>
          <c:marker>
            <c:symbol val="circle"/>
            <c:size val="6"/>
            <c:spPr>
              <a:solidFill>
                <a:srgbClr val="00A896"/>
              </a:solidFill>
              <a:ln w="9525" cap="flat">
                <a:solidFill>
                  <a:srgbClr val="00A896"/>
                </a:solidFill>
                <a:prstDash val="solid"/>
                <a:round/>
              </a:ln>
              <a:effectLst/>
            </c:spPr>
          </c:marker>
          <c:cat>
            <c:strRef>
              <c:f>Sheet1!$A$2:$A$26</c:f>
              <c:strCache>
                <c:ptCount val="25"/>
                <c:pt idx="0">
                  <c:v>Jan 24</c:v>
                </c:pt>
                <c:pt idx="1">
                  <c:v>  </c:v>
                </c:pt>
                <c:pt idx="2">
                  <c:v>   </c:v>
                </c:pt>
                <c:pt idx="3">
                  <c:v>Mar 24</c:v>
                </c:pt>
                <c:pt idx="4">
                  <c:v>     </c:v>
                </c:pt>
                <c:pt idx="5">
                  <c:v>      </c:v>
                </c:pt>
                <c:pt idx="6">
                  <c:v>Jun 24</c:v>
                </c:pt>
                <c:pt idx="7">
                  <c:v>        </c:v>
                </c:pt>
                <c:pt idx="8">
                  <c:v>         </c:v>
                </c:pt>
                <c:pt idx="9">
                  <c:v>Sep 24</c:v>
                </c:pt>
                <c:pt idx="10">
                  <c:v>           </c:v>
                </c:pt>
                <c:pt idx="11">
                  <c:v>            </c:v>
                </c:pt>
                <c:pt idx="12">
                  <c:v>Dec 24</c:v>
                </c:pt>
                <c:pt idx="13">
                  <c:v>              </c:v>
                </c:pt>
                <c:pt idx="14">
                  <c:v>               </c:v>
                </c:pt>
                <c:pt idx="15">
                  <c:v>Mar 25</c:v>
                </c:pt>
                <c:pt idx="16">
                  <c:v>                 </c:v>
                </c:pt>
                <c:pt idx="17">
                  <c:v>                  </c:v>
                </c:pt>
                <c:pt idx="18">
                  <c:v>Jun 25</c:v>
                </c:pt>
                <c:pt idx="19">
                  <c:v>                    </c:v>
                </c:pt>
                <c:pt idx="20">
                  <c:v>                     </c:v>
                </c:pt>
                <c:pt idx="21">
                  <c:v>Sep 25</c:v>
                </c:pt>
                <c:pt idx="22">
                  <c:v>                       </c:v>
                </c:pt>
                <c:pt idx="23">
                  <c:v>                        </c:v>
                </c:pt>
                <c:pt idx="24">
                  <c:v>Dec 25</c:v>
                </c:pt>
              </c:strCache>
            </c:strRef>
          </c:cat>
          <c:val>
            <c:numRef>
              <c:f>Sheet1!$B$2:$B$26</c:f>
              <c:numCache>
                <c:formatCode>General</c:formatCode>
                <c:ptCount val="25"/>
                <c:pt idx="0">
                  <c:v>-0.77</c:v>
                </c:pt>
                <c:pt idx="1">
                  <c:v>2.44</c:v>
                </c:pt>
                <c:pt idx="2">
                  <c:v>7.26</c:v>
                </c:pt>
                <c:pt idx="3">
                  <c:v>9.1999999999999993</c:v>
                </c:pt>
                <c:pt idx="4">
                  <c:v>7.72</c:v>
                </c:pt>
                <c:pt idx="5">
                  <c:v>14.7</c:v>
                </c:pt>
                <c:pt idx="6">
                  <c:v>21.76</c:v>
                </c:pt>
                <c:pt idx="7">
                  <c:v>20.45</c:v>
                </c:pt>
                <c:pt idx="8">
                  <c:v>28.35</c:v>
                </c:pt>
                <c:pt idx="9">
                  <c:v>28.19</c:v>
                </c:pt>
                <c:pt idx="10">
                  <c:v>25.23</c:v>
                </c:pt>
                <c:pt idx="11">
                  <c:v>27.1</c:v>
                </c:pt>
                <c:pt idx="12">
                  <c:v>26.71</c:v>
                </c:pt>
                <c:pt idx="13">
                  <c:v>29.08</c:v>
                </c:pt>
                <c:pt idx="14">
                  <c:v>34.61</c:v>
                </c:pt>
                <c:pt idx="15">
                  <c:v>28.9</c:v>
                </c:pt>
                <c:pt idx="16">
                  <c:v>33.26</c:v>
                </c:pt>
                <c:pt idx="17">
                  <c:v>29.44</c:v>
                </c:pt>
                <c:pt idx="18">
                  <c:v>34.44</c:v>
                </c:pt>
                <c:pt idx="19">
                  <c:v>34.54</c:v>
                </c:pt>
                <c:pt idx="20">
                  <c:v>39</c:v>
                </c:pt>
                <c:pt idx="21">
                  <c:v>47.93</c:v>
                </c:pt>
                <c:pt idx="22">
                  <c:v>56.33</c:v>
                </c:pt>
                <c:pt idx="23">
                  <c:v>67.02</c:v>
                </c:pt>
                <c:pt idx="24">
                  <c:v>67.55</c:v>
                </c:pt>
              </c:numCache>
            </c:numRef>
          </c:val>
          <c:smooth val="0"/>
          <c:extLst>
            <c:ext xmlns:c16="http://schemas.microsoft.com/office/drawing/2014/chart" uri="{C3380CC4-5D6E-409C-BE32-E72D297353CC}">
              <c16:uniqueId val="{00000000-BD32-3841-A7D7-EA2D7F45537A}"/>
            </c:ext>
          </c:extLst>
        </c:ser>
        <c:ser>
          <c:idx val="1"/>
          <c:order val="1"/>
          <c:tx>
            <c:strRef>
              <c:f>Sheet1!$C$1</c:f>
              <c:strCache>
                <c:ptCount val="1"/>
                <c:pt idx="0">
                  <c:v>Historical Max Sharpe</c:v>
                </c:pt>
              </c:strCache>
            </c:strRef>
          </c:tx>
          <c:spPr>
            <a:ln w="31750" cap="flat">
              <a:solidFill>
                <a:srgbClr val="0E1F3C"/>
              </a:solidFill>
              <a:prstDash val="solid"/>
              <a:round/>
            </a:ln>
            <a:effectLst/>
          </c:spPr>
          <c:marker>
            <c:symbol val="circle"/>
            <c:size val="6"/>
            <c:spPr>
              <a:solidFill>
                <a:srgbClr val="0E1F3C"/>
              </a:solidFill>
              <a:ln w="9525" cap="flat">
                <a:solidFill>
                  <a:srgbClr val="0E1F3C"/>
                </a:solidFill>
                <a:prstDash val="solid"/>
                <a:round/>
              </a:ln>
              <a:effectLst/>
            </c:spPr>
          </c:marker>
          <c:cat>
            <c:strRef>
              <c:f>Sheet1!$A$2:$A$26</c:f>
              <c:strCache>
                <c:ptCount val="25"/>
                <c:pt idx="0">
                  <c:v>Jan 24</c:v>
                </c:pt>
                <c:pt idx="1">
                  <c:v>  </c:v>
                </c:pt>
                <c:pt idx="2">
                  <c:v>   </c:v>
                </c:pt>
                <c:pt idx="3">
                  <c:v>Mar 24</c:v>
                </c:pt>
                <c:pt idx="4">
                  <c:v>     </c:v>
                </c:pt>
                <c:pt idx="5">
                  <c:v>      </c:v>
                </c:pt>
                <c:pt idx="6">
                  <c:v>Jun 24</c:v>
                </c:pt>
                <c:pt idx="7">
                  <c:v>        </c:v>
                </c:pt>
                <c:pt idx="8">
                  <c:v>         </c:v>
                </c:pt>
                <c:pt idx="9">
                  <c:v>Sep 24</c:v>
                </c:pt>
                <c:pt idx="10">
                  <c:v>           </c:v>
                </c:pt>
                <c:pt idx="11">
                  <c:v>            </c:v>
                </c:pt>
                <c:pt idx="12">
                  <c:v>Dec 24</c:v>
                </c:pt>
                <c:pt idx="13">
                  <c:v>              </c:v>
                </c:pt>
                <c:pt idx="14">
                  <c:v>               </c:v>
                </c:pt>
                <c:pt idx="15">
                  <c:v>Mar 25</c:v>
                </c:pt>
                <c:pt idx="16">
                  <c:v>                 </c:v>
                </c:pt>
                <c:pt idx="17">
                  <c:v>                  </c:v>
                </c:pt>
                <c:pt idx="18">
                  <c:v>Jun 25</c:v>
                </c:pt>
                <c:pt idx="19">
                  <c:v>                    </c:v>
                </c:pt>
                <c:pt idx="20">
                  <c:v>                     </c:v>
                </c:pt>
                <c:pt idx="21">
                  <c:v>Sep 25</c:v>
                </c:pt>
                <c:pt idx="22">
                  <c:v>                       </c:v>
                </c:pt>
                <c:pt idx="23">
                  <c:v>                        </c:v>
                </c:pt>
                <c:pt idx="24">
                  <c:v>Dec 25</c:v>
                </c:pt>
              </c:strCache>
            </c:strRef>
          </c:cat>
          <c:val>
            <c:numRef>
              <c:f>Sheet1!$C$2:$C$26</c:f>
              <c:numCache>
                <c:formatCode>General</c:formatCode>
                <c:ptCount val="25"/>
                <c:pt idx="0">
                  <c:v>-0.52</c:v>
                </c:pt>
                <c:pt idx="1">
                  <c:v>2.35</c:v>
                </c:pt>
                <c:pt idx="2">
                  <c:v>7.22</c:v>
                </c:pt>
                <c:pt idx="3">
                  <c:v>10.48</c:v>
                </c:pt>
                <c:pt idx="4">
                  <c:v>8.8699999999999992</c:v>
                </c:pt>
                <c:pt idx="5">
                  <c:v>14.55</c:v>
                </c:pt>
                <c:pt idx="6">
                  <c:v>20.69</c:v>
                </c:pt>
                <c:pt idx="7">
                  <c:v>19.52</c:v>
                </c:pt>
                <c:pt idx="8">
                  <c:v>27</c:v>
                </c:pt>
                <c:pt idx="9">
                  <c:v>27.95</c:v>
                </c:pt>
                <c:pt idx="10">
                  <c:v>24.59</c:v>
                </c:pt>
                <c:pt idx="11">
                  <c:v>25.13</c:v>
                </c:pt>
                <c:pt idx="12">
                  <c:v>23.08</c:v>
                </c:pt>
                <c:pt idx="13">
                  <c:v>25.87</c:v>
                </c:pt>
                <c:pt idx="14">
                  <c:v>30.68</c:v>
                </c:pt>
                <c:pt idx="15">
                  <c:v>27.25</c:v>
                </c:pt>
                <c:pt idx="16">
                  <c:v>31.98</c:v>
                </c:pt>
                <c:pt idx="17">
                  <c:v>28.19</c:v>
                </c:pt>
                <c:pt idx="18">
                  <c:v>33.32</c:v>
                </c:pt>
                <c:pt idx="19">
                  <c:v>33.61</c:v>
                </c:pt>
                <c:pt idx="20">
                  <c:v>36.79</c:v>
                </c:pt>
                <c:pt idx="21">
                  <c:v>46.3</c:v>
                </c:pt>
                <c:pt idx="22">
                  <c:v>55.54</c:v>
                </c:pt>
                <c:pt idx="23">
                  <c:v>66.36</c:v>
                </c:pt>
                <c:pt idx="24">
                  <c:v>66.819999999999993</c:v>
                </c:pt>
              </c:numCache>
            </c:numRef>
          </c:val>
          <c:smooth val="0"/>
          <c:extLst>
            <c:ext xmlns:c16="http://schemas.microsoft.com/office/drawing/2014/chart" uri="{C3380CC4-5D6E-409C-BE32-E72D297353CC}">
              <c16:uniqueId val="{00000001-BD32-3841-A7D7-EA2D7F45537A}"/>
            </c:ext>
          </c:extLst>
        </c:ser>
        <c:ser>
          <c:idx val="2"/>
          <c:order val="2"/>
          <c:tx>
            <c:strRef>
              <c:f>Sheet1!$D$1</c:f>
              <c:strCache>
                <c:ptCount val="1"/>
                <c:pt idx="0">
                  <c:v>SPY Benchmark</c:v>
                </c:pt>
              </c:strCache>
            </c:strRef>
          </c:tx>
          <c:spPr>
            <a:ln w="31750" cap="flat">
              <a:solidFill>
                <a:srgbClr val="E8A33D"/>
              </a:solidFill>
              <a:prstDash val="solid"/>
              <a:round/>
            </a:ln>
            <a:effectLst/>
          </c:spPr>
          <c:marker>
            <c:symbol val="circle"/>
            <c:size val="6"/>
            <c:spPr>
              <a:solidFill>
                <a:srgbClr val="E8A33D"/>
              </a:solidFill>
              <a:ln w="9525" cap="flat">
                <a:solidFill>
                  <a:srgbClr val="E8A33D"/>
                </a:solidFill>
                <a:prstDash val="solid"/>
                <a:round/>
              </a:ln>
              <a:effectLst/>
            </c:spPr>
          </c:marker>
          <c:cat>
            <c:strRef>
              <c:f>Sheet1!$A$2:$A$26</c:f>
              <c:strCache>
                <c:ptCount val="25"/>
                <c:pt idx="0">
                  <c:v>Jan 24</c:v>
                </c:pt>
                <c:pt idx="1">
                  <c:v>  </c:v>
                </c:pt>
                <c:pt idx="2">
                  <c:v>   </c:v>
                </c:pt>
                <c:pt idx="3">
                  <c:v>Mar 24</c:v>
                </c:pt>
                <c:pt idx="4">
                  <c:v>     </c:v>
                </c:pt>
                <c:pt idx="5">
                  <c:v>      </c:v>
                </c:pt>
                <c:pt idx="6">
                  <c:v>Jun 24</c:v>
                </c:pt>
                <c:pt idx="7">
                  <c:v>        </c:v>
                </c:pt>
                <c:pt idx="8">
                  <c:v>         </c:v>
                </c:pt>
                <c:pt idx="9">
                  <c:v>Sep 24</c:v>
                </c:pt>
                <c:pt idx="10">
                  <c:v>           </c:v>
                </c:pt>
                <c:pt idx="11">
                  <c:v>            </c:v>
                </c:pt>
                <c:pt idx="12">
                  <c:v>Dec 24</c:v>
                </c:pt>
                <c:pt idx="13">
                  <c:v>              </c:v>
                </c:pt>
                <c:pt idx="14">
                  <c:v>               </c:v>
                </c:pt>
                <c:pt idx="15">
                  <c:v>Mar 25</c:v>
                </c:pt>
                <c:pt idx="16">
                  <c:v>                 </c:v>
                </c:pt>
                <c:pt idx="17">
                  <c:v>                  </c:v>
                </c:pt>
                <c:pt idx="18">
                  <c:v>Jun 25</c:v>
                </c:pt>
                <c:pt idx="19">
                  <c:v>                    </c:v>
                </c:pt>
                <c:pt idx="20">
                  <c:v>                     </c:v>
                </c:pt>
                <c:pt idx="21">
                  <c:v>Sep 25</c:v>
                </c:pt>
                <c:pt idx="22">
                  <c:v>                       </c:v>
                </c:pt>
                <c:pt idx="23">
                  <c:v>                        </c:v>
                </c:pt>
                <c:pt idx="24">
                  <c:v>Dec 25</c:v>
                </c:pt>
              </c:strCache>
            </c:strRef>
          </c:cat>
          <c:val>
            <c:numRef>
              <c:f>Sheet1!$D$2:$D$26</c:f>
              <c:numCache>
                <c:formatCode>General</c:formatCode>
                <c:ptCount val="25"/>
                <c:pt idx="0">
                  <c:v>-0.56000000000000005</c:v>
                </c:pt>
                <c:pt idx="1">
                  <c:v>1.59</c:v>
                </c:pt>
                <c:pt idx="2">
                  <c:v>6.89</c:v>
                </c:pt>
                <c:pt idx="3">
                  <c:v>10.39</c:v>
                </c:pt>
                <c:pt idx="4">
                  <c:v>5.94</c:v>
                </c:pt>
                <c:pt idx="5">
                  <c:v>11.3</c:v>
                </c:pt>
                <c:pt idx="6">
                  <c:v>15.22</c:v>
                </c:pt>
                <c:pt idx="7">
                  <c:v>16.62</c:v>
                </c:pt>
                <c:pt idx="8">
                  <c:v>19.34</c:v>
                </c:pt>
                <c:pt idx="9">
                  <c:v>21.85</c:v>
                </c:pt>
                <c:pt idx="10">
                  <c:v>20.76</c:v>
                </c:pt>
                <c:pt idx="11">
                  <c:v>27.97</c:v>
                </c:pt>
                <c:pt idx="12">
                  <c:v>24.89</c:v>
                </c:pt>
                <c:pt idx="13">
                  <c:v>28.24</c:v>
                </c:pt>
                <c:pt idx="14">
                  <c:v>26.61</c:v>
                </c:pt>
                <c:pt idx="15">
                  <c:v>19.559999999999999</c:v>
                </c:pt>
                <c:pt idx="16">
                  <c:v>18.52</c:v>
                </c:pt>
                <c:pt idx="17">
                  <c:v>25.97</c:v>
                </c:pt>
                <c:pt idx="18">
                  <c:v>32.44</c:v>
                </c:pt>
                <c:pt idx="19">
                  <c:v>35.49</c:v>
                </c:pt>
                <c:pt idx="20">
                  <c:v>38.270000000000003</c:v>
                </c:pt>
                <c:pt idx="21">
                  <c:v>43.2</c:v>
                </c:pt>
                <c:pt idx="22">
                  <c:v>46.61</c:v>
                </c:pt>
                <c:pt idx="23">
                  <c:v>46.9</c:v>
                </c:pt>
                <c:pt idx="24">
                  <c:v>48.11</c:v>
                </c:pt>
              </c:numCache>
            </c:numRef>
          </c:val>
          <c:smooth val="0"/>
          <c:extLst>
            <c:ext xmlns:c16="http://schemas.microsoft.com/office/drawing/2014/chart" uri="{C3380CC4-5D6E-409C-BE32-E72D297353CC}">
              <c16:uniqueId val="{00000002-BD32-3841-A7D7-EA2D7F45537A}"/>
            </c:ext>
          </c:extLst>
        </c:ser>
        <c:ser>
          <c:idx val="3"/>
          <c:order val="3"/>
          <c:tx>
            <c:strRef>
              <c:f>Sheet1!$E$1</c:f>
              <c:strCache>
                <c:ptCount val="1"/>
                <c:pt idx="0">
                  <c:v>Equal Weight</c:v>
                </c:pt>
              </c:strCache>
            </c:strRef>
          </c:tx>
          <c:spPr>
            <a:ln w="31750" cap="flat">
              <a:solidFill>
                <a:srgbClr val="5D6E85"/>
              </a:solidFill>
              <a:prstDash val="solid"/>
              <a:round/>
            </a:ln>
            <a:effectLst/>
          </c:spPr>
          <c:marker>
            <c:symbol val="circle"/>
            <c:size val="6"/>
            <c:spPr>
              <a:solidFill>
                <a:srgbClr val="5D6E85"/>
              </a:solidFill>
              <a:ln w="9525" cap="flat">
                <a:solidFill>
                  <a:srgbClr val="5D6E85"/>
                </a:solidFill>
                <a:prstDash val="solid"/>
                <a:round/>
              </a:ln>
              <a:effectLst/>
            </c:spPr>
          </c:marker>
          <c:cat>
            <c:strRef>
              <c:f>Sheet1!$A$2:$A$26</c:f>
              <c:strCache>
                <c:ptCount val="25"/>
                <c:pt idx="0">
                  <c:v>Jan 24</c:v>
                </c:pt>
                <c:pt idx="1">
                  <c:v>  </c:v>
                </c:pt>
                <c:pt idx="2">
                  <c:v>   </c:v>
                </c:pt>
                <c:pt idx="3">
                  <c:v>Mar 24</c:v>
                </c:pt>
                <c:pt idx="4">
                  <c:v>     </c:v>
                </c:pt>
                <c:pt idx="5">
                  <c:v>      </c:v>
                </c:pt>
                <c:pt idx="6">
                  <c:v>Jun 24</c:v>
                </c:pt>
                <c:pt idx="7">
                  <c:v>        </c:v>
                </c:pt>
                <c:pt idx="8">
                  <c:v>         </c:v>
                </c:pt>
                <c:pt idx="9">
                  <c:v>Sep 24</c:v>
                </c:pt>
                <c:pt idx="10">
                  <c:v>           </c:v>
                </c:pt>
                <c:pt idx="11">
                  <c:v>            </c:v>
                </c:pt>
                <c:pt idx="12">
                  <c:v>Dec 24</c:v>
                </c:pt>
                <c:pt idx="13">
                  <c:v>              </c:v>
                </c:pt>
                <c:pt idx="14">
                  <c:v>               </c:v>
                </c:pt>
                <c:pt idx="15">
                  <c:v>Mar 25</c:v>
                </c:pt>
                <c:pt idx="16">
                  <c:v>                 </c:v>
                </c:pt>
                <c:pt idx="17">
                  <c:v>                  </c:v>
                </c:pt>
                <c:pt idx="18">
                  <c:v>Jun 25</c:v>
                </c:pt>
                <c:pt idx="19">
                  <c:v>                    </c:v>
                </c:pt>
                <c:pt idx="20">
                  <c:v>                     </c:v>
                </c:pt>
                <c:pt idx="21">
                  <c:v>Sep 25</c:v>
                </c:pt>
                <c:pt idx="22">
                  <c:v>                       </c:v>
                </c:pt>
                <c:pt idx="23">
                  <c:v>                        </c:v>
                </c:pt>
                <c:pt idx="24">
                  <c:v>Dec 25</c:v>
                </c:pt>
              </c:strCache>
            </c:strRef>
          </c:cat>
          <c:val>
            <c:numRef>
              <c:f>Sheet1!$E$2:$E$26</c:f>
              <c:numCache>
                <c:formatCode>General</c:formatCode>
                <c:ptCount val="25"/>
                <c:pt idx="0">
                  <c:v>0.23</c:v>
                </c:pt>
                <c:pt idx="1">
                  <c:v>1.51</c:v>
                </c:pt>
                <c:pt idx="2">
                  <c:v>4.1399999999999997</c:v>
                </c:pt>
                <c:pt idx="3">
                  <c:v>8.2100000000000009</c:v>
                </c:pt>
                <c:pt idx="4">
                  <c:v>5.99</c:v>
                </c:pt>
                <c:pt idx="5">
                  <c:v>10.52</c:v>
                </c:pt>
                <c:pt idx="6">
                  <c:v>12.43</c:v>
                </c:pt>
                <c:pt idx="7">
                  <c:v>15.78</c:v>
                </c:pt>
                <c:pt idx="8">
                  <c:v>20.329999999999998</c:v>
                </c:pt>
                <c:pt idx="9">
                  <c:v>22.65</c:v>
                </c:pt>
                <c:pt idx="10">
                  <c:v>19.420000000000002</c:v>
                </c:pt>
                <c:pt idx="11">
                  <c:v>24.07</c:v>
                </c:pt>
                <c:pt idx="12">
                  <c:v>18.54</c:v>
                </c:pt>
                <c:pt idx="13">
                  <c:v>21.5</c:v>
                </c:pt>
                <c:pt idx="14">
                  <c:v>23.04</c:v>
                </c:pt>
                <c:pt idx="15">
                  <c:v>21.39</c:v>
                </c:pt>
                <c:pt idx="16">
                  <c:v>20.010000000000002</c:v>
                </c:pt>
                <c:pt idx="17">
                  <c:v>21.28</c:v>
                </c:pt>
                <c:pt idx="18">
                  <c:v>24.54</c:v>
                </c:pt>
                <c:pt idx="19">
                  <c:v>23.95</c:v>
                </c:pt>
                <c:pt idx="20">
                  <c:v>28.12</c:v>
                </c:pt>
                <c:pt idx="21">
                  <c:v>32.78</c:v>
                </c:pt>
                <c:pt idx="22">
                  <c:v>36.93</c:v>
                </c:pt>
                <c:pt idx="23">
                  <c:v>39.01</c:v>
                </c:pt>
                <c:pt idx="24">
                  <c:v>39.68</c:v>
                </c:pt>
              </c:numCache>
            </c:numRef>
          </c:val>
          <c:smooth val="0"/>
          <c:extLst>
            <c:ext xmlns:c16="http://schemas.microsoft.com/office/drawing/2014/chart" uri="{C3380CC4-5D6E-409C-BE32-E72D297353CC}">
              <c16:uniqueId val="{00000003-BD32-3841-A7D7-EA2D7F45537A}"/>
            </c:ext>
          </c:extLst>
        </c:ser>
        <c:ser>
          <c:idx val="4"/>
          <c:order val="4"/>
          <c:tx>
            <c:strRef>
              <c:f>Sheet1!$F$1</c:f>
              <c:strCache>
                <c:ptCount val="1"/>
                <c:pt idx="0">
                  <c:v>Historical Min Vol</c:v>
                </c:pt>
              </c:strCache>
            </c:strRef>
          </c:tx>
          <c:spPr>
            <a:ln w="31750" cap="flat">
              <a:solidFill>
                <a:srgbClr val="6FD3C4"/>
              </a:solidFill>
              <a:prstDash val="solid"/>
              <a:round/>
            </a:ln>
            <a:effectLst/>
          </c:spPr>
          <c:marker>
            <c:symbol val="circle"/>
            <c:size val="6"/>
            <c:spPr>
              <a:solidFill>
                <a:srgbClr val="6FD3C4"/>
              </a:solidFill>
              <a:ln w="9525" cap="flat">
                <a:solidFill>
                  <a:srgbClr val="6FD3C4"/>
                </a:solidFill>
                <a:prstDash val="solid"/>
                <a:round/>
              </a:ln>
              <a:effectLst/>
            </c:spPr>
          </c:marker>
          <c:cat>
            <c:strRef>
              <c:f>Sheet1!$A$2:$A$26</c:f>
              <c:strCache>
                <c:ptCount val="25"/>
                <c:pt idx="0">
                  <c:v>Jan 24</c:v>
                </c:pt>
                <c:pt idx="1">
                  <c:v>  </c:v>
                </c:pt>
                <c:pt idx="2">
                  <c:v>   </c:v>
                </c:pt>
                <c:pt idx="3">
                  <c:v>Mar 24</c:v>
                </c:pt>
                <c:pt idx="4">
                  <c:v>     </c:v>
                </c:pt>
                <c:pt idx="5">
                  <c:v>      </c:v>
                </c:pt>
                <c:pt idx="6">
                  <c:v>Jun 24</c:v>
                </c:pt>
                <c:pt idx="7">
                  <c:v>        </c:v>
                </c:pt>
                <c:pt idx="8">
                  <c:v>         </c:v>
                </c:pt>
                <c:pt idx="9">
                  <c:v>Sep 24</c:v>
                </c:pt>
                <c:pt idx="10">
                  <c:v>           </c:v>
                </c:pt>
                <c:pt idx="11">
                  <c:v>            </c:v>
                </c:pt>
                <c:pt idx="12">
                  <c:v>Dec 24</c:v>
                </c:pt>
                <c:pt idx="13">
                  <c:v>              </c:v>
                </c:pt>
                <c:pt idx="14">
                  <c:v>               </c:v>
                </c:pt>
                <c:pt idx="15">
                  <c:v>Mar 25</c:v>
                </c:pt>
                <c:pt idx="16">
                  <c:v>                 </c:v>
                </c:pt>
                <c:pt idx="17">
                  <c:v>                  </c:v>
                </c:pt>
                <c:pt idx="18">
                  <c:v>Jun 25</c:v>
                </c:pt>
                <c:pt idx="19">
                  <c:v>                    </c:v>
                </c:pt>
                <c:pt idx="20">
                  <c:v>                     </c:v>
                </c:pt>
                <c:pt idx="21">
                  <c:v>Sep 25</c:v>
                </c:pt>
                <c:pt idx="22">
                  <c:v>                       </c:v>
                </c:pt>
                <c:pt idx="23">
                  <c:v>                        </c:v>
                </c:pt>
                <c:pt idx="24">
                  <c:v>Dec 25</c:v>
                </c:pt>
              </c:strCache>
            </c:strRef>
          </c:cat>
          <c:val>
            <c:numRef>
              <c:f>Sheet1!$F$2:$F$26</c:f>
              <c:numCache>
                <c:formatCode>General</c:formatCode>
                <c:ptCount val="25"/>
                <c:pt idx="0">
                  <c:v>0.13</c:v>
                </c:pt>
                <c:pt idx="1">
                  <c:v>0.68</c:v>
                </c:pt>
                <c:pt idx="2">
                  <c:v>0.51</c:v>
                </c:pt>
                <c:pt idx="3">
                  <c:v>4.46</c:v>
                </c:pt>
                <c:pt idx="4">
                  <c:v>2.59</c:v>
                </c:pt>
                <c:pt idx="5">
                  <c:v>5.03</c:v>
                </c:pt>
                <c:pt idx="6">
                  <c:v>5.94</c:v>
                </c:pt>
                <c:pt idx="7">
                  <c:v>9.67</c:v>
                </c:pt>
                <c:pt idx="8">
                  <c:v>13.02</c:v>
                </c:pt>
                <c:pt idx="9">
                  <c:v>15.79</c:v>
                </c:pt>
                <c:pt idx="10">
                  <c:v>13.6</c:v>
                </c:pt>
                <c:pt idx="11">
                  <c:v>15.01</c:v>
                </c:pt>
                <c:pt idx="12">
                  <c:v>10.25</c:v>
                </c:pt>
                <c:pt idx="13">
                  <c:v>12.92</c:v>
                </c:pt>
                <c:pt idx="14">
                  <c:v>16.940000000000001</c:v>
                </c:pt>
                <c:pt idx="15">
                  <c:v>18.96</c:v>
                </c:pt>
                <c:pt idx="16">
                  <c:v>20.52</c:v>
                </c:pt>
                <c:pt idx="17">
                  <c:v>19.95</c:v>
                </c:pt>
                <c:pt idx="18">
                  <c:v>21.64</c:v>
                </c:pt>
                <c:pt idx="19">
                  <c:v>20.6</c:v>
                </c:pt>
                <c:pt idx="20">
                  <c:v>23.57</c:v>
                </c:pt>
                <c:pt idx="21">
                  <c:v>29.18</c:v>
                </c:pt>
                <c:pt idx="22">
                  <c:v>30.97</c:v>
                </c:pt>
                <c:pt idx="23">
                  <c:v>33.71</c:v>
                </c:pt>
                <c:pt idx="24">
                  <c:v>34.51</c:v>
                </c:pt>
              </c:numCache>
            </c:numRef>
          </c:val>
          <c:smooth val="0"/>
          <c:extLst>
            <c:ext xmlns:c16="http://schemas.microsoft.com/office/drawing/2014/chart" uri="{C3380CC4-5D6E-409C-BE32-E72D297353CC}">
              <c16:uniqueId val="{00000004-BD32-3841-A7D7-EA2D7F45537A}"/>
            </c:ext>
          </c:extLst>
        </c:ser>
        <c:ser>
          <c:idx val="5"/>
          <c:order val="5"/>
          <c:tx>
            <c:strRef>
              <c:f>Sheet1!$G$1</c:f>
              <c:strCache>
                <c:ptCount val="1"/>
                <c:pt idx="0">
                  <c:v>RF Predictive Min Vol</c:v>
                </c:pt>
              </c:strCache>
            </c:strRef>
          </c:tx>
          <c:spPr>
            <a:ln w="31750" cap="flat">
              <a:solidFill>
                <a:srgbClr val="B9C6D6"/>
              </a:solidFill>
              <a:prstDash val="solid"/>
              <a:round/>
            </a:ln>
            <a:effectLst/>
          </c:spPr>
          <c:marker>
            <c:symbol val="circle"/>
            <c:size val="6"/>
            <c:spPr>
              <a:solidFill>
                <a:srgbClr val="B9C6D6"/>
              </a:solidFill>
              <a:ln w="9525" cap="flat">
                <a:solidFill>
                  <a:srgbClr val="B9C6D6"/>
                </a:solidFill>
                <a:prstDash val="solid"/>
                <a:round/>
              </a:ln>
              <a:effectLst/>
            </c:spPr>
          </c:marker>
          <c:cat>
            <c:strRef>
              <c:f>Sheet1!$A$2:$A$26</c:f>
              <c:strCache>
                <c:ptCount val="25"/>
                <c:pt idx="0">
                  <c:v>Jan 24</c:v>
                </c:pt>
                <c:pt idx="1">
                  <c:v>  </c:v>
                </c:pt>
                <c:pt idx="2">
                  <c:v>   </c:v>
                </c:pt>
                <c:pt idx="3">
                  <c:v>Mar 24</c:v>
                </c:pt>
                <c:pt idx="4">
                  <c:v>     </c:v>
                </c:pt>
                <c:pt idx="5">
                  <c:v>      </c:v>
                </c:pt>
                <c:pt idx="6">
                  <c:v>Jun 24</c:v>
                </c:pt>
                <c:pt idx="7">
                  <c:v>        </c:v>
                </c:pt>
                <c:pt idx="8">
                  <c:v>         </c:v>
                </c:pt>
                <c:pt idx="9">
                  <c:v>Sep 24</c:v>
                </c:pt>
                <c:pt idx="10">
                  <c:v>           </c:v>
                </c:pt>
                <c:pt idx="11">
                  <c:v>            </c:v>
                </c:pt>
                <c:pt idx="12">
                  <c:v>Dec 24</c:v>
                </c:pt>
                <c:pt idx="13">
                  <c:v>              </c:v>
                </c:pt>
                <c:pt idx="14">
                  <c:v>               </c:v>
                </c:pt>
                <c:pt idx="15">
                  <c:v>Mar 25</c:v>
                </c:pt>
                <c:pt idx="16">
                  <c:v>                 </c:v>
                </c:pt>
                <c:pt idx="17">
                  <c:v>                  </c:v>
                </c:pt>
                <c:pt idx="18">
                  <c:v>Jun 25</c:v>
                </c:pt>
                <c:pt idx="19">
                  <c:v>                    </c:v>
                </c:pt>
                <c:pt idx="20">
                  <c:v>                     </c:v>
                </c:pt>
                <c:pt idx="21">
                  <c:v>Sep 25</c:v>
                </c:pt>
                <c:pt idx="22">
                  <c:v>                       </c:v>
                </c:pt>
                <c:pt idx="23">
                  <c:v>                        </c:v>
                </c:pt>
                <c:pt idx="24">
                  <c:v>Dec 25</c:v>
                </c:pt>
              </c:strCache>
            </c:strRef>
          </c:cat>
          <c:val>
            <c:numRef>
              <c:f>Sheet1!$G$2:$G$26</c:f>
              <c:numCache>
                <c:formatCode>General</c:formatCode>
                <c:ptCount val="25"/>
                <c:pt idx="0">
                  <c:v>-0.13</c:v>
                </c:pt>
                <c:pt idx="1">
                  <c:v>-0.22</c:v>
                </c:pt>
                <c:pt idx="2">
                  <c:v>0.47</c:v>
                </c:pt>
                <c:pt idx="3">
                  <c:v>3.68</c:v>
                </c:pt>
                <c:pt idx="4">
                  <c:v>1.79</c:v>
                </c:pt>
                <c:pt idx="5">
                  <c:v>4.3600000000000003</c:v>
                </c:pt>
                <c:pt idx="6">
                  <c:v>4.95</c:v>
                </c:pt>
                <c:pt idx="7">
                  <c:v>9.06</c:v>
                </c:pt>
                <c:pt idx="8">
                  <c:v>12.7</c:v>
                </c:pt>
                <c:pt idx="9">
                  <c:v>14.43</c:v>
                </c:pt>
                <c:pt idx="10">
                  <c:v>11.51</c:v>
                </c:pt>
                <c:pt idx="11">
                  <c:v>13.43</c:v>
                </c:pt>
                <c:pt idx="12">
                  <c:v>9.1199999999999992</c:v>
                </c:pt>
                <c:pt idx="13">
                  <c:v>11.52</c:v>
                </c:pt>
                <c:pt idx="14">
                  <c:v>14.56</c:v>
                </c:pt>
                <c:pt idx="15">
                  <c:v>14.57</c:v>
                </c:pt>
                <c:pt idx="16">
                  <c:v>16.36</c:v>
                </c:pt>
                <c:pt idx="17">
                  <c:v>17.420000000000002</c:v>
                </c:pt>
                <c:pt idx="18">
                  <c:v>19.12</c:v>
                </c:pt>
                <c:pt idx="19">
                  <c:v>17.14</c:v>
                </c:pt>
                <c:pt idx="20">
                  <c:v>20.49</c:v>
                </c:pt>
                <c:pt idx="21">
                  <c:v>25.07</c:v>
                </c:pt>
                <c:pt idx="22">
                  <c:v>26.42</c:v>
                </c:pt>
                <c:pt idx="23">
                  <c:v>27.15</c:v>
                </c:pt>
                <c:pt idx="24">
                  <c:v>28.68</c:v>
                </c:pt>
              </c:numCache>
            </c:numRef>
          </c:val>
          <c:smooth val="0"/>
          <c:extLst>
            <c:ext xmlns:c16="http://schemas.microsoft.com/office/drawing/2014/chart" uri="{C3380CC4-5D6E-409C-BE32-E72D297353CC}">
              <c16:uniqueId val="{00000005-BD32-3841-A7D7-EA2D7F45537A}"/>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D6E85"/>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4E9F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D6E8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6202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6202F"/>
                </a:solidFill>
                <a:latin typeface="Calibri"/>
              </a:defRPr>
            </a:pPr>
            <a:r>
              <a:rPr sz="1200" b="0" i="0" u="none" strike="noStrike">
                <a:solidFill>
                  <a:srgbClr val="16202F"/>
                </a:solidFill>
                <a:latin typeface="Calibri"/>
              </a:rPr>
              <a:t>Portfolio weight, % (max-Sharpe strategies)</a:t>
            </a:r>
          </a:p>
        </c:rich>
      </c:tx>
      <c:overlay val="0"/>
    </c:title>
    <c:autoTitleDeleted val="0"/>
    <c:plotArea>
      <c:layout/>
      <c:barChart>
        <c:barDir val="col"/>
        <c:grouping val="clustered"/>
        <c:varyColors val="0"/>
        <c:ser>
          <c:idx val="0"/>
          <c:order val="0"/>
          <c:tx>
            <c:strRef>
              <c:f>Sheet1!$B$1</c:f>
              <c:strCache>
                <c:ptCount val="1"/>
                <c:pt idx="0">
                  <c:v>Historical Max Sharpe</c:v>
                </c:pt>
              </c:strCache>
            </c:strRef>
          </c:tx>
          <c:spPr>
            <a:solidFill>
              <a:srgbClr val="0E1F3C"/>
            </a:solidFill>
            <a:effectLst/>
          </c:spPr>
          <c:invertIfNegative val="0"/>
          <c:cat>
            <c:strRef>
              <c:f>Sheet1!$A$2:$A$8</c:f>
              <c:strCache>
                <c:ptCount val="7"/>
                <c:pt idx="0">
                  <c:v>LLY</c:v>
                </c:pt>
                <c:pt idx="1">
                  <c:v>GLD</c:v>
                </c:pt>
                <c:pt idx="2">
                  <c:v>MSFT</c:v>
                </c:pt>
                <c:pt idx="3">
                  <c:v>AAPL</c:v>
                </c:pt>
                <c:pt idx="4">
                  <c:v>TLT</c:v>
                </c:pt>
                <c:pt idx="5">
                  <c:v>AGG</c:v>
                </c:pt>
                <c:pt idx="6">
                  <c:v>CAT</c:v>
                </c:pt>
              </c:strCache>
            </c:strRef>
          </c:cat>
          <c:val>
            <c:numRef>
              <c:f>Sheet1!$B$2:$B$8</c:f>
              <c:numCache>
                <c:formatCode>General</c:formatCode>
                <c:ptCount val="7"/>
                <c:pt idx="0">
                  <c:v>25</c:v>
                </c:pt>
                <c:pt idx="1">
                  <c:v>25</c:v>
                </c:pt>
                <c:pt idx="2">
                  <c:v>15.4</c:v>
                </c:pt>
                <c:pt idx="3">
                  <c:v>15</c:v>
                </c:pt>
                <c:pt idx="4">
                  <c:v>10.4</c:v>
                </c:pt>
                <c:pt idx="5">
                  <c:v>4.3</c:v>
                </c:pt>
                <c:pt idx="6">
                  <c:v>4.4000000000000004</c:v>
                </c:pt>
              </c:numCache>
            </c:numRef>
          </c:val>
          <c:extLst>
            <c:ext xmlns:c16="http://schemas.microsoft.com/office/drawing/2014/chart" uri="{C3380CC4-5D6E-409C-BE32-E72D297353CC}">
              <c16:uniqueId val="{00000000-0CB6-DF45-9A06-96E8DD5EC24E}"/>
            </c:ext>
          </c:extLst>
        </c:ser>
        <c:ser>
          <c:idx val="1"/>
          <c:order val="1"/>
          <c:tx>
            <c:strRef>
              <c:f>Sheet1!$C$1</c:f>
              <c:strCache>
                <c:ptCount val="1"/>
                <c:pt idx="0">
                  <c:v>RF Predictive Max Sharpe</c:v>
                </c:pt>
              </c:strCache>
            </c:strRef>
          </c:tx>
          <c:spPr>
            <a:solidFill>
              <a:srgbClr val="00A896"/>
            </a:solidFill>
            <a:effectLst/>
          </c:spPr>
          <c:invertIfNegative val="0"/>
          <c:cat>
            <c:strRef>
              <c:f>Sheet1!$A$2:$A$8</c:f>
              <c:strCache>
                <c:ptCount val="7"/>
                <c:pt idx="0">
                  <c:v>LLY</c:v>
                </c:pt>
                <c:pt idx="1">
                  <c:v>GLD</c:v>
                </c:pt>
                <c:pt idx="2">
                  <c:v>MSFT</c:v>
                </c:pt>
                <c:pt idx="3">
                  <c:v>AAPL</c:v>
                </c:pt>
                <c:pt idx="4">
                  <c:v>TLT</c:v>
                </c:pt>
                <c:pt idx="5">
                  <c:v>AGG</c:v>
                </c:pt>
                <c:pt idx="6">
                  <c:v>CAT</c:v>
                </c:pt>
              </c:strCache>
            </c:strRef>
          </c:cat>
          <c:val>
            <c:numRef>
              <c:f>Sheet1!$C$2:$C$8</c:f>
              <c:numCache>
                <c:formatCode>General</c:formatCode>
                <c:ptCount val="7"/>
                <c:pt idx="0">
                  <c:v>25</c:v>
                </c:pt>
                <c:pt idx="1">
                  <c:v>19.100000000000001</c:v>
                </c:pt>
                <c:pt idx="2">
                  <c:v>16.399999999999999</c:v>
                </c:pt>
                <c:pt idx="3">
                  <c:v>24.5</c:v>
                </c:pt>
                <c:pt idx="4">
                  <c:v>6.8</c:v>
                </c:pt>
                <c:pt idx="5">
                  <c:v>0</c:v>
                </c:pt>
                <c:pt idx="6">
                  <c:v>0.1</c:v>
                </c:pt>
              </c:numCache>
            </c:numRef>
          </c:val>
          <c:extLst>
            <c:ext xmlns:c16="http://schemas.microsoft.com/office/drawing/2014/chart" uri="{C3380CC4-5D6E-409C-BE32-E72D297353CC}">
              <c16:uniqueId val="{00000001-0CB6-DF45-9A06-96E8DD5EC24E}"/>
            </c:ext>
          </c:extLst>
        </c:ser>
        <c:dLbls>
          <c:showLegendKey val="0"/>
          <c:showVal val="0"/>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6202F"/>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4E9F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D6E8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6202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50021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framing: this is a predictive portfolio optimizer, not a stock price predictor. We forecast volatility, then feed that into allocation. Educational project, not financial advice.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of the right-hand card: the whole project hinges on replacing one input to the optimizer — the risk estimate — with a model forecast.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joins on ticker + trading date. 42,210 raw ticker-day rows; 41,370 survive feature engineering once rolling windows warm up.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rolling_abs_return_20d dominates — recent realized movement is by far the strongest predictor of next-period volatility. The macro features add real but secondary signal.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tree models beat the naive baseline as run. But be ready for the follow-up: notebook 06 shows Linear reaches R2 0.31 on a trimmed 5-macro feature set, and Random Forest is fed 35 features while Linear and Ridge get 17. The gap is partly feature engineering, not purely model family.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optimized max-Sharpe strategies beat SPY on every risk measure. The RF variant wins on return but takes more volatility to get there, so it loses on Sharpe.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Cumulative return, %, month-end. Both max-Sharpe lines pull away from SPY through 2025 with visibly shallower drawdowns.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one. We verified there is no look-ahead in the weights, and we ran the sensitivity ourselves rather than waiting to be asked. The claim we can defend is that diversified mean-variance optimization beat a single equity index in this window; the claim we cannot defend is that the method generalizes.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that the left column is the honest read on our own headline number, and that we found it ourselves. Risk presets and the efficient frontier shipped this week, so they are on the dashboard slide, not here.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F3C"/>
        </a:solidFill>
        <a:effectLst/>
      </p:bgPr>
    </p:bg>
    <p:spTree>
      <p:nvGrpSpPr>
        <p:cNvPr id="1" name=""/>
        <p:cNvGrpSpPr/>
        <p:nvPr/>
      </p:nvGrpSpPr>
      <p:grpSpPr>
        <a:xfrm>
          <a:off x="0" y="0"/>
          <a:ext cx="0" cy="0"/>
          <a:chOff x="0" y="0"/>
          <a:chExt cx="0" cy="0"/>
        </a:xfrm>
      </p:grpSpPr>
      <p:sp>
        <p:nvSpPr>
          <p:cNvPr id="2" name="Shape 0"/>
          <p:cNvSpPr/>
          <p:nvPr/>
        </p:nvSpPr>
        <p:spPr>
          <a:xfrm>
            <a:off x="8321040" y="-1463040"/>
            <a:ext cx="5852160" cy="5852160"/>
          </a:xfrm>
          <a:prstGeom prst="ellipse">
            <a:avLst/>
          </a:prstGeom>
          <a:solidFill>
            <a:srgbClr val="00A896">
              <a:alpha val="12000"/>
            </a:srgbClr>
          </a:solidFill>
          <a:ln w="12700">
            <a:solidFill>
              <a:srgbClr val="333333"/>
            </a:solidFill>
            <a:prstDash val="solid"/>
          </a:ln>
        </p:spPr>
        <p:txBody>
          <a:bodyPr/>
          <a:lstStyle/>
          <a:p>
            <a:endParaRPr lang="en-US"/>
          </a:p>
        </p:txBody>
      </p:sp>
      <p:sp>
        <p:nvSpPr>
          <p:cNvPr id="3" name="Shape 1"/>
          <p:cNvSpPr/>
          <p:nvPr/>
        </p:nvSpPr>
        <p:spPr>
          <a:xfrm>
            <a:off x="9692640" y="2377440"/>
            <a:ext cx="3840480" cy="3840480"/>
          </a:xfrm>
          <a:prstGeom prst="ellipse">
            <a:avLst/>
          </a:prstGeom>
          <a:solidFill>
            <a:srgbClr val="E8A33D">
              <a:alpha val="10000"/>
            </a:srgbClr>
          </a:solidFill>
          <a:ln w="12700">
            <a:solidFill>
              <a:srgbClr val="333333"/>
            </a:solidFill>
            <a:prstDash val="solid"/>
          </a:ln>
        </p:spPr>
        <p:txBody>
          <a:bodyPr/>
          <a:lstStyle/>
          <a:p>
            <a:endParaRPr lang="en-US"/>
          </a:p>
        </p:txBody>
      </p:sp>
      <p:sp>
        <p:nvSpPr>
          <p:cNvPr id="4" name="Text 2"/>
          <p:cNvSpPr/>
          <p:nvPr/>
        </p:nvSpPr>
        <p:spPr>
          <a:xfrm>
            <a:off x="685800" y="1417320"/>
            <a:ext cx="8229600" cy="274320"/>
          </a:xfrm>
          <a:prstGeom prst="rect">
            <a:avLst/>
          </a:prstGeom>
          <a:noFill/>
          <a:ln/>
        </p:spPr>
        <p:txBody>
          <a:bodyPr wrap="square" lIns="0" tIns="0" rIns="0" bIns="0" rtlCol="0" anchor="ctr"/>
          <a:lstStyle/>
          <a:p>
            <a:pPr marL="0" indent="0">
              <a:buNone/>
            </a:pPr>
            <a:r>
              <a:rPr lang="en-US" sz="1250" b="1" kern="0" spc="250" dirty="0">
                <a:solidFill>
                  <a:srgbClr val="6FD3C4"/>
                </a:solidFill>
                <a:latin typeface="Calibri" pitchFamily="34" charset="0"/>
                <a:ea typeface="Calibri" pitchFamily="34" charset="-122"/>
                <a:cs typeface="Calibri" pitchFamily="34" charset="-120"/>
              </a:rPr>
              <a:t>INFO 442  ·  GROUP 2  ·  FINSIGHT ANALYTICS</a:t>
            </a:r>
            <a:endParaRPr lang="en-US" sz="1250" dirty="0"/>
          </a:p>
        </p:txBody>
      </p:sp>
      <p:sp>
        <p:nvSpPr>
          <p:cNvPr id="5" name="Text 3"/>
          <p:cNvSpPr/>
          <p:nvPr/>
        </p:nvSpPr>
        <p:spPr>
          <a:xfrm>
            <a:off x="685800" y="1828800"/>
            <a:ext cx="7863840" cy="1737360"/>
          </a:xfrm>
          <a:prstGeom prst="rect">
            <a:avLst/>
          </a:prstGeom>
          <a:noFill/>
          <a:ln/>
        </p:spPr>
        <p:txBody>
          <a:bodyPr wrap="square" lIns="0" tIns="0" rIns="0" bIns="0" rtlCol="0" anchor="ctr"/>
          <a:lstStyle/>
          <a:p>
            <a:pPr marL="0" indent="0">
              <a:lnSpc>
                <a:spcPts val="4800"/>
              </a:lnSpc>
              <a:buNone/>
            </a:pPr>
            <a:r>
              <a:rPr lang="en-US" sz="4800" b="1" dirty="0">
                <a:solidFill>
                  <a:srgbClr val="FFFFFF"/>
                </a:solidFill>
                <a:latin typeface="Cambria" pitchFamily="34" charset="0"/>
                <a:ea typeface="Cambria" pitchFamily="34" charset="-122"/>
                <a:cs typeface="Cambria" pitchFamily="34" charset="-120"/>
              </a:rPr>
              <a:t>Predictive Portfolio</a:t>
            </a:r>
            <a:endParaRPr lang="en-US" sz="4800" dirty="0"/>
          </a:p>
          <a:p>
            <a:pPr marL="0" indent="0">
              <a:lnSpc>
                <a:spcPts val="4800"/>
              </a:lnSpc>
              <a:buNone/>
            </a:pPr>
            <a:r>
              <a:rPr lang="en-US" sz="4800" b="1" dirty="0">
                <a:solidFill>
                  <a:srgbClr val="FFFFFF"/>
                </a:solidFill>
                <a:latin typeface="Cambria" pitchFamily="34" charset="0"/>
                <a:ea typeface="Cambria" pitchFamily="34" charset="-122"/>
                <a:cs typeface="Cambria" pitchFamily="34" charset="-120"/>
              </a:rPr>
              <a:t>Optimization</a:t>
            </a:r>
            <a:endParaRPr lang="en-US" sz="4800" dirty="0"/>
          </a:p>
        </p:txBody>
      </p:sp>
      <p:sp>
        <p:nvSpPr>
          <p:cNvPr id="6" name="Text 4"/>
          <p:cNvSpPr/>
          <p:nvPr/>
        </p:nvSpPr>
        <p:spPr>
          <a:xfrm>
            <a:off x="685800" y="3703320"/>
            <a:ext cx="7863840" cy="822960"/>
          </a:xfrm>
          <a:prstGeom prst="rect">
            <a:avLst/>
          </a:prstGeom>
          <a:noFill/>
          <a:ln/>
        </p:spPr>
        <p:txBody>
          <a:bodyPr wrap="square" lIns="0" tIns="0" rIns="0" bIns="0" rtlCol="0" anchor="ctr"/>
          <a:lstStyle/>
          <a:p>
            <a:pPr marL="0" indent="0">
              <a:lnSpc>
                <a:spcPts val="2600"/>
              </a:lnSpc>
              <a:buNone/>
            </a:pPr>
            <a:r>
              <a:rPr lang="en-US" sz="1600" dirty="0">
                <a:solidFill>
                  <a:srgbClr val="C6D2E2"/>
                </a:solidFill>
                <a:latin typeface="Calibri" pitchFamily="34" charset="0"/>
                <a:ea typeface="Calibri" pitchFamily="34" charset="-122"/>
                <a:cs typeface="Calibri" pitchFamily="34" charset="-120"/>
              </a:rPr>
              <a:t>A risk analytics dashboard that forecasts asset volatility and turns</a:t>
            </a:r>
            <a:endParaRPr lang="en-US" sz="1600" dirty="0"/>
          </a:p>
          <a:p>
            <a:pPr marL="0" indent="0">
              <a:lnSpc>
                <a:spcPts val="2600"/>
              </a:lnSpc>
              <a:buNone/>
            </a:pPr>
            <a:r>
              <a:rPr lang="en-US" sz="1600" dirty="0">
                <a:solidFill>
                  <a:srgbClr val="C6D2E2"/>
                </a:solidFill>
                <a:latin typeface="Calibri" pitchFamily="34" charset="0"/>
                <a:ea typeface="Calibri" pitchFamily="34" charset="-122"/>
                <a:cs typeface="Calibri" pitchFamily="34" charset="-120"/>
              </a:rPr>
              <a:t>those forecasts into portfolios — benchmarked against equal-weight and the S&amp;P 500.</a:t>
            </a:r>
            <a:endParaRPr lang="en-US" sz="1600" dirty="0"/>
          </a:p>
        </p:txBody>
      </p:sp>
      <p:sp>
        <p:nvSpPr>
          <p:cNvPr id="7" name="Shape 5"/>
          <p:cNvSpPr/>
          <p:nvPr/>
        </p:nvSpPr>
        <p:spPr>
          <a:xfrm>
            <a:off x="685800" y="4800600"/>
            <a:ext cx="2011680" cy="0"/>
          </a:xfrm>
          <a:prstGeom prst="line">
            <a:avLst/>
          </a:prstGeom>
          <a:noFill/>
          <a:ln w="31750">
            <a:solidFill>
              <a:srgbClr val="00A896"/>
            </a:solidFill>
            <a:prstDash val="solid"/>
          </a:ln>
        </p:spPr>
        <p:txBody>
          <a:bodyPr/>
          <a:lstStyle/>
          <a:p>
            <a:endParaRPr lang="en-US"/>
          </a:p>
        </p:txBody>
      </p:sp>
      <p:sp>
        <p:nvSpPr>
          <p:cNvPr id="8" name="Text 6"/>
          <p:cNvSpPr/>
          <p:nvPr/>
        </p:nvSpPr>
        <p:spPr>
          <a:xfrm>
            <a:off x="685800" y="5029200"/>
            <a:ext cx="822960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Danny Eapen  ·  Jeffrey Cheung  ·  Joel Thomas  ·  Samii Shabuse</a:t>
            </a:r>
            <a:endParaRPr lang="en-US" sz="1400" dirty="0"/>
          </a:p>
        </p:txBody>
      </p:sp>
      <p:sp>
        <p:nvSpPr>
          <p:cNvPr id="9" name="Text 7"/>
          <p:cNvSpPr/>
          <p:nvPr/>
        </p:nvSpPr>
        <p:spPr>
          <a:xfrm>
            <a:off x="685800" y="5376672"/>
            <a:ext cx="8229600" cy="274320"/>
          </a:xfrm>
          <a:prstGeom prst="rect">
            <a:avLst/>
          </a:prstGeom>
          <a:noFill/>
          <a:ln/>
        </p:spPr>
        <p:txBody>
          <a:bodyPr wrap="square" lIns="0" tIns="0" rIns="0" bIns="0" rtlCol="0" anchor="ctr"/>
          <a:lstStyle/>
          <a:p>
            <a:pPr marL="0" indent="0">
              <a:buNone/>
            </a:pPr>
            <a:r>
              <a:rPr lang="en-US" sz="1250" dirty="0">
                <a:solidFill>
                  <a:srgbClr val="8FA2BC"/>
                </a:solidFill>
                <a:latin typeface="Calibri" pitchFamily="34" charset="0"/>
                <a:ea typeface="Calibri" pitchFamily="34" charset="-122"/>
                <a:cs typeface="Calibri" pitchFamily="34" charset="-120"/>
              </a:rPr>
              <a:t>Final presentation  ·  INFO 442</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384048"/>
            <a:ext cx="8229600" cy="256032"/>
          </a:xfrm>
          <a:prstGeom prst="rect">
            <a:avLst/>
          </a:prstGeom>
          <a:noFill/>
          <a:ln/>
        </p:spPr>
        <p:txBody>
          <a:bodyPr wrap="square" lIns="0" tIns="0" rIns="0" bIns="0" rtlCol="0" anchor="ctr"/>
          <a:lstStyle/>
          <a:p>
            <a:pPr marL="0" indent="0">
              <a:buNone/>
            </a:pPr>
            <a:r>
              <a:rPr lang="en-US" sz="1200" b="1" kern="0" spc="200" dirty="0">
                <a:solidFill>
                  <a:srgbClr val="00A896"/>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685800" y="658368"/>
            <a:ext cx="10820095" cy="640080"/>
          </a:xfrm>
          <a:prstGeom prst="rect">
            <a:avLst/>
          </a:prstGeom>
          <a:noFill/>
          <a:ln/>
        </p:spPr>
        <p:txBody>
          <a:bodyPr wrap="square" lIns="0" tIns="0" rIns="0" bIns="0" rtlCol="0" anchor="ctr"/>
          <a:lstStyle/>
          <a:p>
            <a:pPr marL="0" indent="0">
              <a:buNone/>
            </a:pPr>
            <a:r>
              <a:rPr lang="en-US" sz="3400" b="1" dirty="0">
                <a:solidFill>
                  <a:srgbClr val="16202F"/>
                </a:solidFill>
                <a:latin typeface="Cambria" pitchFamily="34" charset="0"/>
                <a:ea typeface="Cambria" pitchFamily="34" charset="-122"/>
                <a:cs typeface="Cambria" pitchFamily="34" charset="-120"/>
              </a:rPr>
              <a:t>Historical averages miss changing risk</a:t>
            </a:r>
            <a:endParaRPr lang="en-US" sz="3400" dirty="0"/>
          </a:p>
        </p:txBody>
      </p:sp>
      <p:sp>
        <p:nvSpPr>
          <p:cNvPr id="4" name="Shape 2"/>
          <p:cNvSpPr/>
          <p:nvPr/>
        </p:nvSpPr>
        <p:spPr>
          <a:xfrm>
            <a:off x="685800" y="1737360"/>
            <a:ext cx="420624" cy="420624"/>
          </a:xfrm>
          <a:prstGeom prst="ellipse">
            <a:avLst/>
          </a:prstGeom>
          <a:solidFill>
            <a:srgbClr val="00A896"/>
          </a:solidFill>
          <a:ln w="12700">
            <a:solidFill>
              <a:srgbClr val="00A896"/>
            </a:solidFill>
            <a:prstDash val="solid"/>
          </a:ln>
        </p:spPr>
        <p:txBody>
          <a:bodyPr/>
          <a:lstStyle/>
          <a:p>
            <a:endParaRPr lang="en-US"/>
          </a:p>
        </p:txBody>
      </p:sp>
      <p:sp>
        <p:nvSpPr>
          <p:cNvPr id="5" name="Text 3"/>
          <p:cNvSpPr/>
          <p:nvPr/>
        </p:nvSpPr>
        <p:spPr>
          <a:xfrm>
            <a:off x="685800" y="173736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344168" y="1691640"/>
            <a:ext cx="5852160" cy="292608"/>
          </a:xfrm>
          <a:prstGeom prst="rect">
            <a:avLst/>
          </a:prstGeom>
          <a:noFill/>
          <a:ln/>
        </p:spPr>
        <p:txBody>
          <a:bodyPr wrap="square" lIns="0" tIns="0" rIns="0" bIns="0" rtlCol="0" anchor="ctr"/>
          <a:lstStyle/>
          <a:p>
            <a:pPr marL="0" indent="0">
              <a:buNone/>
            </a:pPr>
            <a:r>
              <a:rPr lang="en-US" sz="1700" b="1" dirty="0">
                <a:solidFill>
                  <a:srgbClr val="16202F"/>
                </a:solidFill>
                <a:latin typeface="Calibri" pitchFamily="34" charset="0"/>
                <a:ea typeface="Calibri" pitchFamily="34" charset="-122"/>
                <a:cs typeface="Calibri" pitchFamily="34" charset="-120"/>
              </a:rPr>
              <a:t>Return-chasing hides risk</a:t>
            </a:r>
            <a:endParaRPr lang="en-US" sz="1700" dirty="0"/>
          </a:p>
        </p:txBody>
      </p:sp>
      <p:sp>
        <p:nvSpPr>
          <p:cNvPr id="7" name="Text 5"/>
          <p:cNvSpPr/>
          <p:nvPr/>
        </p:nvSpPr>
        <p:spPr>
          <a:xfrm>
            <a:off x="1344168" y="2020824"/>
            <a:ext cx="5943600" cy="777240"/>
          </a:xfrm>
          <a:prstGeom prst="rect">
            <a:avLst/>
          </a:prstGeom>
          <a:noFill/>
          <a:ln/>
        </p:spPr>
        <p:txBody>
          <a:bodyPr wrap="square" lIns="0" tIns="0" rIns="0" bIns="0" rtlCol="0" anchor="ctr"/>
          <a:lstStyle/>
          <a:p>
            <a:pPr marL="0" indent="0">
              <a:lnSpc>
                <a:spcPts val="2000"/>
              </a:lnSpc>
              <a:buNone/>
            </a:pPr>
            <a:r>
              <a:rPr lang="en-US" sz="1350" dirty="0">
                <a:solidFill>
                  <a:srgbClr val="5D6E85"/>
                </a:solidFill>
                <a:latin typeface="Calibri" pitchFamily="34" charset="0"/>
                <a:ea typeface="Calibri" pitchFamily="34" charset="-122"/>
                <a:cs typeface="Calibri" pitchFamily="34" charset="-120"/>
              </a:rPr>
              <a:t>Beginner investors compare portfolios on return alone and ignore volatility, drawdown, and how assets move together.</a:t>
            </a:r>
            <a:endParaRPr lang="en-US" sz="1350" dirty="0"/>
          </a:p>
        </p:txBody>
      </p:sp>
      <p:sp>
        <p:nvSpPr>
          <p:cNvPr id="8" name="Shape 6"/>
          <p:cNvSpPr/>
          <p:nvPr/>
        </p:nvSpPr>
        <p:spPr>
          <a:xfrm>
            <a:off x="685800" y="3063240"/>
            <a:ext cx="420624" cy="420624"/>
          </a:xfrm>
          <a:prstGeom prst="ellipse">
            <a:avLst/>
          </a:prstGeom>
          <a:solidFill>
            <a:srgbClr val="00A896"/>
          </a:solidFill>
          <a:ln w="12700">
            <a:solidFill>
              <a:srgbClr val="00A896"/>
            </a:solidFill>
            <a:prstDash val="solid"/>
          </a:ln>
        </p:spPr>
        <p:txBody>
          <a:bodyPr/>
          <a:lstStyle/>
          <a:p>
            <a:endParaRPr lang="en-US"/>
          </a:p>
        </p:txBody>
      </p:sp>
      <p:sp>
        <p:nvSpPr>
          <p:cNvPr id="9" name="Text 7"/>
          <p:cNvSpPr/>
          <p:nvPr/>
        </p:nvSpPr>
        <p:spPr>
          <a:xfrm>
            <a:off x="685800" y="306324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344168" y="3017520"/>
            <a:ext cx="5852160" cy="292608"/>
          </a:xfrm>
          <a:prstGeom prst="rect">
            <a:avLst/>
          </a:prstGeom>
          <a:noFill/>
          <a:ln/>
        </p:spPr>
        <p:txBody>
          <a:bodyPr wrap="square" lIns="0" tIns="0" rIns="0" bIns="0" rtlCol="0" anchor="ctr"/>
          <a:lstStyle/>
          <a:p>
            <a:pPr marL="0" indent="0">
              <a:buNone/>
            </a:pPr>
            <a:r>
              <a:rPr lang="en-US" sz="1700" b="1" dirty="0">
                <a:solidFill>
                  <a:srgbClr val="16202F"/>
                </a:solidFill>
                <a:latin typeface="Calibri" pitchFamily="34" charset="0"/>
                <a:ea typeface="Calibri" pitchFamily="34" charset="-122"/>
                <a:cs typeface="Calibri" pitchFamily="34" charset="-120"/>
              </a:rPr>
              <a:t>Backward-looking inputs</a:t>
            </a:r>
            <a:endParaRPr lang="en-US" sz="1700" dirty="0"/>
          </a:p>
        </p:txBody>
      </p:sp>
      <p:sp>
        <p:nvSpPr>
          <p:cNvPr id="11" name="Text 9"/>
          <p:cNvSpPr/>
          <p:nvPr/>
        </p:nvSpPr>
        <p:spPr>
          <a:xfrm>
            <a:off x="1344168" y="3346704"/>
            <a:ext cx="5943600" cy="777240"/>
          </a:xfrm>
          <a:prstGeom prst="rect">
            <a:avLst/>
          </a:prstGeom>
          <a:noFill/>
          <a:ln/>
        </p:spPr>
        <p:txBody>
          <a:bodyPr wrap="square" lIns="0" tIns="0" rIns="0" bIns="0" rtlCol="0" anchor="ctr"/>
          <a:lstStyle/>
          <a:p>
            <a:pPr marL="0" indent="0">
              <a:lnSpc>
                <a:spcPts val="2000"/>
              </a:lnSpc>
              <a:buNone/>
            </a:pPr>
            <a:r>
              <a:rPr lang="en-US" sz="1350" dirty="0">
                <a:solidFill>
                  <a:srgbClr val="5D6E85"/>
                </a:solidFill>
                <a:latin typeface="Calibri" pitchFamily="34" charset="0"/>
                <a:ea typeface="Calibri" pitchFamily="34" charset="-122"/>
                <a:cs typeface="Calibri" pitchFamily="34" charset="-120"/>
              </a:rPr>
              <a:t>Classic mean-variance optimization uses long-run historical averages. Market risk regimes shift; the inputs lag.</a:t>
            </a:r>
            <a:endParaRPr lang="en-US" sz="1350" dirty="0"/>
          </a:p>
        </p:txBody>
      </p:sp>
      <p:sp>
        <p:nvSpPr>
          <p:cNvPr id="12" name="Shape 10"/>
          <p:cNvSpPr/>
          <p:nvPr/>
        </p:nvSpPr>
        <p:spPr>
          <a:xfrm>
            <a:off x="685800" y="4389120"/>
            <a:ext cx="420624" cy="420624"/>
          </a:xfrm>
          <a:prstGeom prst="ellipse">
            <a:avLst/>
          </a:prstGeom>
          <a:solidFill>
            <a:srgbClr val="00A896"/>
          </a:solidFill>
          <a:ln w="12700">
            <a:solidFill>
              <a:srgbClr val="00A896"/>
            </a:solidFill>
            <a:prstDash val="solid"/>
          </a:ln>
        </p:spPr>
        <p:txBody>
          <a:bodyPr/>
          <a:lstStyle/>
          <a:p>
            <a:endParaRPr lang="en-US"/>
          </a:p>
        </p:txBody>
      </p:sp>
      <p:sp>
        <p:nvSpPr>
          <p:cNvPr id="13" name="Text 11"/>
          <p:cNvSpPr/>
          <p:nvPr/>
        </p:nvSpPr>
        <p:spPr>
          <a:xfrm>
            <a:off x="685800" y="438912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344168" y="4343400"/>
            <a:ext cx="5852160" cy="292608"/>
          </a:xfrm>
          <a:prstGeom prst="rect">
            <a:avLst/>
          </a:prstGeom>
          <a:noFill/>
          <a:ln/>
        </p:spPr>
        <p:txBody>
          <a:bodyPr wrap="square" lIns="0" tIns="0" rIns="0" bIns="0" rtlCol="0" anchor="ctr"/>
          <a:lstStyle/>
          <a:p>
            <a:pPr marL="0" indent="0">
              <a:buNone/>
            </a:pPr>
            <a:r>
              <a:rPr lang="en-US" sz="1700" b="1" dirty="0">
                <a:solidFill>
                  <a:srgbClr val="16202F"/>
                </a:solidFill>
                <a:latin typeface="Calibri" pitchFamily="34" charset="0"/>
                <a:ea typeface="Calibri" pitchFamily="34" charset="-122"/>
                <a:cs typeface="Calibri" pitchFamily="34" charset="-120"/>
              </a:rPr>
              <a:t>No accessible tooling</a:t>
            </a:r>
            <a:endParaRPr lang="en-US" sz="1700" dirty="0"/>
          </a:p>
        </p:txBody>
      </p:sp>
      <p:sp>
        <p:nvSpPr>
          <p:cNvPr id="15" name="Text 13"/>
          <p:cNvSpPr/>
          <p:nvPr/>
        </p:nvSpPr>
        <p:spPr>
          <a:xfrm>
            <a:off x="1344168" y="4672584"/>
            <a:ext cx="5943600" cy="777240"/>
          </a:xfrm>
          <a:prstGeom prst="rect">
            <a:avLst/>
          </a:prstGeom>
          <a:noFill/>
          <a:ln/>
        </p:spPr>
        <p:txBody>
          <a:bodyPr wrap="square" lIns="0" tIns="0" rIns="0" bIns="0" rtlCol="0" anchor="ctr"/>
          <a:lstStyle/>
          <a:p>
            <a:pPr marL="0" indent="0">
              <a:lnSpc>
                <a:spcPts val="2000"/>
              </a:lnSpc>
              <a:buNone/>
            </a:pPr>
            <a:r>
              <a:rPr lang="en-US" sz="1350" dirty="0">
                <a:solidFill>
                  <a:srgbClr val="5D6E85"/>
                </a:solidFill>
                <a:latin typeface="Calibri" pitchFamily="34" charset="0"/>
                <a:ea typeface="Calibri" pitchFamily="34" charset="-122"/>
                <a:cs typeface="Calibri" pitchFamily="34" charset="-120"/>
              </a:rPr>
              <a:t>Professional risk analytics sit behind paid terminals. Individual investors have no way to test an allocation before committing.</a:t>
            </a:r>
            <a:endParaRPr lang="en-US" sz="1350" dirty="0"/>
          </a:p>
        </p:txBody>
      </p:sp>
      <p:sp>
        <p:nvSpPr>
          <p:cNvPr id="16" name="Shape 14"/>
          <p:cNvSpPr/>
          <p:nvPr/>
        </p:nvSpPr>
        <p:spPr>
          <a:xfrm>
            <a:off x="7635240" y="1645920"/>
            <a:ext cx="3886200" cy="3931920"/>
          </a:xfrm>
          <a:prstGeom prst="roundRect">
            <a:avLst>
              <a:gd name="adj" fmla="val 1882"/>
            </a:avLst>
          </a:prstGeom>
          <a:solidFill>
            <a:srgbClr val="0E1F3C"/>
          </a:solidFill>
          <a:ln w="12700">
            <a:solidFill>
              <a:srgbClr val="0E1F3C"/>
            </a:solidFill>
            <a:prstDash val="solid"/>
          </a:ln>
        </p:spPr>
        <p:txBody>
          <a:bodyPr/>
          <a:lstStyle/>
          <a:p>
            <a:endParaRPr lang="en-US"/>
          </a:p>
        </p:txBody>
      </p:sp>
      <p:sp>
        <p:nvSpPr>
          <p:cNvPr id="17" name="Text 15"/>
          <p:cNvSpPr/>
          <p:nvPr/>
        </p:nvSpPr>
        <p:spPr>
          <a:xfrm>
            <a:off x="8001000" y="1920240"/>
            <a:ext cx="3200400" cy="274320"/>
          </a:xfrm>
          <a:prstGeom prst="rect">
            <a:avLst/>
          </a:prstGeom>
          <a:noFill/>
          <a:ln/>
        </p:spPr>
        <p:txBody>
          <a:bodyPr wrap="square" lIns="0" tIns="0" rIns="0" bIns="0" rtlCol="0" anchor="ctr"/>
          <a:lstStyle/>
          <a:p>
            <a:pPr marL="0" indent="0">
              <a:buNone/>
            </a:pPr>
            <a:r>
              <a:rPr lang="en-US" sz="1200" b="1" kern="0" spc="200" dirty="0">
                <a:solidFill>
                  <a:srgbClr val="6FD3C4"/>
                </a:solidFill>
                <a:latin typeface="Calibri" pitchFamily="34" charset="0"/>
                <a:ea typeface="Calibri" pitchFamily="34" charset="-122"/>
                <a:cs typeface="Calibri" pitchFamily="34" charset="-120"/>
              </a:rPr>
              <a:t>Our answer</a:t>
            </a:r>
            <a:endParaRPr lang="en-US" sz="1200" dirty="0"/>
          </a:p>
        </p:txBody>
      </p:sp>
      <p:sp>
        <p:nvSpPr>
          <p:cNvPr id="18" name="Text 16"/>
          <p:cNvSpPr/>
          <p:nvPr/>
        </p:nvSpPr>
        <p:spPr>
          <a:xfrm>
            <a:off x="8001000" y="2286000"/>
            <a:ext cx="3200400" cy="1371600"/>
          </a:xfrm>
          <a:prstGeom prst="rect">
            <a:avLst/>
          </a:prstGeom>
          <a:noFill/>
          <a:ln/>
        </p:spPr>
        <p:txBody>
          <a:bodyPr wrap="square" lIns="0" tIns="0" rIns="0" bIns="0" rtlCol="0" anchor="ctr"/>
          <a:lstStyle/>
          <a:p>
            <a:pPr marL="0" indent="0">
              <a:lnSpc>
                <a:spcPts val="3400"/>
              </a:lnSpc>
              <a:buNone/>
            </a:pPr>
            <a:r>
              <a:rPr lang="en-US" sz="3000" b="1" dirty="0">
                <a:solidFill>
                  <a:srgbClr val="FFFFFF"/>
                </a:solidFill>
                <a:latin typeface="Cambria" pitchFamily="34" charset="0"/>
                <a:ea typeface="Cambria" pitchFamily="34" charset="-122"/>
                <a:cs typeface="Cambria" pitchFamily="34" charset="-120"/>
              </a:rPr>
              <a:t>Predict</a:t>
            </a:r>
            <a:endParaRPr lang="en-US" sz="3000" dirty="0"/>
          </a:p>
          <a:p>
            <a:pPr marL="0" indent="0">
              <a:lnSpc>
                <a:spcPts val="3400"/>
              </a:lnSpc>
              <a:buNone/>
            </a:pPr>
            <a:r>
              <a:rPr lang="en-US" sz="3000" b="1" dirty="0">
                <a:solidFill>
                  <a:srgbClr val="FFFFFF"/>
                </a:solidFill>
                <a:latin typeface="Cambria" pitchFamily="34" charset="0"/>
                <a:ea typeface="Cambria" pitchFamily="34" charset="-122"/>
                <a:cs typeface="Cambria" pitchFamily="34" charset="-120"/>
              </a:rPr>
              <a:t>future</a:t>
            </a:r>
            <a:endParaRPr lang="en-US" sz="3000" dirty="0"/>
          </a:p>
          <a:p>
            <a:pPr marL="0" indent="0">
              <a:lnSpc>
                <a:spcPts val="3400"/>
              </a:lnSpc>
              <a:buNone/>
            </a:pPr>
            <a:r>
              <a:rPr lang="en-US" sz="3000" b="1" dirty="0">
                <a:solidFill>
                  <a:srgbClr val="FFFFFF"/>
                </a:solidFill>
                <a:latin typeface="Cambria" pitchFamily="34" charset="0"/>
                <a:ea typeface="Cambria" pitchFamily="34" charset="-122"/>
                <a:cs typeface="Cambria" pitchFamily="34" charset="-120"/>
              </a:rPr>
              <a:t>volatility</a:t>
            </a:r>
            <a:endParaRPr lang="en-US" sz="3000" dirty="0"/>
          </a:p>
        </p:txBody>
      </p:sp>
      <p:sp>
        <p:nvSpPr>
          <p:cNvPr id="19" name="Text 17"/>
          <p:cNvSpPr/>
          <p:nvPr/>
        </p:nvSpPr>
        <p:spPr>
          <a:xfrm>
            <a:off x="8001000" y="3794760"/>
            <a:ext cx="3200400" cy="1097280"/>
          </a:xfrm>
          <a:prstGeom prst="rect">
            <a:avLst/>
          </a:prstGeom>
          <a:noFill/>
          <a:ln/>
        </p:spPr>
        <p:txBody>
          <a:bodyPr wrap="square" lIns="0" tIns="0" rIns="0" bIns="0" rtlCol="0" anchor="ctr"/>
          <a:lstStyle/>
          <a:p>
            <a:pPr marL="0" indent="0">
              <a:lnSpc>
                <a:spcPts val="2000"/>
              </a:lnSpc>
              <a:buNone/>
            </a:pPr>
            <a:r>
              <a:rPr lang="en-US" sz="1300" dirty="0">
                <a:solidFill>
                  <a:srgbClr val="BCCADC"/>
                </a:solidFill>
                <a:latin typeface="Calibri" pitchFamily="34" charset="0"/>
                <a:ea typeface="Calibri" pitchFamily="34" charset="-122"/>
                <a:cs typeface="Calibri" pitchFamily="34" charset="-120"/>
              </a:rPr>
              <a:t>…then feed those forecasts into the covariance matrix that drives the optimizer, instead of relying only on trailing history.</a:t>
            </a:r>
            <a:endParaRPr lang="en-US" sz="1300" dirty="0"/>
          </a:p>
        </p:txBody>
      </p:sp>
      <p:sp>
        <p:nvSpPr>
          <p:cNvPr id="20" name="Text 18"/>
          <p:cNvSpPr/>
          <p:nvPr/>
        </p:nvSpPr>
        <p:spPr>
          <a:xfrm>
            <a:off x="8001000" y="5029200"/>
            <a:ext cx="3200400" cy="320040"/>
          </a:xfrm>
          <a:prstGeom prst="rect">
            <a:avLst/>
          </a:prstGeom>
          <a:noFill/>
          <a:ln/>
        </p:spPr>
        <p:txBody>
          <a:bodyPr wrap="square" lIns="0" tIns="0" rIns="0" bIns="0" rtlCol="0" anchor="ctr"/>
          <a:lstStyle/>
          <a:p>
            <a:pPr marL="0" indent="0">
              <a:buNone/>
            </a:pPr>
            <a:r>
              <a:rPr lang="en-US" sz="1100" i="1" dirty="0">
                <a:solidFill>
                  <a:srgbClr val="E8A33D"/>
                </a:solidFill>
                <a:latin typeface="Calibri" pitchFamily="34" charset="0"/>
                <a:ea typeface="Calibri" pitchFamily="34" charset="-122"/>
                <a:cs typeface="Calibri" pitchFamily="34" charset="-120"/>
              </a:rPr>
              <a:t>Educational use only — not financial advice.</a:t>
            </a:r>
            <a:endParaRPr lang="en-US" sz="1100" dirty="0"/>
          </a:p>
        </p:txBody>
      </p:sp>
      <p:sp>
        <p:nvSpPr>
          <p:cNvPr id="21" name="Text 19"/>
          <p:cNvSpPr/>
          <p:nvPr/>
        </p:nvSpPr>
        <p:spPr>
          <a:xfrm>
            <a:off x="685800" y="6355080"/>
            <a:ext cx="5486400" cy="274320"/>
          </a:xfrm>
          <a:prstGeom prst="rect">
            <a:avLst/>
          </a:prstGeom>
          <a:noFill/>
          <a:ln/>
        </p:spPr>
        <p:txBody>
          <a:bodyPr wrap="square" lIns="0" tIns="0" rIns="0" bIns="0" rtlCol="0" anchor="ctr"/>
          <a:lstStyle/>
          <a:p>
            <a:pPr marL="0" indent="0">
              <a:buNone/>
            </a:pPr>
            <a:r>
              <a:rPr lang="en-US" sz="950" dirty="0">
                <a:solidFill>
                  <a:srgbClr val="9AA7B8"/>
                </a:solidFill>
                <a:latin typeface="Calibri" pitchFamily="34" charset="0"/>
                <a:ea typeface="Calibri" pitchFamily="34" charset="-122"/>
                <a:cs typeface="Calibri" pitchFamily="34" charset="-120"/>
              </a:rPr>
              <a:t>FinSight Analytics  ·  INFO 442 Group 2</a:t>
            </a:r>
            <a:endParaRPr lang="en-US" sz="950" dirty="0"/>
          </a:p>
        </p:txBody>
      </p:sp>
      <p:sp>
        <p:nvSpPr>
          <p:cNvPr id="22" name="Text 20"/>
          <p:cNvSpPr/>
          <p:nvPr/>
        </p:nvSpPr>
        <p:spPr>
          <a:xfrm>
            <a:off x="10591495" y="6355080"/>
            <a:ext cx="914400" cy="274320"/>
          </a:xfrm>
          <a:prstGeom prst="rect">
            <a:avLst/>
          </a:prstGeom>
          <a:noFill/>
          <a:ln/>
        </p:spPr>
        <p:txBody>
          <a:bodyPr wrap="square" lIns="0" tIns="0" rIns="0" bIns="0" rtlCol="0" anchor="ctr"/>
          <a:lstStyle/>
          <a:p>
            <a:pPr marL="0" indent="0" algn="r">
              <a:buNone/>
            </a:pPr>
            <a:r>
              <a:rPr lang="en-US" sz="950" dirty="0">
                <a:solidFill>
                  <a:srgbClr val="9AA7B8"/>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384048"/>
            <a:ext cx="8229600" cy="256032"/>
          </a:xfrm>
          <a:prstGeom prst="rect">
            <a:avLst/>
          </a:prstGeom>
          <a:noFill/>
          <a:ln/>
        </p:spPr>
        <p:txBody>
          <a:bodyPr wrap="square" lIns="0" tIns="0" rIns="0" bIns="0" rtlCol="0" anchor="ctr"/>
          <a:lstStyle/>
          <a:p>
            <a:pPr marL="0" indent="0">
              <a:buNone/>
            </a:pPr>
            <a:r>
              <a:rPr lang="en-US" sz="1200" b="1" kern="0" spc="200" dirty="0">
                <a:solidFill>
                  <a:srgbClr val="00A896"/>
                </a:solidFill>
                <a:latin typeface="Calibri" pitchFamily="34" charset="0"/>
                <a:ea typeface="Calibri" pitchFamily="34" charset="-122"/>
                <a:cs typeface="Calibri" pitchFamily="34" charset="-120"/>
              </a:rPr>
              <a:t>SCOPE</a:t>
            </a:r>
            <a:endParaRPr lang="en-US" sz="1200" dirty="0"/>
          </a:p>
        </p:txBody>
      </p:sp>
      <p:sp>
        <p:nvSpPr>
          <p:cNvPr id="3" name="Text 1"/>
          <p:cNvSpPr/>
          <p:nvPr/>
        </p:nvSpPr>
        <p:spPr>
          <a:xfrm>
            <a:off x="685800" y="658368"/>
            <a:ext cx="10820095" cy="640080"/>
          </a:xfrm>
          <a:prstGeom prst="rect">
            <a:avLst/>
          </a:prstGeom>
          <a:noFill/>
          <a:ln/>
        </p:spPr>
        <p:txBody>
          <a:bodyPr wrap="square" lIns="0" tIns="0" rIns="0" bIns="0" rtlCol="0" anchor="ctr"/>
          <a:lstStyle/>
          <a:p>
            <a:pPr marL="0" indent="0">
              <a:buNone/>
            </a:pPr>
            <a:r>
              <a:rPr lang="en-US" sz="3400" b="1" dirty="0">
                <a:solidFill>
                  <a:srgbClr val="16202F"/>
                </a:solidFill>
                <a:latin typeface="Cambria" pitchFamily="34" charset="0"/>
                <a:ea typeface="Cambria" pitchFamily="34" charset="-122"/>
                <a:cs typeface="Cambria" pitchFamily="34" charset="-120"/>
              </a:rPr>
              <a:t>Research question and goals</a:t>
            </a:r>
            <a:endParaRPr lang="en-US" sz="3400" dirty="0"/>
          </a:p>
        </p:txBody>
      </p:sp>
      <p:sp>
        <p:nvSpPr>
          <p:cNvPr id="4" name="Shape 2"/>
          <p:cNvSpPr/>
          <p:nvPr/>
        </p:nvSpPr>
        <p:spPr>
          <a:xfrm>
            <a:off x="685800" y="1600200"/>
            <a:ext cx="10820095" cy="1234440"/>
          </a:xfrm>
          <a:prstGeom prst="roundRect">
            <a:avLst>
              <a:gd name="adj" fmla="val 5926"/>
            </a:avLst>
          </a:prstGeom>
          <a:solidFill>
            <a:srgbClr val="F2F5F9"/>
          </a:solidFill>
          <a:ln w="12700">
            <a:solidFill>
              <a:srgbClr val="F2F5F9"/>
            </a:solidFill>
            <a:prstDash val="solid"/>
          </a:ln>
        </p:spPr>
        <p:txBody>
          <a:bodyPr/>
          <a:lstStyle/>
          <a:p>
            <a:endParaRPr lang="en-US"/>
          </a:p>
        </p:txBody>
      </p:sp>
      <p:sp>
        <p:nvSpPr>
          <p:cNvPr id="5" name="Text 3"/>
          <p:cNvSpPr/>
          <p:nvPr/>
        </p:nvSpPr>
        <p:spPr>
          <a:xfrm>
            <a:off x="1097280" y="1810512"/>
            <a:ext cx="4572000" cy="228600"/>
          </a:xfrm>
          <a:prstGeom prst="rect">
            <a:avLst/>
          </a:prstGeom>
          <a:noFill/>
          <a:ln/>
        </p:spPr>
        <p:txBody>
          <a:bodyPr wrap="square" lIns="0" tIns="0" rIns="0" bIns="0" rtlCol="0" anchor="ctr"/>
          <a:lstStyle/>
          <a:p>
            <a:pPr marL="0" indent="0">
              <a:buNone/>
            </a:pPr>
            <a:r>
              <a:rPr lang="en-US" sz="1100" b="1" kern="0" spc="200" dirty="0">
                <a:solidFill>
                  <a:srgbClr val="00A896"/>
                </a:solidFill>
                <a:latin typeface="Calibri" pitchFamily="34" charset="0"/>
                <a:ea typeface="Calibri" pitchFamily="34" charset="-122"/>
                <a:cs typeface="Calibri" pitchFamily="34" charset="-120"/>
              </a:rPr>
              <a:t>RESEARCH QUESTION</a:t>
            </a:r>
            <a:endParaRPr lang="en-US" sz="1100" dirty="0"/>
          </a:p>
        </p:txBody>
      </p:sp>
      <p:sp>
        <p:nvSpPr>
          <p:cNvPr id="6" name="Text 4"/>
          <p:cNvSpPr/>
          <p:nvPr/>
        </p:nvSpPr>
        <p:spPr>
          <a:xfrm>
            <a:off x="1097280" y="2084832"/>
            <a:ext cx="10149840" cy="640080"/>
          </a:xfrm>
          <a:prstGeom prst="rect">
            <a:avLst/>
          </a:prstGeom>
          <a:noFill/>
          <a:ln/>
        </p:spPr>
        <p:txBody>
          <a:bodyPr wrap="square" lIns="0" tIns="0" rIns="0" bIns="0" rtlCol="0" anchor="ctr"/>
          <a:lstStyle/>
          <a:p>
            <a:pPr marL="0" indent="0">
              <a:lnSpc>
                <a:spcPts val="2400"/>
              </a:lnSpc>
              <a:buNone/>
            </a:pPr>
            <a:r>
              <a:rPr lang="en-US" sz="1700" dirty="0">
                <a:solidFill>
                  <a:srgbClr val="16202F"/>
                </a:solidFill>
                <a:latin typeface="Cambria" pitchFamily="34" charset="0"/>
                <a:ea typeface="Cambria" pitchFamily="34" charset="-122"/>
                <a:cs typeface="Cambria" pitchFamily="34" charset="-120"/>
              </a:rPr>
              <a:t>Can model-predicted asset volatility, combined with historical returns and correlations, build portfolios that outperform equal-weight and S&amp;P 500 baselines on risk-adjusted return?</a:t>
            </a:r>
            <a:endParaRPr lang="en-US" sz="1700" dirty="0"/>
          </a:p>
        </p:txBody>
      </p:sp>
      <p:sp>
        <p:nvSpPr>
          <p:cNvPr id="7" name="Shape 5"/>
          <p:cNvSpPr/>
          <p:nvPr/>
        </p:nvSpPr>
        <p:spPr>
          <a:xfrm>
            <a:off x="685800" y="3127248"/>
            <a:ext cx="3423818" cy="2331720"/>
          </a:xfrm>
          <a:prstGeom prst="roundRect">
            <a:avLst>
              <a:gd name="adj" fmla="val 3137"/>
            </a:avLst>
          </a:prstGeom>
          <a:solidFill>
            <a:srgbClr val="FFFFFF"/>
          </a:solidFill>
          <a:ln w="12700">
            <a:solidFill>
              <a:srgbClr val="FFFFFF"/>
            </a:solidFill>
            <a:prstDash val="solid"/>
          </a:ln>
        </p:spPr>
        <p:txBody>
          <a:bodyPr/>
          <a:lstStyle/>
          <a:p>
            <a:endParaRPr lang="en-US"/>
          </a:p>
        </p:txBody>
      </p:sp>
      <p:sp>
        <p:nvSpPr>
          <p:cNvPr id="8" name="Shape 6"/>
          <p:cNvSpPr/>
          <p:nvPr/>
        </p:nvSpPr>
        <p:spPr>
          <a:xfrm>
            <a:off x="685800" y="3127248"/>
            <a:ext cx="3423818" cy="2331720"/>
          </a:xfrm>
          <a:prstGeom prst="roundRect">
            <a:avLst>
              <a:gd name="adj" fmla="val 3137"/>
            </a:avLst>
          </a:prstGeom>
          <a:solidFill>
            <a:srgbClr val="FFFFFF"/>
          </a:solidFill>
          <a:ln w="12700">
            <a:solidFill>
              <a:srgbClr val="DCE3EC"/>
            </a:solidFill>
            <a:prstDash val="solid"/>
          </a:ln>
        </p:spPr>
        <p:txBody>
          <a:bodyPr/>
          <a:lstStyle/>
          <a:p>
            <a:endParaRPr lang="en-US"/>
          </a:p>
        </p:txBody>
      </p:sp>
      <p:sp>
        <p:nvSpPr>
          <p:cNvPr id="9" name="Shape 7"/>
          <p:cNvSpPr/>
          <p:nvPr/>
        </p:nvSpPr>
        <p:spPr>
          <a:xfrm>
            <a:off x="1051560" y="3429000"/>
            <a:ext cx="402336" cy="402336"/>
          </a:xfrm>
          <a:prstGeom prst="ellipse">
            <a:avLst/>
          </a:prstGeom>
          <a:solidFill>
            <a:srgbClr val="00A896"/>
          </a:solidFill>
          <a:ln w="12700">
            <a:solidFill>
              <a:srgbClr val="00A896"/>
            </a:solidFill>
            <a:prstDash val="solid"/>
          </a:ln>
        </p:spPr>
        <p:txBody>
          <a:bodyPr/>
          <a:lstStyle/>
          <a:p>
            <a:endParaRPr lang="en-US"/>
          </a:p>
        </p:txBody>
      </p:sp>
      <p:sp>
        <p:nvSpPr>
          <p:cNvPr id="10" name="Text 8"/>
          <p:cNvSpPr/>
          <p:nvPr/>
        </p:nvSpPr>
        <p:spPr>
          <a:xfrm>
            <a:off x="1051560" y="3429000"/>
            <a:ext cx="402336"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p:nvPr/>
        </p:nvSpPr>
        <p:spPr>
          <a:xfrm>
            <a:off x="1051560" y="4005072"/>
            <a:ext cx="2692298" cy="320040"/>
          </a:xfrm>
          <a:prstGeom prst="rect">
            <a:avLst/>
          </a:prstGeom>
          <a:noFill/>
          <a:ln/>
        </p:spPr>
        <p:txBody>
          <a:bodyPr wrap="square" lIns="0" tIns="0" rIns="0" bIns="0" rtlCol="0" anchor="ctr"/>
          <a:lstStyle/>
          <a:p>
            <a:pPr marL="0" indent="0">
              <a:buNone/>
            </a:pPr>
            <a:r>
              <a:rPr lang="en-US" sz="2100" b="1" dirty="0">
                <a:solidFill>
                  <a:srgbClr val="16202F"/>
                </a:solidFill>
                <a:latin typeface="Cambria" pitchFamily="34" charset="0"/>
                <a:ea typeface="Cambria" pitchFamily="34" charset="-122"/>
                <a:cs typeface="Cambria" pitchFamily="34" charset="-120"/>
              </a:rPr>
              <a:t>Predict</a:t>
            </a:r>
            <a:endParaRPr lang="en-US" sz="2100" dirty="0"/>
          </a:p>
        </p:txBody>
      </p:sp>
      <p:sp>
        <p:nvSpPr>
          <p:cNvPr id="12" name="Text 10"/>
          <p:cNvSpPr/>
          <p:nvPr/>
        </p:nvSpPr>
        <p:spPr>
          <a:xfrm>
            <a:off x="1051560" y="4370832"/>
            <a:ext cx="2692298" cy="822960"/>
          </a:xfrm>
          <a:prstGeom prst="rect">
            <a:avLst/>
          </a:prstGeom>
          <a:noFill/>
          <a:ln/>
        </p:spPr>
        <p:txBody>
          <a:bodyPr wrap="square" lIns="0" tIns="0" rIns="0" bIns="0" rtlCol="0" anchor="ctr"/>
          <a:lstStyle/>
          <a:p>
            <a:pPr marL="0" indent="0">
              <a:lnSpc>
                <a:spcPts val="1900"/>
              </a:lnSpc>
              <a:buNone/>
            </a:pPr>
            <a:r>
              <a:rPr lang="en-US" sz="1300" dirty="0">
                <a:solidFill>
                  <a:srgbClr val="5D6E85"/>
                </a:solidFill>
                <a:latin typeface="Calibri" pitchFamily="34" charset="0"/>
                <a:ea typeface="Calibri" pitchFamily="34" charset="-122"/>
                <a:cs typeface="Calibri" pitchFamily="34" charset="-120"/>
              </a:rPr>
              <a:t>Forecast next-period realized volatility from engineered market + macro features.</a:t>
            </a:r>
            <a:endParaRPr lang="en-US" sz="1300" dirty="0"/>
          </a:p>
        </p:txBody>
      </p:sp>
      <p:sp>
        <p:nvSpPr>
          <p:cNvPr id="13" name="Text 11"/>
          <p:cNvSpPr/>
          <p:nvPr/>
        </p:nvSpPr>
        <p:spPr>
          <a:xfrm>
            <a:off x="1051560" y="5120640"/>
            <a:ext cx="2692298" cy="256032"/>
          </a:xfrm>
          <a:prstGeom prst="rect">
            <a:avLst/>
          </a:prstGeom>
          <a:noFill/>
          <a:ln/>
        </p:spPr>
        <p:txBody>
          <a:bodyPr wrap="square" lIns="0" tIns="0" rIns="0" bIns="0" rtlCol="0" anchor="ctr"/>
          <a:lstStyle/>
          <a:p>
            <a:pPr marL="0" indent="0">
              <a:buNone/>
            </a:pPr>
            <a:r>
              <a:rPr lang="en-US" sz="1150" b="1" i="1" dirty="0">
                <a:solidFill>
                  <a:srgbClr val="00A896"/>
                </a:solidFill>
                <a:latin typeface="Calibri" pitchFamily="34" charset="0"/>
                <a:ea typeface="Calibri" pitchFamily="34" charset="-122"/>
                <a:cs typeface="Calibri" pitchFamily="34" charset="-120"/>
              </a:rPr>
              <a:t>MAE · RMSE · R²</a:t>
            </a:r>
            <a:endParaRPr lang="en-US" sz="1150" dirty="0"/>
          </a:p>
        </p:txBody>
      </p:sp>
      <p:sp>
        <p:nvSpPr>
          <p:cNvPr id="14" name="Shape 12"/>
          <p:cNvSpPr/>
          <p:nvPr/>
        </p:nvSpPr>
        <p:spPr>
          <a:xfrm>
            <a:off x="4383938" y="3127248"/>
            <a:ext cx="3423818" cy="2331720"/>
          </a:xfrm>
          <a:prstGeom prst="roundRect">
            <a:avLst>
              <a:gd name="adj" fmla="val 3137"/>
            </a:avLst>
          </a:prstGeom>
          <a:solidFill>
            <a:srgbClr val="FFFFFF"/>
          </a:solidFill>
          <a:ln w="12700">
            <a:solidFill>
              <a:srgbClr val="FFFFFF"/>
            </a:solidFill>
            <a:prstDash val="solid"/>
          </a:ln>
        </p:spPr>
        <p:txBody>
          <a:bodyPr/>
          <a:lstStyle/>
          <a:p>
            <a:endParaRPr lang="en-US"/>
          </a:p>
        </p:txBody>
      </p:sp>
      <p:sp>
        <p:nvSpPr>
          <p:cNvPr id="15" name="Shape 13"/>
          <p:cNvSpPr/>
          <p:nvPr/>
        </p:nvSpPr>
        <p:spPr>
          <a:xfrm>
            <a:off x="4383938" y="3127248"/>
            <a:ext cx="3423818" cy="2331720"/>
          </a:xfrm>
          <a:prstGeom prst="roundRect">
            <a:avLst>
              <a:gd name="adj" fmla="val 3137"/>
            </a:avLst>
          </a:prstGeom>
          <a:solidFill>
            <a:srgbClr val="FFFFFF"/>
          </a:solidFill>
          <a:ln w="12700">
            <a:solidFill>
              <a:srgbClr val="DCE3EC"/>
            </a:solidFill>
            <a:prstDash val="solid"/>
          </a:ln>
        </p:spPr>
        <p:txBody>
          <a:bodyPr/>
          <a:lstStyle/>
          <a:p>
            <a:endParaRPr lang="en-US"/>
          </a:p>
        </p:txBody>
      </p:sp>
      <p:sp>
        <p:nvSpPr>
          <p:cNvPr id="16" name="Shape 14"/>
          <p:cNvSpPr/>
          <p:nvPr/>
        </p:nvSpPr>
        <p:spPr>
          <a:xfrm>
            <a:off x="4749698" y="3429000"/>
            <a:ext cx="402336" cy="402336"/>
          </a:xfrm>
          <a:prstGeom prst="ellipse">
            <a:avLst/>
          </a:prstGeom>
          <a:solidFill>
            <a:srgbClr val="00A896"/>
          </a:solidFill>
          <a:ln w="12700">
            <a:solidFill>
              <a:srgbClr val="00A896"/>
            </a:solidFill>
            <a:prstDash val="solid"/>
          </a:ln>
        </p:spPr>
        <p:txBody>
          <a:bodyPr/>
          <a:lstStyle/>
          <a:p>
            <a:endParaRPr lang="en-US"/>
          </a:p>
        </p:txBody>
      </p:sp>
      <p:sp>
        <p:nvSpPr>
          <p:cNvPr id="17" name="Text 15"/>
          <p:cNvSpPr/>
          <p:nvPr/>
        </p:nvSpPr>
        <p:spPr>
          <a:xfrm>
            <a:off x="4749698" y="3429000"/>
            <a:ext cx="402336"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8" name="Text 16"/>
          <p:cNvSpPr/>
          <p:nvPr/>
        </p:nvSpPr>
        <p:spPr>
          <a:xfrm>
            <a:off x="4749698" y="4005072"/>
            <a:ext cx="2692298" cy="320040"/>
          </a:xfrm>
          <a:prstGeom prst="rect">
            <a:avLst/>
          </a:prstGeom>
          <a:noFill/>
          <a:ln/>
        </p:spPr>
        <p:txBody>
          <a:bodyPr wrap="square" lIns="0" tIns="0" rIns="0" bIns="0" rtlCol="0" anchor="ctr"/>
          <a:lstStyle/>
          <a:p>
            <a:pPr marL="0" indent="0">
              <a:buNone/>
            </a:pPr>
            <a:r>
              <a:rPr lang="en-US" sz="2100" b="1" dirty="0">
                <a:solidFill>
                  <a:srgbClr val="16202F"/>
                </a:solidFill>
                <a:latin typeface="Cambria" pitchFamily="34" charset="0"/>
                <a:ea typeface="Cambria" pitchFamily="34" charset="-122"/>
                <a:cs typeface="Cambria" pitchFamily="34" charset="-120"/>
              </a:rPr>
              <a:t>Optimize</a:t>
            </a:r>
            <a:endParaRPr lang="en-US" sz="2100" dirty="0"/>
          </a:p>
        </p:txBody>
      </p:sp>
      <p:sp>
        <p:nvSpPr>
          <p:cNvPr id="19" name="Text 17"/>
          <p:cNvSpPr/>
          <p:nvPr/>
        </p:nvSpPr>
        <p:spPr>
          <a:xfrm>
            <a:off x="4749698" y="4370832"/>
            <a:ext cx="2692298" cy="822960"/>
          </a:xfrm>
          <a:prstGeom prst="rect">
            <a:avLst/>
          </a:prstGeom>
          <a:noFill/>
          <a:ln/>
        </p:spPr>
        <p:txBody>
          <a:bodyPr wrap="square" lIns="0" tIns="0" rIns="0" bIns="0" rtlCol="0" anchor="ctr"/>
          <a:lstStyle/>
          <a:p>
            <a:pPr marL="0" indent="0">
              <a:lnSpc>
                <a:spcPts val="1900"/>
              </a:lnSpc>
              <a:buNone/>
            </a:pPr>
            <a:r>
              <a:rPr lang="en-US" sz="1300" dirty="0">
                <a:solidFill>
                  <a:srgbClr val="5D6E85"/>
                </a:solidFill>
                <a:latin typeface="Calibri" pitchFamily="34" charset="0"/>
                <a:ea typeface="Calibri" pitchFamily="34" charset="-122"/>
                <a:cs typeface="Calibri" pitchFamily="34" charset="-120"/>
              </a:rPr>
              <a:t>Turn predicted risk into allocations for min-volatility and max-Sharpe objectives.</a:t>
            </a:r>
            <a:endParaRPr lang="en-US" sz="1300" dirty="0"/>
          </a:p>
        </p:txBody>
      </p:sp>
      <p:sp>
        <p:nvSpPr>
          <p:cNvPr id="20" name="Text 18"/>
          <p:cNvSpPr/>
          <p:nvPr/>
        </p:nvSpPr>
        <p:spPr>
          <a:xfrm>
            <a:off x="4749698" y="5120640"/>
            <a:ext cx="2692298" cy="256032"/>
          </a:xfrm>
          <a:prstGeom prst="rect">
            <a:avLst/>
          </a:prstGeom>
          <a:noFill/>
          <a:ln/>
        </p:spPr>
        <p:txBody>
          <a:bodyPr wrap="square" lIns="0" tIns="0" rIns="0" bIns="0" rtlCol="0" anchor="ctr"/>
          <a:lstStyle/>
          <a:p>
            <a:pPr marL="0" indent="0">
              <a:buNone/>
            </a:pPr>
            <a:r>
              <a:rPr lang="en-US" sz="1150" b="1" i="1" dirty="0">
                <a:solidFill>
                  <a:srgbClr val="00A896"/>
                </a:solidFill>
                <a:latin typeface="Calibri" pitchFamily="34" charset="0"/>
                <a:ea typeface="Calibri" pitchFamily="34" charset="-122"/>
                <a:cs typeface="Calibri" pitchFamily="34" charset="-120"/>
              </a:rPr>
              <a:t>Weights per asset</a:t>
            </a:r>
            <a:endParaRPr lang="en-US" sz="1150" dirty="0"/>
          </a:p>
        </p:txBody>
      </p:sp>
      <p:sp>
        <p:nvSpPr>
          <p:cNvPr id="21" name="Shape 19"/>
          <p:cNvSpPr/>
          <p:nvPr/>
        </p:nvSpPr>
        <p:spPr>
          <a:xfrm>
            <a:off x="8082077" y="3127248"/>
            <a:ext cx="3423818" cy="2331720"/>
          </a:xfrm>
          <a:prstGeom prst="roundRect">
            <a:avLst>
              <a:gd name="adj" fmla="val 3137"/>
            </a:avLst>
          </a:prstGeom>
          <a:solidFill>
            <a:srgbClr val="FFFFFF"/>
          </a:solidFill>
          <a:ln w="12700">
            <a:solidFill>
              <a:srgbClr val="FFFFFF"/>
            </a:solidFill>
            <a:prstDash val="solid"/>
          </a:ln>
        </p:spPr>
        <p:txBody>
          <a:bodyPr/>
          <a:lstStyle/>
          <a:p>
            <a:endParaRPr lang="en-US"/>
          </a:p>
        </p:txBody>
      </p:sp>
      <p:sp>
        <p:nvSpPr>
          <p:cNvPr id="22" name="Shape 20"/>
          <p:cNvSpPr/>
          <p:nvPr/>
        </p:nvSpPr>
        <p:spPr>
          <a:xfrm>
            <a:off x="8082077" y="3127248"/>
            <a:ext cx="3423818" cy="2331720"/>
          </a:xfrm>
          <a:prstGeom prst="roundRect">
            <a:avLst>
              <a:gd name="adj" fmla="val 3137"/>
            </a:avLst>
          </a:prstGeom>
          <a:solidFill>
            <a:srgbClr val="FFFFFF"/>
          </a:solidFill>
          <a:ln w="12700">
            <a:solidFill>
              <a:srgbClr val="DCE3EC"/>
            </a:solidFill>
            <a:prstDash val="solid"/>
          </a:ln>
        </p:spPr>
        <p:txBody>
          <a:bodyPr/>
          <a:lstStyle/>
          <a:p>
            <a:endParaRPr lang="en-US"/>
          </a:p>
        </p:txBody>
      </p:sp>
      <p:sp>
        <p:nvSpPr>
          <p:cNvPr id="23" name="Shape 21"/>
          <p:cNvSpPr/>
          <p:nvPr/>
        </p:nvSpPr>
        <p:spPr>
          <a:xfrm>
            <a:off x="8447837" y="3429000"/>
            <a:ext cx="402336" cy="402336"/>
          </a:xfrm>
          <a:prstGeom prst="ellipse">
            <a:avLst/>
          </a:prstGeom>
          <a:solidFill>
            <a:srgbClr val="E8A33D"/>
          </a:solidFill>
          <a:ln w="12700">
            <a:solidFill>
              <a:srgbClr val="E8A33D"/>
            </a:solidFill>
            <a:prstDash val="solid"/>
          </a:ln>
        </p:spPr>
        <p:txBody>
          <a:bodyPr/>
          <a:lstStyle/>
          <a:p>
            <a:endParaRPr lang="en-US"/>
          </a:p>
        </p:txBody>
      </p:sp>
      <p:sp>
        <p:nvSpPr>
          <p:cNvPr id="24" name="Text 22"/>
          <p:cNvSpPr/>
          <p:nvPr/>
        </p:nvSpPr>
        <p:spPr>
          <a:xfrm>
            <a:off x="8447837" y="3429000"/>
            <a:ext cx="402336"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5" name="Text 23"/>
          <p:cNvSpPr/>
          <p:nvPr/>
        </p:nvSpPr>
        <p:spPr>
          <a:xfrm>
            <a:off x="8447837" y="4005072"/>
            <a:ext cx="2692298" cy="320040"/>
          </a:xfrm>
          <a:prstGeom prst="rect">
            <a:avLst/>
          </a:prstGeom>
          <a:noFill/>
          <a:ln/>
        </p:spPr>
        <p:txBody>
          <a:bodyPr wrap="square" lIns="0" tIns="0" rIns="0" bIns="0" rtlCol="0" anchor="ctr"/>
          <a:lstStyle/>
          <a:p>
            <a:pPr marL="0" indent="0">
              <a:buNone/>
            </a:pPr>
            <a:r>
              <a:rPr lang="en-US" sz="2100" b="1" dirty="0">
                <a:solidFill>
                  <a:srgbClr val="16202F"/>
                </a:solidFill>
                <a:latin typeface="Cambria" pitchFamily="34" charset="0"/>
                <a:ea typeface="Cambria" pitchFamily="34" charset="-122"/>
                <a:cs typeface="Cambria" pitchFamily="34" charset="-120"/>
              </a:rPr>
              <a:t>Compare</a:t>
            </a:r>
            <a:endParaRPr lang="en-US" sz="2100" dirty="0"/>
          </a:p>
        </p:txBody>
      </p:sp>
      <p:sp>
        <p:nvSpPr>
          <p:cNvPr id="26" name="Text 24"/>
          <p:cNvSpPr/>
          <p:nvPr/>
        </p:nvSpPr>
        <p:spPr>
          <a:xfrm>
            <a:off x="8447837" y="4370832"/>
            <a:ext cx="2692298" cy="822960"/>
          </a:xfrm>
          <a:prstGeom prst="rect">
            <a:avLst/>
          </a:prstGeom>
          <a:noFill/>
          <a:ln/>
        </p:spPr>
        <p:txBody>
          <a:bodyPr wrap="square" lIns="0" tIns="0" rIns="0" bIns="0" rtlCol="0" anchor="ctr"/>
          <a:lstStyle/>
          <a:p>
            <a:pPr marL="0" indent="0">
              <a:lnSpc>
                <a:spcPts val="1900"/>
              </a:lnSpc>
              <a:buNone/>
            </a:pPr>
            <a:r>
              <a:rPr lang="en-US" sz="1300" dirty="0">
                <a:solidFill>
                  <a:srgbClr val="5D6E85"/>
                </a:solidFill>
                <a:latin typeface="Calibri" pitchFamily="34" charset="0"/>
                <a:ea typeface="Calibri" pitchFamily="34" charset="-122"/>
                <a:cs typeface="Calibri" pitchFamily="34" charset="-120"/>
              </a:rPr>
              <a:t>Benchmark predictive strategies against equal-weight, historical-only, and SPY.</a:t>
            </a:r>
            <a:endParaRPr lang="en-US" sz="1300" dirty="0"/>
          </a:p>
        </p:txBody>
      </p:sp>
      <p:sp>
        <p:nvSpPr>
          <p:cNvPr id="27" name="Text 25"/>
          <p:cNvSpPr/>
          <p:nvPr/>
        </p:nvSpPr>
        <p:spPr>
          <a:xfrm>
            <a:off x="8447837" y="5120640"/>
            <a:ext cx="2692298" cy="256032"/>
          </a:xfrm>
          <a:prstGeom prst="rect">
            <a:avLst/>
          </a:prstGeom>
          <a:noFill/>
          <a:ln/>
        </p:spPr>
        <p:txBody>
          <a:bodyPr wrap="square" lIns="0" tIns="0" rIns="0" bIns="0" rtlCol="0" anchor="ctr"/>
          <a:lstStyle/>
          <a:p>
            <a:pPr marL="0" indent="0">
              <a:buNone/>
            </a:pPr>
            <a:r>
              <a:rPr lang="en-US" sz="1150" b="1" i="1" dirty="0">
                <a:solidFill>
                  <a:srgbClr val="00A896"/>
                </a:solidFill>
                <a:latin typeface="Calibri" pitchFamily="34" charset="0"/>
                <a:ea typeface="Calibri" pitchFamily="34" charset="-122"/>
                <a:cs typeface="Calibri" pitchFamily="34" charset="-120"/>
              </a:rPr>
              <a:t>Sharpe · drawdown</a:t>
            </a:r>
            <a:endParaRPr lang="en-US" sz="1150" dirty="0"/>
          </a:p>
        </p:txBody>
      </p:sp>
      <p:sp>
        <p:nvSpPr>
          <p:cNvPr id="28" name="Text 26"/>
          <p:cNvSpPr/>
          <p:nvPr/>
        </p:nvSpPr>
        <p:spPr>
          <a:xfrm>
            <a:off x="685800" y="6355080"/>
            <a:ext cx="5486400" cy="274320"/>
          </a:xfrm>
          <a:prstGeom prst="rect">
            <a:avLst/>
          </a:prstGeom>
          <a:noFill/>
          <a:ln/>
        </p:spPr>
        <p:txBody>
          <a:bodyPr wrap="square" lIns="0" tIns="0" rIns="0" bIns="0" rtlCol="0" anchor="ctr"/>
          <a:lstStyle/>
          <a:p>
            <a:pPr marL="0" indent="0">
              <a:buNone/>
            </a:pPr>
            <a:r>
              <a:rPr lang="en-US" sz="950" dirty="0">
                <a:solidFill>
                  <a:srgbClr val="9AA7B8"/>
                </a:solidFill>
                <a:latin typeface="Calibri" pitchFamily="34" charset="0"/>
                <a:ea typeface="Calibri" pitchFamily="34" charset="-122"/>
                <a:cs typeface="Calibri" pitchFamily="34" charset="-120"/>
              </a:rPr>
              <a:t>FinSight Analytics  ·  INFO 442 Group 2</a:t>
            </a:r>
            <a:endParaRPr lang="en-US" sz="950" dirty="0"/>
          </a:p>
        </p:txBody>
      </p:sp>
      <p:sp>
        <p:nvSpPr>
          <p:cNvPr id="29" name="Text 27"/>
          <p:cNvSpPr/>
          <p:nvPr/>
        </p:nvSpPr>
        <p:spPr>
          <a:xfrm>
            <a:off x="10591495" y="6355080"/>
            <a:ext cx="914400" cy="274320"/>
          </a:xfrm>
          <a:prstGeom prst="rect">
            <a:avLst/>
          </a:prstGeom>
          <a:noFill/>
          <a:ln/>
        </p:spPr>
        <p:txBody>
          <a:bodyPr wrap="square" lIns="0" tIns="0" rIns="0" bIns="0" rtlCol="0" anchor="ctr"/>
          <a:lstStyle/>
          <a:p>
            <a:pPr marL="0" indent="0" algn="r">
              <a:buNone/>
            </a:pPr>
            <a:r>
              <a:rPr lang="en-US" sz="950" dirty="0">
                <a:solidFill>
                  <a:srgbClr val="9AA7B8"/>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384048"/>
            <a:ext cx="8229600" cy="256032"/>
          </a:xfrm>
          <a:prstGeom prst="rect">
            <a:avLst/>
          </a:prstGeom>
          <a:noFill/>
          <a:ln/>
        </p:spPr>
        <p:txBody>
          <a:bodyPr wrap="square" lIns="0" tIns="0" rIns="0" bIns="0" rtlCol="0" anchor="ctr"/>
          <a:lstStyle/>
          <a:p>
            <a:pPr marL="0" indent="0">
              <a:buNone/>
            </a:pPr>
            <a:r>
              <a:rPr lang="en-US" sz="1200" b="1" kern="0" spc="200" dirty="0">
                <a:solidFill>
                  <a:srgbClr val="00A896"/>
                </a:solidFill>
                <a:latin typeface="Calibri" pitchFamily="34" charset="0"/>
                <a:ea typeface="Calibri" pitchFamily="34" charset="-122"/>
                <a:cs typeface="Calibri" pitchFamily="34" charset="-120"/>
              </a:rPr>
              <a:t>DATA</a:t>
            </a:r>
            <a:endParaRPr lang="en-US" sz="1200" dirty="0"/>
          </a:p>
        </p:txBody>
      </p:sp>
      <p:sp>
        <p:nvSpPr>
          <p:cNvPr id="3" name="Text 1"/>
          <p:cNvSpPr/>
          <p:nvPr/>
        </p:nvSpPr>
        <p:spPr>
          <a:xfrm>
            <a:off x="685800" y="658368"/>
            <a:ext cx="10820095" cy="640080"/>
          </a:xfrm>
          <a:prstGeom prst="rect">
            <a:avLst/>
          </a:prstGeom>
          <a:noFill/>
          <a:ln/>
        </p:spPr>
        <p:txBody>
          <a:bodyPr wrap="square" lIns="0" tIns="0" rIns="0" bIns="0" rtlCol="0" anchor="ctr"/>
          <a:lstStyle/>
          <a:p>
            <a:pPr marL="0" indent="0">
              <a:buNone/>
            </a:pPr>
            <a:r>
              <a:rPr lang="en-US" sz="3400" b="1" dirty="0">
                <a:solidFill>
                  <a:srgbClr val="16202F"/>
                </a:solidFill>
                <a:latin typeface="Cambria" pitchFamily="34" charset="0"/>
                <a:ea typeface="Cambria" pitchFamily="34" charset="-122"/>
                <a:cs typeface="Cambria" pitchFamily="34" charset="-120"/>
              </a:rPr>
              <a:t>Three sources, one integrated panel</a:t>
            </a:r>
            <a:endParaRPr lang="en-US" sz="3400" dirty="0"/>
          </a:p>
        </p:txBody>
      </p:sp>
      <p:sp>
        <p:nvSpPr>
          <p:cNvPr id="4" name="Shape 2"/>
          <p:cNvSpPr/>
          <p:nvPr/>
        </p:nvSpPr>
        <p:spPr>
          <a:xfrm>
            <a:off x="685800" y="1645920"/>
            <a:ext cx="3423818" cy="2377440"/>
          </a:xfrm>
          <a:prstGeom prst="roundRect">
            <a:avLst>
              <a:gd name="adj" fmla="val 3077"/>
            </a:avLst>
          </a:prstGeom>
          <a:solidFill>
            <a:srgbClr val="0E1F3C"/>
          </a:solidFill>
          <a:ln w="12700">
            <a:solidFill>
              <a:srgbClr val="333333"/>
            </a:solidFill>
            <a:prstDash val="solid"/>
          </a:ln>
        </p:spPr>
        <p:txBody>
          <a:bodyPr/>
          <a:lstStyle/>
          <a:p>
            <a:endParaRPr lang="en-US"/>
          </a:p>
        </p:txBody>
      </p:sp>
      <p:sp>
        <p:nvSpPr>
          <p:cNvPr id="5" name="Text 3"/>
          <p:cNvSpPr/>
          <p:nvPr/>
        </p:nvSpPr>
        <p:spPr>
          <a:xfrm>
            <a:off x="1051560" y="1920240"/>
            <a:ext cx="2692298" cy="365760"/>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yfinance</a:t>
            </a:r>
            <a:endParaRPr lang="en-US" sz="2000" dirty="0"/>
          </a:p>
        </p:txBody>
      </p:sp>
      <p:sp>
        <p:nvSpPr>
          <p:cNvPr id="6" name="Text 4"/>
          <p:cNvSpPr/>
          <p:nvPr/>
        </p:nvSpPr>
        <p:spPr>
          <a:xfrm>
            <a:off x="1051560" y="2395728"/>
            <a:ext cx="2692298" cy="1097280"/>
          </a:xfrm>
          <a:prstGeom prst="rect">
            <a:avLst/>
          </a:prstGeom>
          <a:noFill/>
          <a:ln/>
        </p:spPr>
        <p:txBody>
          <a:bodyPr wrap="square" lIns="0" tIns="0" rIns="0" bIns="0" rtlCol="0" anchor="ctr"/>
          <a:lstStyle/>
          <a:p>
            <a:pPr marL="0" indent="0">
              <a:lnSpc>
                <a:spcPts val="1900"/>
              </a:lnSpc>
              <a:buNone/>
            </a:pPr>
            <a:r>
              <a:rPr lang="en-US" sz="1300" dirty="0">
                <a:solidFill>
                  <a:srgbClr val="BCCADC"/>
                </a:solidFill>
                <a:latin typeface="Calibri" pitchFamily="34" charset="0"/>
                <a:ea typeface="Calibri" pitchFamily="34" charset="-122"/>
                <a:cs typeface="Calibri" pitchFamily="34" charset="-120"/>
              </a:rPr>
              <a:t>Daily OHLCV + adjusted close for 21 tickers, 2018–2025. Drives every return, volatility, and backtest number.</a:t>
            </a:r>
            <a:endParaRPr lang="en-US" sz="1300" dirty="0"/>
          </a:p>
        </p:txBody>
      </p:sp>
      <p:sp>
        <p:nvSpPr>
          <p:cNvPr id="7" name="Text 5"/>
          <p:cNvSpPr/>
          <p:nvPr/>
        </p:nvSpPr>
        <p:spPr>
          <a:xfrm>
            <a:off x="1051560" y="3520440"/>
            <a:ext cx="2692298" cy="274320"/>
          </a:xfrm>
          <a:prstGeom prst="rect">
            <a:avLst/>
          </a:prstGeom>
          <a:noFill/>
          <a:ln/>
        </p:spPr>
        <p:txBody>
          <a:bodyPr wrap="square" lIns="0" tIns="0" rIns="0" bIns="0" rtlCol="0" anchor="ctr"/>
          <a:lstStyle/>
          <a:p>
            <a:pPr marL="0" indent="0">
              <a:buNone/>
            </a:pPr>
            <a:r>
              <a:rPr lang="en-US" sz="1150" b="1" dirty="0">
                <a:solidFill>
                  <a:srgbClr val="6FD3C4"/>
                </a:solidFill>
                <a:latin typeface="Calibri" pitchFamily="34" charset="0"/>
                <a:ea typeface="Calibri" pitchFamily="34" charset="-122"/>
                <a:cs typeface="Calibri" pitchFamily="34" charset="-120"/>
              </a:rPr>
              <a:t>Security × day</a:t>
            </a:r>
            <a:endParaRPr lang="en-US" sz="1150" dirty="0"/>
          </a:p>
        </p:txBody>
      </p:sp>
      <p:sp>
        <p:nvSpPr>
          <p:cNvPr id="8" name="Shape 6"/>
          <p:cNvSpPr/>
          <p:nvPr/>
        </p:nvSpPr>
        <p:spPr>
          <a:xfrm>
            <a:off x="4383938" y="1645920"/>
            <a:ext cx="3423818" cy="2377440"/>
          </a:xfrm>
          <a:prstGeom prst="roundRect">
            <a:avLst>
              <a:gd name="adj" fmla="val 3077"/>
            </a:avLst>
          </a:prstGeom>
          <a:solidFill>
            <a:srgbClr val="F2F5F9"/>
          </a:solidFill>
          <a:ln w="12700">
            <a:solidFill>
              <a:srgbClr val="333333"/>
            </a:solidFill>
            <a:prstDash val="solid"/>
          </a:ln>
        </p:spPr>
        <p:txBody>
          <a:bodyPr/>
          <a:lstStyle/>
          <a:p>
            <a:endParaRPr lang="en-US"/>
          </a:p>
        </p:txBody>
      </p:sp>
      <p:sp>
        <p:nvSpPr>
          <p:cNvPr id="9" name="Text 7"/>
          <p:cNvSpPr/>
          <p:nvPr/>
        </p:nvSpPr>
        <p:spPr>
          <a:xfrm>
            <a:off x="4749698" y="1920240"/>
            <a:ext cx="2692298" cy="365760"/>
          </a:xfrm>
          <a:prstGeom prst="rect">
            <a:avLst/>
          </a:prstGeom>
          <a:noFill/>
          <a:ln/>
        </p:spPr>
        <p:txBody>
          <a:bodyPr wrap="square" lIns="0" tIns="0" rIns="0" bIns="0" rtlCol="0" anchor="ctr"/>
          <a:lstStyle/>
          <a:p>
            <a:pPr marL="0" indent="0">
              <a:buNone/>
            </a:pPr>
            <a:r>
              <a:rPr lang="en-US" sz="2000" b="1" dirty="0">
                <a:solidFill>
                  <a:srgbClr val="16202F"/>
                </a:solidFill>
                <a:latin typeface="Cambria" pitchFamily="34" charset="0"/>
                <a:ea typeface="Cambria" pitchFamily="34" charset="-122"/>
                <a:cs typeface="Cambria" pitchFamily="34" charset="-120"/>
              </a:rPr>
              <a:t>Wikipedia S&amp;P 500</a:t>
            </a:r>
            <a:endParaRPr lang="en-US" sz="2000" dirty="0"/>
          </a:p>
        </p:txBody>
      </p:sp>
      <p:sp>
        <p:nvSpPr>
          <p:cNvPr id="10" name="Text 8"/>
          <p:cNvSpPr/>
          <p:nvPr/>
        </p:nvSpPr>
        <p:spPr>
          <a:xfrm>
            <a:off x="4749698" y="2395728"/>
            <a:ext cx="2692298" cy="1097280"/>
          </a:xfrm>
          <a:prstGeom prst="rect">
            <a:avLst/>
          </a:prstGeom>
          <a:noFill/>
          <a:ln/>
        </p:spPr>
        <p:txBody>
          <a:bodyPr wrap="square" lIns="0" tIns="0" rIns="0" bIns="0" rtlCol="0" anchor="ctr"/>
          <a:lstStyle/>
          <a:p>
            <a:pPr marL="0" indent="0">
              <a:lnSpc>
                <a:spcPts val="1900"/>
              </a:lnSpc>
              <a:buNone/>
            </a:pPr>
            <a:r>
              <a:rPr lang="en-US" sz="1300" dirty="0">
                <a:solidFill>
                  <a:srgbClr val="5D6E85"/>
                </a:solidFill>
                <a:latin typeface="Calibri" pitchFamily="34" charset="0"/>
                <a:ea typeface="Calibri" pitchFamily="34" charset="-122"/>
                <a:cs typeface="Calibri" pitchFamily="34" charset="-120"/>
              </a:rPr>
              <a:t>Company names and GICS sectors, joined on ticker. Used for sector labelling and diversification checks only.</a:t>
            </a:r>
            <a:endParaRPr lang="en-US" sz="1300" dirty="0"/>
          </a:p>
        </p:txBody>
      </p:sp>
      <p:sp>
        <p:nvSpPr>
          <p:cNvPr id="11" name="Text 9"/>
          <p:cNvSpPr/>
          <p:nvPr/>
        </p:nvSpPr>
        <p:spPr>
          <a:xfrm>
            <a:off x="4749698" y="3520440"/>
            <a:ext cx="2692298" cy="274320"/>
          </a:xfrm>
          <a:prstGeom prst="rect">
            <a:avLst/>
          </a:prstGeom>
          <a:noFill/>
          <a:ln/>
        </p:spPr>
        <p:txBody>
          <a:bodyPr wrap="square" lIns="0" tIns="0" rIns="0" bIns="0" rtlCol="0" anchor="ctr"/>
          <a:lstStyle/>
          <a:p>
            <a:pPr marL="0" indent="0">
              <a:buNone/>
            </a:pPr>
            <a:r>
              <a:rPr lang="en-US" sz="1150" b="1" dirty="0">
                <a:solidFill>
                  <a:srgbClr val="00A896"/>
                </a:solidFill>
                <a:latin typeface="Calibri" pitchFamily="34" charset="0"/>
                <a:ea typeface="Calibri" pitchFamily="34" charset="-122"/>
                <a:cs typeface="Calibri" pitchFamily="34" charset="-120"/>
              </a:rPr>
              <a:t>One row per company</a:t>
            </a:r>
            <a:endParaRPr lang="en-US" sz="1150" dirty="0"/>
          </a:p>
        </p:txBody>
      </p:sp>
      <p:sp>
        <p:nvSpPr>
          <p:cNvPr id="12" name="Shape 10"/>
          <p:cNvSpPr/>
          <p:nvPr/>
        </p:nvSpPr>
        <p:spPr>
          <a:xfrm>
            <a:off x="8082077" y="1645920"/>
            <a:ext cx="3423818" cy="2377440"/>
          </a:xfrm>
          <a:prstGeom prst="roundRect">
            <a:avLst>
              <a:gd name="adj" fmla="val 3077"/>
            </a:avLst>
          </a:prstGeom>
          <a:solidFill>
            <a:srgbClr val="F2F5F9"/>
          </a:solidFill>
          <a:ln w="12700">
            <a:solidFill>
              <a:srgbClr val="333333"/>
            </a:solidFill>
            <a:prstDash val="solid"/>
          </a:ln>
        </p:spPr>
        <p:txBody>
          <a:bodyPr/>
          <a:lstStyle/>
          <a:p>
            <a:endParaRPr lang="en-US"/>
          </a:p>
        </p:txBody>
      </p:sp>
      <p:sp>
        <p:nvSpPr>
          <p:cNvPr id="13" name="Text 11"/>
          <p:cNvSpPr/>
          <p:nvPr/>
        </p:nvSpPr>
        <p:spPr>
          <a:xfrm>
            <a:off x="8447837" y="1920240"/>
            <a:ext cx="2692298" cy="365760"/>
          </a:xfrm>
          <a:prstGeom prst="rect">
            <a:avLst/>
          </a:prstGeom>
          <a:noFill/>
          <a:ln/>
        </p:spPr>
        <p:txBody>
          <a:bodyPr wrap="square" lIns="0" tIns="0" rIns="0" bIns="0" rtlCol="0" anchor="ctr"/>
          <a:lstStyle/>
          <a:p>
            <a:pPr marL="0" indent="0">
              <a:buNone/>
            </a:pPr>
            <a:r>
              <a:rPr lang="en-US" sz="2000" b="1" dirty="0">
                <a:solidFill>
                  <a:srgbClr val="16202F"/>
                </a:solidFill>
                <a:latin typeface="Cambria" pitchFamily="34" charset="0"/>
                <a:ea typeface="Cambria" pitchFamily="34" charset="-122"/>
                <a:cs typeface="Cambria" pitchFamily="34" charset="-120"/>
              </a:rPr>
              <a:t>FRED</a:t>
            </a:r>
            <a:endParaRPr lang="en-US" sz="2000" dirty="0"/>
          </a:p>
        </p:txBody>
      </p:sp>
      <p:sp>
        <p:nvSpPr>
          <p:cNvPr id="14" name="Text 12"/>
          <p:cNvSpPr/>
          <p:nvPr/>
        </p:nvSpPr>
        <p:spPr>
          <a:xfrm>
            <a:off x="8447837" y="2395728"/>
            <a:ext cx="2692298" cy="1097280"/>
          </a:xfrm>
          <a:prstGeom prst="rect">
            <a:avLst/>
          </a:prstGeom>
          <a:noFill/>
          <a:ln/>
        </p:spPr>
        <p:txBody>
          <a:bodyPr wrap="square" lIns="0" tIns="0" rIns="0" bIns="0" rtlCol="0" anchor="ctr"/>
          <a:lstStyle/>
          <a:p>
            <a:pPr marL="0" indent="0">
              <a:lnSpc>
                <a:spcPts val="1900"/>
              </a:lnSpc>
              <a:buNone/>
            </a:pPr>
            <a:r>
              <a:rPr lang="en-US" sz="1300" dirty="0">
                <a:solidFill>
                  <a:srgbClr val="5D6E85"/>
                </a:solidFill>
                <a:latin typeface="Calibri" pitchFamily="34" charset="0"/>
                <a:ea typeface="Calibri" pitchFamily="34" charset="-122"/>
                <a:cs typeface="Calibri" pitchFamily="34" charset="-120"/>
              </a:rPr>
              <a:t>VIX, 10-yr Treasury, yield-curve spread, fed funds, unemployment, CPI, recession flag, risk-free rate.</a:t>
            </a:r>
            <a:endParaRPr lang="en-US" sz="1300" dirty="0"/>
          </a:p>
        </p:txBody>
      </p:sp>
      <p:sp>
        <p:nvSpPr>
          <p:cNvPr id="15" name="Text 13"/>
          <p:cNvSpPr/>
          <p:nvPr/>
        </p:nvSpPr>
        <p:spPr>
          <a:xfrm>
            <a:off x="8447837" y="3520440"/>
            <a:ext cx="2692298" cy="274320"/>
          </a:xfrm>
          <a:prstGeom prst="rect">
            <a:avLst/>
          </a:prstGeom>
          <a:noFill/>
          <a:ln/>
        </p:spPr>
        <p:txBody>
          <a:bodyPr wrap="square" lIns="0" tIns="0" rIns="0" bIns="0" rtlCol="0" anchor="ctr"/>
          <a:lstStyle/>
          <a:p>
            <a:pPr marL="0" indent="0">
              <a:buNone/>
            </a:pPr>
            <a:r>
              <a:rPr lang="en-US" sz="1150" b="1" dirty="0">
                <a:solidFill>
                  <a:srgbClr val="00A896"/>
                </a:solidFill>
                <a:latin typeface="Calibri" pitchFamily="34" charset="0"/>
                <a:ea typeface="Calibri" pitchFamily="34" charset="-122"/>
                <a:cs typeface="Calibri" pitchFamily="34" charset="-120"/>
              </a:rPr>
              <a:t>National time series</a:t>
            </a:r>
            <a:endParaRPr lang="en-US" sz="1150" dirty="0"/>
          </a:p>
        </p:txBody>
      </p:sp>
      <p:sp>
        <p:nvSpPr>
          <p:cNvPr id="16" name="Text 14"/>
          <p:cNvSpPr/>
          <p:nvPr/>
        </p:nvSpPr>
        <p:spPr>
          <a:xfrm>
            <a:off x="685800" y="4434840"/>
            <a:ext cx="2499284" cy="685800"/>
          </a:xfrm>
          <a:prstGeom prst="rect">
            <a:avLst/>
          </a:prstGeom>
          <a:noFill/>
          <a:ln/>
        </p:spPr>
        <p:txBody>
          <a:bodyPr wrap="square" lIns="0" tIns="0" rIns="0" bIns="0" rtlCol="0" anchor="ctr"/>
          <a:lstStyle/>
          <a:p>
            <a:pPr marL="0" indent="0">
              <a:buNone/>
            </a:pPr>
            <a:r>
              <a:rPr lang="en-US" sz="4000" b="1" dirty="0">
                <a:solidFill>
                  <a:srgbClr val="00A896"/>
                </a:solidFill>
                <a:latin typeface="Cambria" pitchFamily="34" charset="0"/>
                <a:ea typeface="Cambria" pitchFamily="34" charset="-122"/>
                <a:cs typeface="Cambria" pitchFamily="34" charset="-120"/>
              </a:rPr>
              <a:t>21</a:t>
            </a:r>
            <a:endParaRPr lang="en-US" sz="4000" dirty="0"/>
          </a:p>
        </p:txBody>
      </p:sp>
      <p:sp>
        <p:nvSpPr>
          <p:cNvPr id="17" name="Text 15"/>
          <p:cNvSpPr/>
          <p:nvPr/>
        </p:nvSpPr>
        <p:spPr>
          <a:xfrm>
            <a:off x="685800" y="5138928"/>
            <a:ext cx="2499284" cy="274320"/>
          </a:xfrm>
          <a:prstGeom prst="rect">
            <a:avLst/>
          </a:prstGeom>
          <a:noFill/>
          <a:ln/>
        </p:spPr>
        <p:txBody>
          <a:bodyPr wrap="square" lIns="0" tIns="0" rIns="0" bIns="0" rtlCol="0" anchor="ctr"/>
          <a:lstStyle/>
          <a:p>
            <a:pPr marL="0" indent="0">
              <a:buNone/>
            </a:pPr>
            <a:r>
              <a:rPr lang="en-US" sz="1250" dirty="0">
                <a:solidFill>
                  <a:srgbClr val="5D6E85"/>
                </a:solidFill>
                <a:latin typeface="Calibri" pitchFamily="34" charset="0"/>
                <a:ea typeface="Calibri" pitchFamily="34" charset="-122"/>
                <a:cs typeface="Calibri" pitchFamily="34" charset="-120"/>
              </a:rPr>
              <a:t>tickers, incl. SPY</a:t>
            </a:r>
            <a:endParaRPr lang="en-US" sz="1250" dirty="0"/>
          </a:p>
        </p:txBody>
      </p:sp>
      <p:sp>
        <p:nvSpPr>
          <p:cNvPr id="18" name="Text 16"/>
          <p:cNvSpPr/>
          <p:nvPr/>
        </p:nvSpPr>
        <p:spPr>
          <a:xfrm>
            <a:off x="3185085" y="4434840"/>
            <a:ext cx="2499284" cy="685800"/>
          </a:xfrm>
          <a:prstGeom prst="rect">
            <a:avLst/>
          </a:prstGeom>
          <a:noFill/>
          <a:ln/>
        </p:spPr>
        <p:txBody>
          <a:bodyPr wrap="square" lIns="0" tIns="0" rIns="0" bIns="0" rtlCol="0" anchor="ctr"/>
          <a:lstStyle/>
          <a:p>
            <a:pPr marL="0" indent="0">
              <a:buNone/>
            </a:pPr>
            <a:r>
              <a:rPr lang="en-US" sz="4000" b="1" dirty="0">
                <a:solidFill>
                  <a:srgbClr val="00A896"/>
                </a:solidFill>
                <a:latin typeface="Cambria" pitchFamily="34" charset="0"/>
                <a:ea typeface="Cambria" pitchFamily="34" charset="-122"/>
                <a:cs typeface="Cambria" pitchFamily="34" charset="-120"/>
              </a:rPr>
              <a:t>42,210</a:t>
            </a:r>
            <a:endParaRPr lang="en-US" sz="4000" dirty="0"/>
          </a:p>
        </p:txBody>
      </p:sp>
      <p:sp>
        <p:nvSpPr>
          <p:cNvPr id="19" name="Text 17"/>
          <p:cNvSpPr/>
          <p:nvPr/>
        </p:nvSpPr>
        <p:spPr>
          <a:xfrm>
            <a:off x="3185085" y="5169587"/>
            <a:ext cx="2499284" cy="274320"/>
          </a:xfrm>
          <a:prstGeom prst="rect">
            <a:avLst/>
          </a:prstGeom>
          <a:noFill/>
          <a:ln/>
        </p:spPr>
        <p:txBody>
          <a:bodyPr wrap="square" lIns="0" tIns="0" rIns="0" bIns="0" rtlCol="0" anchor="ctr"/>
          <a:lstStyle/>
          <a:p>
            <a:pPr marL="0" indent="0">
              <a:buNone/>
            </a:pPr>
            <a:r>
              <a:rPr lang="en-US" sz="1250" dirty="0">
                <a:solidFill>
                  <a:srgbClr val="5D6E85"/>
                </a:solidFill>
                <a:latin typeface="Calibri" pitchFamily="34" charset="0"/>
                <a:ea typeface="Calibri" pitchFamily="34" charset="-122"/>
                <a:cs typeface="Calibri" pitchFamily="34" charset="-120"/>
              </a:rPr>
              <a:t>ticker-day rows</a:t>
            </a:r>
            <a:endParaRPr lang="en-US" sz="1250" dirty="0"/>
          </a:p>
        </p:txBody>
      </p:sp>
      <p:sp>
        <p:nvSpPr>
          <p:cNvPr id="20" name="Text 18"/>
          <p:cNvSpPr/>
          <p:nvPr/>
        </p:nvSpPr>
        <p:spPr>
          <a:xfrm>
            <a:off x="5958688" y="4434840"/>
            <a:ext cx="2773604" cy="685800"/>
          </a:xfrm>
          <a:prstGeom prst="rect">
            <a:avLst/>
          </a:prstGeom>
          <a:noFill/>
          <a:ln/>
        </p:spPr>
        <p:txBody>
          <a:bodyPr wrap="square" lIns="0" tIns="0" rIns="0" bIns="0" rtlCol="0" anchor="ctr"/>
          <a:lstStyle/>
          <a:p>
            <a:pPr marL="0" indent="0">
              <a:buNone/>
            </a:pPr>
            <a:r>
              <a:rPr lang="en-US" sz="4000" b="1" dirty="0">
                <a:solidFill>
                  <a:srgbClr val="00A896"/>
                </a:solidFill>
                <a:latin typeface="Cambria" pitchFamily="34" charset="0"/>
                <a:ea typeface="Cambria" pitchFamily="34" charset="-122"/>
                <a:cs typeface="Cambria" pitchFamily="34" charset="-120"/>
              </a:rPr>
              <a:t>2018–2025</a:t>
            </a:r>
            <a:endParaRPr lang="en-US" sz="4000" dirty="0"/>
          </a:p>
        </p:txBody>
      </p:sp>
      <p:sp>
        <p:nvSpPr>
          <p:cNvPr id="21" name="Text 19"/>
          <p:cNvSpPr/>
          <p:nvPr/>
        </p:nvSpPr>
        <p:spPr>
          <a:xfrm>
            <a:off x="6233008" y="5138928"/>
            <a:ext cx="2499284" cy="274320"/>
          </a:xfrm>
          <a:prstGeom prst="rect">
            <a:avLst/>
          </a:prstGeom>
          <a:noFill/>
          <a:ln/>
        </p:spPr>
        <p:txBody>
          <a:bodyPr wrap="square" lIns="0" tIns="0" rIns="0" bIns="0" rtlCol="0" anchor="ctr"/>
          <a:lstStyle/>
          <a:p>
            <a:pPr marL="0" indent="0">
              <a:buNone/>
            </a:pPr>
            <a:r>
              <a:rPr lang="en-US" sz="1250" dirty="0">
                <a:solidFill>
                  <a:srgbClr val="5D6E85"/>
                </a:solidFill>
                <a:latin typeface="Calibri" pitchFamily="34" charset="0"/>
                <a:ea typeface="Calibri" pitchFamily="34" charset="-122"/>
                <a:cs typeface="Calibri" pitchFamily="34" charset="-120"/>
              </a:rPr>
              <a:t>daily coverage</a:t>
            </a:r>
            <a:endParaRPr lang="en-US" sz="1250" dirty="0"/>
          </a:p>
        </p:txBody>
      </p:sp>
      <p:sp>
        <p:nvSpPr>
          <p:cNvPr id="22" name="Text 20"/>
          <p:cNvSpPr/>
          <p:nvPr/>
        </p:nvSpPr>
        <p:spPr>
          <a:xfrm>
            <a:off x="9341853" y="4434840"/>
            <a:ext cx="2499284" cy="685800"/>
          </a:xfrm>
          <a:prstGeom prst="rect">
            <a:avLst/>
          </a:prstGeom>
          <a:noFill/>
          <a:ln/>
        </p:spPr>
        <p:txBody>
          <a:bodyPr wrap="square" lIns="0" tIns="0" rIns="0" bIns="0" rtlCol="0" anchor="ctr"/>
          <a:lstStyle/>
          <a:p>
            <a:pPr marL="0" indent="0">
              <a:buNone/>
            </a:pPr>
            <a:r>
              <a:rPr lang="en-US" sz="4000" b="1" dirty="0">
                <a:solidFill>
                  <a:srgbClr val="00A896"/>
                </a:solidFill>
                <a:latin typeface="Cambria" pitchFamily="34" charset="0"/>
                <a:ea typeface="Cambria" pitchFamily="34" charset="-122"/>
                <a:cs typeface="Cambria" pitchFamily="34" charset="-120"/>
              </a:rPr>
              <a:t>17</a:t>
            </a:r>
            <a:endParaRPr lang="en-US" sz="4000" dirty="0"/>
          </a:p>
        </p:txBody>
      </p:sp>
      <p:sp>
        <p:nvSpPr>
          <p:cNvPr id="23" name="Text 21"/>
          <p:cNvSpPr/>
          <p:nvPr/>
        </p:nvSpPr>
        <p:spPr>
          <a:xfrm>
            <a:off x="9341853" y="5155602"/>
            <a:ext cx="2499284" cy="274320"/>
          </a:xfrm>
          <a:prstGeom prst="rect">
            <a:avLst/>
          </a:prstGeom>
          <a:noFill/>
          <a:ln/>
        </p:spPr>
        <p:txBody>
          <a:bodyPr wrap="square" lIns="0" tIns="0" rIns="0" bIns="0" rtlCol="0" anchor="ctr"/>
          <a:lstStyle/>
          <a:p>
            <a:pPr marL="0" indent="0">
              <a:buNone/>
            </a:pPr>
            <a:r>
              <a:rPr lang="en-US" sz="1250" dirty="0">
                <a:solidFill>
                  <a:srgbClr val="5D6E85"/>
                </a:solidFill>
                <a:latin typeface="Calibri" pitchFamily="34" charset="0"/>
                <a:ea typeface="Calibri" pitchFamily="34" charset="-122"/>
                <a:cs typeface="Calibri" pitchFamily="34" charset="-120"/>
              </a:rPr>
              <a:t>modeling features</a:t>
            </a:r>
            <a:endParaRPr lang="en-US" sz="1250" dirty="0"/>
          </a:p>
        </p:txBody>
      </p:sp>
      <p:sp>
        <p:nvSpPr>
          <p:cNvPr id="24" name="Text 22"/>
          <p:cNvSpPr/>
          <p:nvPr/>
        </p:nvSpPr>
        <p:spPr>
          <a:xfrm>
            <a:off x="685800" y="6355080"/>
            <a:ext cx="5486400" cy="274320"/>
          </a:xfrm>
          <a:prstGeom prst="rect">
            <a:avLst/>
          </a:prstGeom>
          <a:noFill/>
          <a:ln/>
        </p:spPr>
        <p:txBody>
          <a:bodyPr wrap="square" lIns="0" tIns="0" rIns="0" bIns="0" rtlCol="0" anchor="ctr"/>
          <a:lstStyle/>
          <a:p>
            <a:pPr marL="0" indent="0">
              <a:buNone/>
            </a:pPr>
            <a:r>
              <a:rPr lang="en-US" sz="950" dirty="0">
                <a:solidFill>
                  <a:srgbClr val="9AA7B8"/>
                </a:solidFill>
                <a:latin typeface="Calibri" pitchFamily="34" charset="0"/>
                <a:ea typeface="Calibri" pitchFamily="34" charset="-122"/>
                <a:cs typeface="Calibri" pitchFamily="34" charset="-120"/>
              </a:rPr>
              <a:t>FinSight Analytics  ·  INFO 442 Group 2</a:t>
            </a:r>
            <a:endParaRPr lang="en-US" sz="950" dirty="0"/>
          </a:p>
        </p:txBody>
      </p:sp>
      <p:sp>
        <p:nvSpPr>
          <p:cNvPr id="25" name="Text 23"/>
          <p:cNvSpPr/>
          <p:nvPr/>
        </p:nvSpPr>
        <p:spPr>
          <a:xfrm>
            <a:off x="10591495" y="6355080"/>
            <a:ext cx="914400" cy="274320"/>
          </a:xfrm>
          <a:prstGeom prst="rect">
            <a:avLst/>
          </a:prstGeom>
          <a:noFill/>
          <a:ln/>
        </p:spPr>
        <p:txBody>
          <a:bodyPr wrap="square" lIns="0" tIns="0" rIns="0" bIns="0" rtlCol="0" anchor="ctr"/>
          <a:lstStyle/>
          <a:p>
            <a:pPr marL="0" indent="0" algn="r">
              <a:buNone/>
            </a:pPr>
            <a:r>
              <a:rPr lang="en-US" sz="950" dirty="0">
                <a:solidFill>
                  <a:srgbClr val="9AA7B8"/>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384048"/>
            <a:ext cx="8229600" cy="256032"/>
          </a:xfrm>
          <a:prstGeom prst="rect">
            <a:avLst/>
          </a:prstGeom>
          <a:noFill/>
          <a:ln/>
        </p:spPr>
        <p:txBody>
          <a:bodyPr wrap="square" lIns="0" tIns="0" rIns="0" bIns="0" rtlCol="0" anchor="ctr"/>
          <a:lstStyle/>
          <a:p>
            <a:pPr marL="0" indent="0">
              <a:buNone/>
            </a:pPr>
            <a:r>
              <a:rPr lang="en-US" sz="1200" b="1" kern="0" spc="200" dirty="0">
                <a:solidFill>
                  <a:srgbClr val="00A896"/>
                </a:solidFill>
                <a:latin typeface="Calibri" pitchFamily="34" charset="0"/>
                <a:ea typeface="Calibri" pitchFamily="34" charset="-122"/>
                <a:cs typeface="Calibri" pitchFamily="34" charset="-120"/>
              </a:rPr>
              <a:t>HOW IT WORKS</a:t>
            </a:r>
            <a:endParaRPr lang="en-US" sz="1200" dirty="0"/>
          </a:p>
        </p:txBody>
      </p:sp>
      <p:sp>
        <p:nvSpPr>
          <p:cNvPr id="3" name="Text 1"/>
          <p:cNvSpPr/>
          <p:nvPr/>
        </p:nvSpPr>
        <p:spPr>
          <a:xfrm>
            <a:off x="685800" y="658368"/>
            <a:ext cx="10820095" cy="640080"/>
          </a:xfrm>
          <a:prstGeom prst="rect">
            <a:avLst/>
          </a:prstGeom>
          <a:noFill/>
          <a:ln/>
        </p:spPr>
        <p:txBody>
          <a:bodyPr wrap="square" lIns="0" tIns="0" rIns="0" bIns="0" rtlCol="0" anchor="ctr"/>
          <a:lstStyle/>
          <a:p>
            <a:pPr marL="0" indent="0">
              <a:buNone/>
            </a:pPr>
            <a:r>
              <a:rPr lang="en-US" sz="3400" b="1" dirty="0">
                <a:solidFill>
                  <a:srgbClr val="16202F"/>
                </a:solidFill>
                <a:latin typeface="Cambria" pitchFamily="34" charset="0"/>
                <a:ea typeface="Cambria" pitchFamily="34" charset="-122"/>
                <a:cs typeface="Cambria" pitchFamily="34" charset="-120"/>
              </a:rPr>
              <a:t>End-to-end pipeline, all six stages built</a:t>
            </a:r>
            <a:endParaRPr lang="en-US" sz="3400" dirty="0"/>
          </a:p>
        </p:txBody>
      </p:sp>
      <p:sp>
        <p:nvSpPr>
          <p:cNvPr id="4" name="Shape 2"/>
          <p:cNvSpPr/>
          <p:nvPr/>
        </p:nvSpPr>
        <p:spPr>
          <a:xfrm>
            <a:off x="685800" y="1965960"/>
            <a:ext cx="1719072" cy="2103120"/>
          </a:xfrm>
          <a:prstGeom prst="roundRect">
            <a:avLst>
              <a:gd name="adj" fmla="val 4255"/>
            </a:avLst>
          </a:prstGeom>
          <a:solidFill>
            <a:srgbClr val="F2F5F9"/>
          </a:solidFill>
          <a:ln w="12700">
            <a:solidFill>
              <a:srgbClr val="333333"/>
            </a:solidFill>
            <a:prstDash val="solid"/>
          </a:ln>
        </p:spPr>
        <p:txBody>
          <a:bodyPr/>
          <a:lstStyle/>
          <a:p>
            <a:endParaRPr lang="en-US"/>
          </a:p>
        </p:txBody>
      </p:sp>
      <p:sp>
        <p:nvSpPr>
          <p:cNvPr id="5" name="Text 3"/>
          <p:cNvSpPr/>
          <p:nvPr/>
        </p:nvSpPr>
        <p:spPr>
          <a:xfrm>
            <a:off x="941832" y="2194560"/>
            <a:ext cx="1261872" cy="320040"/>
          </a:xfrm>
          <a:prstGeom prst="rect">
            <a:avLst/>
          </a:prstGeom>
          <a:noFill/>
          <a:ln/>
        </p:spPr>
        <p:txBody>
          <a:bodyPr wrap="square" lIns="0" tIns="0" rIns="0" bIns="0" rtlCol="0" anchor="ctr"/>
          <a:lstStyle/>
          <a:p>
            <a:pPr marL="0" indent="0">
              <a:buNone/>
            </a:pPr>
            <a:r>
              <a:rPr lang="en-US" sz="1700" b="1" dirty="0">
                <a:solidFill>
                  <a:srgbClr val="00A896"/>
                </a:solidFill>
                <a:latin typeface="Cambria" pitchFamily="34" charset="0"/>
                <a:ea typeface="Cambria" pitchFamily="34" charset="-122"/>
                <a:cs typeface="Cambria" pitchFamily="34" charset="-120"/>
              </a:rPr>
              <a:t>01</a:t>
            </a:r>
            <a:endParaRPr lang="en-US" sz="1700" dirty="0"/>
          </a:p>
        </p:txBody>
      </p:sp>
      <p:sp>
        <p:nvSpPr>
          <p:cNvPr id="6" name="Text 4"/>
          <p:cNvSpPr/>
          <p:nvPr/>
        </p:nvSpPr>
        <p:spPr>
          <a:xfrm>
            <a:off x="941832" y="2578608"/>
            <a:ext cx="1261872" cy="320040"/>
          </a:xfrm>
          <a:prstGeom prst="rect">
            <a:avLst/>
          </a:prstGeom>
          <a:noFill/>
          <a:ln/>
        </p:spPr>
        <p:txBody>
          <a:bodyPr wrap="square" lIns="0" tIns="0" rIns="0" bIns="0" rtlCol="0" anchor="ctr"/>
          <a:lstStyle/>
          <a:p>
            <a:pPr marL="0" indent="0">
              <a:buNone/>
            </a:pPr>
            <a:r>
              <a:rPr lang="en-US" sz="1650" b="1" dirty="0">
                <a:solidFill>
                  <a:srgbClr val="16202F"/>
                </a:solidFill>
                <a:latin typeface="Cambria" pitchFamily="34" charset="0"/>
                <a:ea typeface="Cambria" pitchFamily="34" charset="-122"/>
                <a:cs typeface="Cambria" pitchFamily="34" charset="-120"/>
              </a:rPr>
              <a:t>Acquire</a:t>
            </a:r>
            <a:endParaRPr lang="en-US" sz="1650" dirty="0"/>
          </a:p>
        </p:txBody>
      </p:sp>
      <p:sp>
        <p:nvSpPr>
          <p:cNvPr id="7" name="Text 5"/>
          <p:cNvSpPr/>
          <p:nvPr/>
        </p:nvSpPr>
        <p:spPr>
          <a:xfrm>
            <a:off x="941832" y="2962656"/>
            <a:ext cx="1261872" cy="868680"/>
          </a:xfrm>
          <a:prstGeom prst="rect">
            <a:avLst/>
          </a:prstGeom>
          <a:noFill/>
          <a:ln/>
        </p:spPr>
        <p:txBody>
          <a:bodyPr wrap="square" lIns="0" tIns="0" rIns="0" bIns="0" rtlCol="0" anchor="ctr"/>
          <a:lstStyle/>
          <a:p>
            <a:pPr marL="0" indent="0">
              <a:lnSpc>
                <a:spcPts val="1700"/>
              </a:lnSpc>
              <a:buNone/>
            </a:pPr>
            <a:r>
              <a:rPr lang="en-US" sz="1150" dirty="0">
                <a:solidFill>
                  <a:srgbClr val="5D6E85"/>
                </a:solidFill>
                <a:latin typeface="Calibri" pitchFamily="34" charset="0"/>
                <a:ea typeface="Calibri" pitchFamily="34" charset="-122"/>
                <a:cs typeface="Calibri" pitchFamily="34" charset="-120"/>
              </a:rPr>
              <a:t>yfinance · Wikipedia · FRED</a:t>
            </a:r>
            <a:endParaRPr lang="en-US" sz="1150" dirty="0"/>
          </a:p>
        </p:txBody>
      </p:sp>
      <p:sp>
        <p:nvSpPr>
          <p:cNvPr id="8" name="Text 6"/>
          <p:cNvSpPr/>
          <p:nvPr/>
        </p:nvSpPr>
        <p:spPr>
          <a:xfrm>
            <a:off x="2404872" y="2788920"/>
            <a:ext cx="173736" cy="365760"/>
          </a:xfrm>
          <a:prstGeom prst="rect">
            <a:avLst/>
          </a:prstGeom>
          <a:noFill/>
          <a:ln/>
        </p:spPr>
        <p:txBody>
          <a:bodyPr wrap="square" lIns="0" tIns="0" rIns="0" bIns="0" rtlCol="0" anchor="ctr"/>
          <a:lstStyle/>
          <a:p>
            <a:pPr marL="0" indent="0" algn="ctr">
              <a:buNone/>
            </a:pPr>
            <a:r>
              <a:rPr lang="en-US" sz="2000" b="1" dirty="0">
                <a:solidFill>
                  <a:srgbClr val="B4C0CE"/>
                </a:solidFill>
                <a:latin typeface="Calibri" pitchFamily="34" charset="0"/>
                <a:ea typeface="Calibri" pitchFamily="34" charset="-122"/>
                <a:cs typeface="Calibri" pitchFamily="34" charset="-120"/>
              </a:rPr>
              <a:t>›</a:t>
            </a:r>
            <a:endParaRPr lang="en-US" sz="2000" dirty="0"/>
          </a:p>
        </p:txBody>
      </p:sp>
      <p:sp>
        <p:nvSpPr>
          <p:cNvPr id="9" name="Shape 7"/>
          <p:cNvSpPr/>
          <p:nvPr/>
        </p:nvSpPr>
        <p:spPr>
          <a:xfrm>
            <a:off x="2578608" y="1965960"/>
            <a:ext cx="1719072" cy="2103120"/>
          </a:xfrm>
          <a:prstGeom prst="roundRect">
            <a:avLst>
              <a:gd name="adj" fmla="val 4255"/>
            </a:avLst>
          </a:prstGeom>
          <a:solidFill>
            <a:srgbClr val="F2F5F9"/>
          </a:solidFill>
          <a:ln w="12700">
            <a:solidFill>
              <a:srgbClr val="333333"/>
            </a:solidFill>
            <a:prstDash val="solid"/>
          </a:ln>
        </p:spPr>
        <p:txBody>
          <a:bodyPr/>
          <a:lstStyle/>
          <a:p>
            <a:endParaRPr lang="en-US"/>
          </a:p>
        </p:txBody>
      </p:sp>
      <p:sp>
        <p:nvSpPr>
          <p:cNvPr id="10" name="Text 8"/>
          <p:cNvSpPr/>
          <p:nvPr/>
        </p:nvSpPr>
        <p:spPr>
          <a:xfrm>
            <a:off x="2834640" y="2194560"/>
            <a:ext cx="1261872" cy="320040"/>
          </a:xfrm>
          <a:prstGeom prst="rect">
            <a:avLst/>
          </a:prstGeom>
          <a:noFill/>
          <a:ln/>
        </p:spPr>
        <p:txBody>
          <a:bodyPr wrap="square" lIns="0" tIns="0" rIns="0" bIns="0" rtlCol="0" anchor="ctr"/>
          <a:lstStyle/>
          <a:p>
            <a:pPr marL="0" indent="0">
              <a:buNone/>
            </a:pPr>
            <a:r>
              <a:rPr lang="en-US" sz="1700" b="1" dirty="0">
                <a:solidFill>
                  <a:srgbClr val="00A896"/>
                </a:solidFill>
                <a:latin typeface="Cambria" pitchFamily="34" charset="0"/>
                <a:ea typeface="Cambria" pitchFamily="34" charset="-122"/>
                <a:cs typeface="Cambria" pitchFamily="34" charset="-120"/>
              </a:rPr>
              <a:t>02</a:t>
            </a:r>
            <a:endParaRPr lang="en-US" sz="1700" dirty="0"/>
          </a:p>
        </p:txBody>
      </p:sp>
      <p:sp>
        <p:nvSpPr>
          <p:cNvPr id="11" name="Text 9"/>
          <p:cNvSpPr/>
          <p:nvPr/>
        </p:nvSpPr>
        <p:spPr>
          <a:xfrm>
            <a:off x="2834640" y="2578608"/>
            <a:ext cx="1261872" cy="320040"/>
          </a:xfrm>
          <a:prstGeom prst="rect">
            <a:avLst/>
          </a:prstGeom>
          <a:noFill/>
          <a:ln/>
        </p:spPr>
        <p:txBody>
          <a:bodyPr wrap="square" lIns="0" tIns="0" rIns="0" bIns="0" rtlCol="0" anchor="ctr"/>
          <a:lstStyle/>
          <a:p>
            <a:pPr marL="0" indent="0">
              <a:buNone/>
            </a:pPr>
            <a:r>
              <a:rPr lang="en-US" sz="1650" b="1" dirty="0">
                <a:solidFill>
                  <a:srgbClr val="16202F"/>
                </a:solidFill>
                <a:latin typeface="Cambria" pitchFamily="34" charset="0"/>
                <a:ea typeface="Cambria" pitchFamily="34" charset="-122"/>
                <a:cs typeface="Cambria" pitchFamily="34" charset="-120"/>
              </a:rPr>
              <a:t>Preprocess</a:t>
            </a:r>
            <a:endParaRPr lang="en-US" sz="1650" dirty="0"/>
          </a:p>
        </p:txBody>
      </p:sp>
      <p:sp>
        <p:nvSpPr>
          <p:cNvPr id="12" name="Text 10"/>
          <p:cNvSpPr/>
          <p:nvPr/>
        </p:nvSpPr>
        <p:spPr>
          <a:xfrm>
            <a:off x="2834640" y="2962656"/>
            <a:ext cx="1261872" cy="868680"/>
          </a:xfrm>
          <a:prstGeom prst="rect">
            <a:avLst/>
          </a:prstGeom>
          <a:noFill/>
          <a:ln/>
        </p:spPr>
        <p:txBody>
          <a:bodyPr wrap="square" lIns="0" tIns="0" rIns="0" bIns="0" rtlCol="0" anchor="ctr"/>
          <a:lstStyle/>
          <a:p>
            <a:pPr marL="0" indent="0">
              <a:lnSpc>
                <a:spcPts val="1700"/>
              </a:lnSpc>
              <a:buNone/>
            </a:pPr>
            <a:r>
              <a:rPr lang="en-US" sz="1150" dirty="0">
                <a:solidFill>
                  <a:srgbClr val="5D6E85"/>
                </a:solidFill>
                <a:latin typeface="Calibri" pitchFamily="34" charset="0"/>
                <a:ea typeface="Calibri" pitchFamily="34" charset="-122"/>
                <a:cs typeface="Calibri" pitchFamily="34" charset="-120"/>
              </a:rPr>
              <a:t>Clean, align trading dates</a:t>
            </a:r>
            <a:endParaRPr lang="en-US" sz="1150" dirty="0"/>
          </a:p>
        </p:txBody>
      </p:sp>
      <p:sp>
        <p:nvSpPr>
          <p:cNvPr id="13" name="Text 11"/>
          <p:cNvSpPr/>
          <p:nvPr/>
        </p:nvSpPr>
        <p:spPr>
          <a:xfrm>
            <a:off x="4297680" y="2788920"/>
            <a:ext cx="173736" cy="365760"/>
          </a:xfrm>
          <a:prstGeom prst="rect">
            <a:avLst/>
          </a:prstGeom>
          <a:noFill/>
          <a:ln/>
        </p:spPr>
        <p:txBody>
          <a:bodyPr wrap="square" lIns="0" tIns="0" rIns="0" bIns="0" rtlCol="0" anchor="ctr"/>
          <a:lstStyle/>
          <a:p>
            <a:pPr marL="0" indent="0" algn="ctr">
              <a:buNone/>
            </a:pPr>
            <a:r>
              <a:rPr lang="en-US" sz="2000" b="1" dirty="0">
                <a:solidFill>
                  <a:srgbClr val="B4C0CE"/>
                </a:solidFill>
                <a:latin typeface="Calibri" pitchFamily="34" charset="0"/>
                <a:ea typeface="Calibri" pitchFamily="34" charset="-122"/>
                <a:cs typeface="Calibri" pitchFamily="34" charset="-120"/>
              </a:rPr>
              <a:t>›</a:t>
            </a:r>
            <a:endParaRPr lang="en-US" sz="2000" dirty="0"/>
          </a:p>
        </p:txBody>
      </p:sp>
      <p:sp>
        <p:nvSpPr>
          <p:cNvPr id="14" name="Shape 12"/>
          <p:cNvSpPr/>
          <p:nvPr/>
        </p:nvSpPr>
        <p:spPr>
          <a:xfrm>
            <a:off x="4471416" y="1965960"/>
            <a:ext cx="1719072" cy="2103120"/>
          </a:xfrm>
          <a:prstGeom prst="roundRect">
            <a:avLst>
              <a:gd name="adj" fmla="val 4255"/>
            </a:avLst>
          </a:prstGeom>
          <a:solidFill>
            <a:srgbClr val="F2F5F9"/>
          </a:solidFill>
          <a:ln w="12700">
            <a:solidFill>
              <a:srgbClr val="333333"/>
            </a:solidFill>
            <a:prstDash val="solid"/>
          </a:ln>
        </p:spPr>
        <p:txBody>
          <a:bodyPr/>
          <a:lstStyle/>
          <a:p>
            <a:endParaRPr lang="en-US"/>
          </a:p>
        </p:txBody>
      </p:sp>
      <p:sp>
        <p:nvSpPr>
          <p:cNvPr id="15" name="Text 13"/>
          <p:cNvSpPr/>
          <p:nvPr/>
        </p:nvSpPr>
        <p:spPr>
          <a:xfrm>
            <a:off x="4727448" y="2194560"/>
            <a:ext cx="1261872" cy="320040"/>
          </a:xfrm>
          <a:prstGeom prst="rect">
            <a:avLst/>
          </a:prstGeom>
          <a:noFill/>
          <a:ln/>
        </p:spPr>
        <p:txBody>
          <a:bodyPr wrap="square" lIns="0" tIns="0" rIns="0" bIns="0" rtlCol="0" anchor="ctr"/>
          <a:lstStyle/>
          <a:p>
            <a:pPr marL="0" indent="0">
              <a:buNone/>
            </a:pPr>
            <a:r>
              <a:rPr lang="en-US" sz="1700" b="1" dirty="0">
                <a:solidFill>
                  <a:srgbClr val="00A896"/>
                </a:solidFill>
                <a:latin typeface="Cambria" pitchFamily="34" charset="0"/>
                <a:ea typeface="Cambria" pitchFamily="34" charset="-122"/>
                <a:cs typeface="Cambria" pitchFamily="34" charset="-120"/>
              </a:rPr>
              <a:t>03</a:t>
            </a:r>
            <a:endParaRPr lang="en-US" sz="1700" dirty="0"/>
          </a:p>
        </p:txBody>
      </p:sp>
      <p:sp>
        <p:nvSpPr>
          <p:cNvPr id="16" name="Text 14"/>
          <p:cNvSpPr/>
          <p:nvPr/>
        </p:nvSpPr>
        <p:spPr>
          <a:xfrm>
            <a:off x="4727448" y="2578608"/>
            <a:ext cx="1261872" cy="320040"/>
          </a:xfrm>
          <a:prstGeom prst="rect">
            <a:avLst/>
          </a:prstGeom>
          <a:noFill/>
          <a:ln/>
        </p:spPr>
        <p:txBody>
          <a:bodyPr wrap="square" lIns="0" tIns="0" rIns="0" bIns="0" rtlCol="0" anchor="ctr"/>
          <a:lstStyle/>
          <a:p>
            <a:pPr marL="0" indent="0">
              <a:buNone/>
            </a:pPr>
            <a:r>
              <a:rPr lang="en-US" sz="1650" b="1" dirty="0">
                <a:solidFill>
                  <a:srgbClr val="16202F"/>
                </a:solidFill>
                <a:latin typeface="Cambria" pitchFamily="34" charset="0"/>
                <a:ea typeface="Cambria" pitchFamily="34" charset="-122"/>
                <a:cs typeface="Cambria" pitchFamily="34" charset="-120"/>
              </a:rPr>
              <a:t>Integrate</a:t>
            </a:r>
            <a:endParaRPr lang="en-US" sz="1650" dirty="0"/>
          </a:p>
        </p:txBody>
      </p:sp>
      <p:sp>
        <p:nvSpPr>
          <p:cNvPr id="17" name="Text 15"/>
          <p:cNvSpPr/>
          <p:nvPr/>
        </p:nvSpPr>
        <p:spPr>
          <a:xfrm>
            <a:off x="4727448" y="2962656"/>
            <a:ext cx="1261872" cy="868680"/>
          </a:xfrm>
          <a:prstGeom prst="rect">
            <a:avLst/>
          </a:prstGeom>
          <a:noFill/>
          <a:ln/>
        </p:spPr>
        <p:txBody>
          <a:bodyPr wrap="square" lIns="0" tIns="0" rIns="0" bIns="0" rtlCol="0" anchor="ctr"/>
          <a:lstStyle/>
          <a:p>
            <a:pPr marL="0" indent="0">
              <a:lnSpc>
                <a:spcPts val="1700"/>
              </a:lnSpc>
              <a:buNone/>
            </a:pPr>
            <a:r>
              <a:rPr lang="en-US" sz="1150" dirty="0">
                <a:solidFill>
                  <a:srgbClr val="5D6E85"/>
                </a:solidFill>
                <a:latin typeface="Calibri" pitchFamily="34" charset="0"/>
                <a:ea typeface="Calibri" pitchFamily="34" charset="-122"/>
                <a:cs typeface="Calibri" pitchFamily="34" charset="-120"/>
              </a:rPr>
              <a:t>One panel, 42k rows</a:t>
            </a:r>
            <a:endParaRPr lang="en-US" sz="1150" dirty="0"/>
          </a:p>
        </p:txBody>
      </p:sp>
      <p:sp>
        <p:nvSpPr>
          <p:cNvPr id="18" name="Text 16"/>
          <p:cNvSpPr/>
          <p:nvPr/>
        </p:nvSpPr>
        <p:spPr>
          <a:xfrm>
            <a:off x="6190488" y="2788920"/>
            <a:ext cx="173736" cy="365760"/>
          </a:xfrm>
          <a:prstGeom prst="rect">
            <a:avLst/>
          </a:prstGeom>
          <a:noFill/>
          <a:ln/>
        </p:spPr>
        <p:txBody>
          <a:bodyPr wrap="square" lIns="0" tIns="0" rIns="0" bIns="0" rtlCol="0" anchor="ctr"/>
          <a:lstStyle/>
          <a:p>
            <a:pPr marL="0" indent="0" algn="ctr">
              <a:buNone/>
            </a:pPr>
            <a:r>
              <a:rPr lang="en-US" sz="2000" b="1" dirty="0">
                <a:solidFill>
                  <a:srgbClr val="B4C0CE"/>
                </a:solidFill>
                <a:latin typeface="Calibri" pitchFamily="34" charset="0"/>
                <a:ea typeface="Calibri" pitchFamily="34" charset="-122"/>
                <a:cs typeface="Calibri" pitchFamily="34" charset="-120"/>
              </a:rPr>
              <a:t>›</a:t>
            </a:r>
            <a:endParaRPr lang="en-US" sz="2000" dirty="0"/>
          </a:p>
        </p:txBody>
      </p:sp>
      <p:sp>
        <p:nvSpPr>
          <p:cNvPr id="19" name="Shape 17"/>
          <p:cNvSpPr/>
          <p:nvPr/>
        </p:nvSpPr>
        <p:spPr>
          <a:xfrm>
            <a:off x="6364224" y="1965960"/>
            <a:ext cx="1719072" cy="2103120"/>
          </a:xfrm>
          <a:prstGeom prst="roundRect">
            <a:avLst>
              <a:gd name="adj" fmla="val 4255"/>
            </a:avLst>
          </a:prstGeom>
          <a:solidFill>
            <a:srgbClr val="F2F5F9"/>
          </a:solidFill>
          <a:ln w="12700">
            <a:solidFill>
              <a:srgbClr val="333333"/>
            </a:solidFill>
            <a:prstDash val="solid"/>
          </a:ln>
        </p:spPr>
        <p:txBody>
          <a:bodyPr/>
          <a:lstStyle/>
          <a:p>
            <a:endParaRPr lang="en-US"/>
          </a:p>
        </p:txBody>
      </p:sp>
      <p:sp>
        <p:nvSpPr>
          <p:cNvPr id="20" name="Text 18"/>
          <p:cNvSpPr/>
          <p:nvPr/>
        </p:nvSpPr>
        <p:spPr>
          <a:xfrm>
            <a:off x="6620256" y="2194560"/>
            <a:ext cx="1261872" cy="320040"/>
          </a:xfrm>
          <a:prstGeom prst="rect">
            <a:avLst/>
          </a:prstGeom>
          <a:noFill/>
          <a:ln/>
        </p:spPr>
        <p:txBody>
          <a:bodyPr wrap="square" lIns="0" tIns="0" rIns="0" bIns="0" rtlCol="0" anchor="ctr"/>
          <a:lstStyle/>
          <a:p>
            <a:pPr marL="0" indent="0">
              <a:buNone/>
            </a:pPr>
            <a:r>
              <a:rPr lang="en-US" sz="1700" b="1" dirty="0">
                <a:solidFill>
                  <a:srgbClr val="00A896"/>
                </a:solidFill>
                <a:latin typeface="Cambria" pitchFamily="34" charset="0"/>
                <a:ea typeface="Cambria" pitchFamily="34" charset="-122"/>
                <a:cs typeface="Cambria" pitchFamily="34" charset="-120"/>
              </a:rPr>
              <a:t>04</a:t>
            </a:r>
            <a:endParaRPr lang="en-US" sz="1700" dirty="0"/>
          </a:p>
        </p:txBody>
      </p:sp>
      <p:sp>
        <p:nvSpPr>
          <p:cNvPr id="21" name="Text 19"/>
          <p:cNvSpPr/>
          <p:nvPr/>
        </p:nvSpPr>
        <p:spPr>
          <a:xfrm>
            <a:off x="6620256" y="2578608"/>
            <a:ext cx="1261872" cy="320040"/>
          </a:xfrm>
          <a:prstGeom prst="rect">
            <a:avLst/>
          </a:prstGeom>
          <a:noFill/>
          <a:ln/>
        </p:spPr>
        <p:txBody>
          <a:bodyPr wrap="square" lIns="0" tIns="0" rIns="0" bIns="0" rtlCol="0" anchor="ctr"/>
          <a:lstStyle/>
          <a:p>
            <a:pPr marL="0" indent="0">
              <a:buNone/>
            </a:pPr>
            <a:r>
              <a:rPr lang="en-US" sz="1650" b="1" dirty="0">
                <a:solidFill>
                  <a:srgbClr val="16202F"/>
                </a:solidFill>
                <a:latin typeface="Cambria" pitchFamily="34" charset="0"/>
                <a:ea typeface="Cambria" pitchFamily="34" charset="-122"/>
                <a:cs typeface="Cambria" pitchFamily="34" charset="-120"/>
              </a:rPr>
              <a:t>Engineer</a:t>
            </a:r>
            <a:endParaRPr lang="en-US" sz="1650" dirty="0"/>
          </a:p>
        </p:txBody>
      </p:sp>
      <p:sp>
        <p:nvSpPr>
          <p:cNvPr id="22" name="Text 20"/>
          <p:cNvSpPr/>
          <p:nvPr/>
        </p:nvSpPr>
        <p:spPr>
          <a:xfrm>
            <a:off x="6620256" y="2962656"/>
            <a:ext cx="1261872" cy="868680"/>
          </a:xfrm>
          <a:prstGeom prst="rect">
            <a:avLst/>
          </a:prstGeom>
          <a:noFill/>
          <a:ln/>
        </p:spPr>
        <p:txBody>
          <a:bodyPr wrap="square" lIns="0" tIns="0" rIns="0" bIns="0" rtlCol="0" anchor="ctr"/>
          <a:lstStyle/>
          <a:p>
            <a:pPr marL="0" indent="0">
              <a:lnSpc>
                <a:spcPts val="1700"/>
              </a:lnSpc>
              <a:buNone/>
            </a:pPr>
            <a:r>
              <a:rPr lang="en-US" sz="1150" dirty="0">
                <a:solidFill>
                  <a:srgbClr val="5D6E85"/>
                </a:solidFill>
                <a:latin typeface="Calibri" pitchFamily="34" charset="0"/>
                <a:ea typeface="Calibri" pitchFamily="34" charset="-122"/>
                <a:cs typeface="Calibri" pitchFamily="34" charset="-120"/>
              </a:rPr>
              <a:t>22 features → select 17</a:t>
            </a:r>
            <a:endParaRPr lang="en-US" sz="1150" dirty="0"/>
          </a:p>
        </p:txBody>
      </p:sp>
      <p:sp>
        <p:nvSpPr>
          <p:cNvPr id="23" name="Text 21"/>
          <p:cNvSpPr/>
          <p:nvPr/>
        </p:nvSpPr>
        <p:spPr>
          <a:xfrm>
            <a:off x="8083296" y="2788920"/>
            <a:ext cx="173736" cy="365760"/>
          </a:xfrm>
          <a:prstGeom prst="rect">
            <a:avLst/>
          </a:prstGeom>
          <a:noFill/>
          <a:ln/>
        </p:spPr>
        <p:txBody>
          <a:bodyPr wrap="square" lIns="0" tIns="0" rIns="0" bIns="0" rtlCol="0" anchor="ctr"/>
          <a:lstStyle/>
          <a:p>
            <a:pPr marL="0" indent="0" algn="ctr">
              <a:buNone/>
            </a:pPr>
            <a:r>
              <a:rPr lang="en-US" sz="2000" b="1" dirty="0">
                <a:solidFill>
                  <a:srgbClr val="B4C0CE"/>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8257032" y="1965960"/>
            <a:ext cx="1719072" cy="2103120"/>
          </a:xfrm>
          <a:prstGeom prst="roundRect">
            <a:avLst>
              <a:gd name="adj" fmla="val 4255"/>
            </a:avLst>
          </a:prstGeom>
          <a:solidFill>
            <a:srgbClr val="0E1F3C"/>
          </a:solidFill>
          <a:ln w="12700">
            <a:solidFill>
              <a:srgbClr val="333333"/>
            </a:solidFill>
            <a:prstDash val="solid"/>
          </a:ln>
        </p:spPr>
        <p:txBody>
          <a:bodyPr/>
          <a:lstStyle/>
          <a:p>
            <a:endParaRPr lang="en-US"/>
          </a:p>
        </p:txBody>
      </p:sp>
      <p:sp>
        <p:nvSpPr>
          <p:cNvPr id="25" name="Text 23"/>
          <p:cNvSpPr/>
          <p:nvPr/>
        </p:nvSpPr>
        <p:spPr>
          <a:xfrm>
            <a:off x="8513064" y="2194560"/>
            <a:ext cx="1261872" cy="320040"/>
          </a:xfrm>
          <a:prstGeom prst="rect">
            <a:avLst/>
          </a:prstGeom>
          <a:noFill/>
          <a:ln/>
        </p:spPr>
        <p:txBody>
          <a:bodyPr wrap="square" lIns="0" tIns="0" rIns="0" bIns="0" rtlCol="0" anchor="ctr"/>
          <a:lstStyle/>
          <a:p>
            <a:pPr marL="0" indent="0">
              <a:buNone/>
            </a:pPr>
            <a:r>
              <a:rPr lang="en-US" sz="1700" b="1" dirty="0">
                <a:solidFill>
                  <a:srgbClr val="6FD3C4"/>
                </a:solidFill>
                <a:latin typeface="Cambria" pitchFamily="34" charset="0"/>
                <a:ea typeface="Cambria" pitchFamily="34" charset="-122"/>
                <a:cs typeface="Cambria" pitchFamily="34" charset="-120"/>
              </a:rPr>
              <a:t>05</a:t>
            </a:r>
            <a:endParaRPr lang="en-US" sz="1700" dirty="0"/>
          </a:p>
        </p:txBody>
      </p:sp>
      <p:sp>
        <p:nvSpPr>
          <p:cNvPr id="26" name="Text 24"/>
          <p:cNvSpPr/>
          <p:nvPr/>
        </p:nvSpPr>
        <p:spPr>
          <a:xfrm>
            <a:off x="8513064" y="2578608"/>
            <a:ext cx="1261872" cy="320040"/>
          </a:xfrm>
          <a:prstGeom prst="rect">
            <a:avLst/>
          </a:prstGeom>
          <a:noFill/>
          <a:ln/>
        </p:spPr>
        <p:txBody>
          <a:bodyPr wrap="square" lIns="0" tIns="0" rIns="0" bIns="0" rtlCol="0" anchor="ctr"/>
          <a:lstStyle/>
          <a:p>
            <a:pPr marL="0" indent="0">
              <a:buNone/>
            </a:pPr>
            <a:r>
              <a:rPr lang="en-US" sz="1650" b="1" dirty="0">
                <a:solidFill>
                  <a:srgbClr val="FFFFFF"/>
                </a:solidFill>
                <a:latin typeface="Cambria" pitchFamily="34" charset="0"/>
                <a:ea typeface="Cambria" pitchFamily="34" charset="-122"/>
                <a:cs typeface="Cambria" pitchFamily="34" charset="-120"/>
              </a:rPr>
              <a:t>Model</a:t>
            </a:r>
            <a:endParaRPr lang="en-US" sz="1650" dirty="0"/>
          </a:p>
        </p:txBody>
      </p:sp>
      <p:sp>
        <p:nvSpPr>
          <p:cNvPr id="27" name="Text 25"/>
          <p:cNvSpPr/>
          <p:nvPr/>
        </p:nvSpPr>
        <p:spPr>
          <a:xfrm>
            <a:off x="8513064" y="2962656"/>
            <a:ext cx="1261872" cy="868680"/>
          </a:xfrm>
          <a:prstGeom prst="rect">
            <a:avLst/>
          </a:prstGeom>
          <a:noFill/>
          <a:ln/>
        </p:spPr>
        <p:txBody>
          <a:bodyPr wrap="square" lIns="0" tIns="0" rIns="0" bIns="0" rtlCol="0" anchor="ctr"/>
          <a:lstStyle/>
          <a:p>
            <a:pPr marL="0" indent="0">
              <a:lnSpc>
                <a:spcPts val="1700"/>
              </a:lnSpc>
              <a:buNone/>
            </a:pPr>
            <a:r>
              <a:rPr lang="en-US" sz="1150" dirty="0">
                <a:solidFill>
                  <a:srgbClr val="AFC0D4"/>
                </a:solidFill>
                <a:latin typeface="Calibri" pitchFamily="34" charset="0"/>
                <a:ea typeface="Calibri" pitchFamily="34" charset="-122"/>
                <a:cs typeface="Calibri" pitchFamily="34" charset="-120"/>
              </a:rPr>
              <a:t>5 volatility models</a:t>
            </a:r>
            <a:endParaRPr lang="en-US" sz="1150" dirty="0"/>
          </a:p>
        </p:txBody>
      </p:sp>
      <p:sp>
        <p:nvSpPr>
          <p:cNvPr id="28" name="Text 26"/>
          <p:cNvSpPr/>
          <p:nvPr/>
        </p:nvSpPr>
        <p:spPr>
          <a:xfrm>
            <a:off x="9976104" y="2788920"/>
            <a:ext cx="173736" cy="365760"/>
          </a:xfrm>
          <a:prstGeom prst="rect">
            <a:avLst/>
          </a:prstGeom>
          <a:noFill/>
          <a:ln/>
        </p:spPr>
        <p:txBody>
          <a:bodyPr wrap="square" lIns="0" tIns="0" rIns="0" bIns="0" rtlCol="0" anchor="ctr"/>
          <a:lstStyle/>
          <a:p>
            <a:pPr marL="0" indent="0" algn="ctr">
              <a:buNone/>
            </a:pPr>
            <a:r>
              <a:rPr lang="en-US" sz="2000" b="1" dirty="0">
                <a:solidFill>
                  <a:srgbClr val="B4C0CE"/>
                </a:solidFill>
                <a:latin typeface="Calibri" pitchFamily="34" charset="0"/>
                <a:ea typeface="Calibri" pitchFamily="34" charset="-122"/>
                <a:cs typeface="Calibri" pitchFamily="34" charset="-120"/>
              </a:rPr>
              <a:t>›</a:t>
            </a:r>
            <a:endParaRPr lang="en-US" sz="2000" dirty="0"/>
          </a:p>
        </p:txBody>
      </p:sp>
      <p:sp>
        <p:nvSpPr>
          <p:cNvPr id="29" name="Shape 27"/>
          <p:cNvSpPr/>
          <p:nvPr/>
        </p:nvSpPr>
        <p:spPr>
          <a:xfrm>
            <a:off x="10149840" y="1965960"/>
            <a:ext cx="1719072" cy="2103120"/>
          </a:xfrm>
          <a:prstGeom prst="roundRect">
            <a:avLst>
              <a:gd name="adj" fmla="val 4255"/>
            </a:avLst>
          </a:prstGeom>
          <a:solidFill>
            <a:srgbClr val="0E1F3C"/>
          </a:solidFill>
          <a:ln w="12700">
            <a:solidFill>
              <a:srgbClr val="333333"/>
            </a:solidFill>
            <a:prstDash val="solid"/>
          </a:ln>
        </p:spPr>
        <p:txBody>
          <a:bodyPr/>
          <a:lstStyle/>
          <a:p>
            <a:endParaRPr lang="en-US"/>
          </a:p>
        </p:txBody>
      </p:sp>
      <p:sp>
        <p:nvSpPr>
          <p:cNvPr id="30" name="Text 28"/>
          <p:cNvSpPr/>
          <p:nvPr/>
        </p:nvSpPr>
        <p:spPr>
          <a:xfrm>
            <a:off x="10405872" y="2194560"/>
            <a:ext cx="1261872" cy="320040"/>
          </a:xfrm>
          <a:prstGeom prst="rect">
            <a:avLst/>
          </a:prstGeom>
          <a:noFill/>
          <a:ln/>
        </p:spPr>
        <p:txBody>
          <a:bodyPr wrap="square" lIns="0" tIns="0" rIns="0" bIns="0" rtlCol="0" anchor="ctr"/>
          <a:lstStyle/>
          <a:p>
            <a:pPr marL="0" indent="0">
              <a:buNone/>
            </a:pPr>
            <a:r>
              <a:rPr lang="en-US" sz="1700" b="1" dirty="0">
                <a:solidFill>
                  <a:srgbClr val="6FD3C4"/>
                </a:solidFill>
                <a:latin typeface="Cambria" pitchFamily="34" charset="0"/>
                <a:ea typeface="Cambria" pitchFamily="34" charset="-122"/>
                <a:cs typeface="Cambria" pitchFamily="34" charset="-120"/>
              </a:rPr>
              <a:t>06</a:t>
            </a:r>
            <a:endParaRPr lang="en-US" sz="1700" dirty="0"/>
          </a:p>
        </p:txBody>
      </p:sp>
      <p:sp>
        <p:nvSpPr>
          <p:cNvPr id="31" name="Text 29"/>
          <p:cNvSpPr/>
          <p:nvPr/>
        </p:nvSpPr>
        <p:spPr>
          <a:xfrm>
            <a:off x="10405872" y="2578608"/>
            <a:ext cx="1261872" cy="320040"/>
          </a:xfrm>
          <a:prstGeom prst="rect">
            <a:avLst/>
          </a:prstGeom>
          <a:noFill/>
          <a:ln/>
        </p:spPr>
        <p:txBody>
          <a:bodyPr wrap="square" lIns="0" tIns="0" rIns="0" bIns="0" rtlCol="0" anchor="ctr"/>
          <a:lstStyle/>
          <a:p>
            <a:pPr marL="0" indent="0">
              <a:buNone/>
            </a:pPr>
            <a:r>
              <a:rPr lang="en-US" sz="1650" b="1" dirty="0">
                <a:solidFill>
                  <a:srgbClr val="FFFFFF"/>
                </a:solidFill>
                <a:latin typeface="Cambria" pitchFamily="34" charset="0"/>
                <a:ea typeface="Cambria" pitchFamily="34" charset="-122"/>
                <a:cs typeface="Cambria" pitchFamily="34" charset="-120"/>
              </a:rPr>
              <a:t>Optimize</a:t>
            </a:r>
            <a:endParaRPr lang="en-US" sz="1650" dirty="0"/>
          </a:p>
        </p:txBody>
      </p:sp>
      <p:sp>
        <p:nvSpPr>
          <p:cNvPr id="32" name="Text 30"/>
          <p:cNvSpPr/>
          <p:nvPr/>
        </p:nvSpPr>
        <p:spPr>
          <a:xfrm>
            <a:off x="10405872" y="2962656"/>
            <a:ext cx="1261872" cy="868680"/>
          </a:xfrm>
          <a:prstGeom prst="rect">
            <a:avLst/>
          </a:prstGeom>
          <a:noFill/>
          <a:ln/>
        </p:spPr>
        <p:txBody>
          <a:bodyPr wrap="square" lIns="0" tIns="0" rIns="0" bIns="0" rtlCol="0" anchor="ctr"/>
          <a:lstStyle/>
          <a:p>
            <a:pPr marL="0" indent="0">
              <a:lnSpc>
                <a:spcPts val="1700"/>
              </a:lnSpc>
              <a:buNone/>
            </a:pPr>
            <a:r>
              <a:rPr lang="en-US" sz="1150" dirty="0">
                <a:solidFill>
                  <a:srgbClr val="AFC0D4"/>
                </a:solidFill>
                <a:latin typeface="Calibri" pitchFamily="34" charset="0"/>
                <a:ea typeface="Calibri" pitchFamily="34" charset="-122"/>
                <a:cs typeface="Calibri" pitchFamily="34" charset="-120"/>
              </a:rPr>
              <a:t>5 strategies + backtest</a:t>
            </a:r>
            <a:endParaRPr lang="en-US" sz="1150" dirty="0"/>
          </a:p>
        </p:txBody>
      </p:sp>
      <p:sp>
        <p:nvSpPr>
          <p:cNvPr id="33" name="Text 31"/>
          <p:cNvSpPr/>
          <p:nvPr/>
        </p:nvSpPr>
        <p:spPr>
          <a:xfrm>
            <a:off x="685800" y="4526280"/>
            <a:ext cx="10820095" cy="731520"/>
          </a:xfrm>
          <a:prstGeom prst="rect">
            <a:avLst/>
          </a:prstGeom>
          <a:noFill/>
          <a:ln/>
        </p:spPr>
        <p:txBody>
          <a:bodyPr wrap="square" lIns="0" tIns="0" rIns="0" bIns="0" rtlCol="0" anchor="ctr"/>
          <a:lstStyle/>
          <a:p>
            <a:pPr marL="0" indent="0">
              <a:lnSpc>
                <a:spcPts val="2200"/>
              </a:lnSpc>
              <a:buNone/>
            </a:pPr>
            <a:r>
              <a:rPr lang="en-US" sz="1400" dirty="0">
                <a:solidFill>
                  <a:srgbClr val="5D6E85"/>
                </a:solidFill>
                <a:latin typeface="Calibri" pitchFamily="34" charset="0"/>
                <a:ea typeface="Calibri" pitchFamily="34" charset="-122"/>
                <a:cs typeface="Calibri" pitchFamily="34" charset="-120"/>
              </a:rPr>
              <a:t>Every stage lives in a numbered, rerunnable Jupyter notebook — 20 notebooks total, each writing versioned CSVs into data/processed/ so the dashboard and the report always read the same numbers.</a:t>
            </a:r>
            <a:endParaRPr lang="en-US" sz="1400" dirty="0"/>
          </a:p>
        </p:txBody>
      </p:sp>
      <p:sp>
        <p:nvSpPr>
          <p:cNvPr id="34" name="Text 32"/>
          <p:cNvSpPr/>
          <p:nvPr/>
        </p:nvSpPr>
        <p:spPr>
          <a:xfrm>
            <a:off x="685800" y="6355080"/>
            <a:ext cx="5486400" cy="274320"/>
          </a:xfrm>
          <a:prstGeom prst="rect">
            <a:avLst/>
          </a:prstGeom>
          <a:noFill/>
          <a:ln/>
        </p:spPr>
        <p:txBody>
          <a:bodyPr wrap="square" lIns="0" tIns="0" rIns="0" bIns="0" rtlCol="0" anchor="ctr"/>
          <a:lstStyle/>
          <a:p>
            <a:pPr marL="0" indent="0">
              <a:buNone/>
            </a:pPr>
            <a:r>
              <a:rPr lang="en-US" sz="950" dirty="0">
                <a:solidFill>
                  <a:srgbClr val="9AA7B8"/>
                </a:solidFill>
                <a:latin typeface="Calibri" pitchFamily="34" charset="0"/>
                <a:ea typeface="Calibri" pitchFamily="34" charset="-122"/>
                <a:cs typeface="Calibri" pitchFamily="34" charset="-120"/>
              </a:rPr>
              <a:t>FinSight Analytics  ·  INFO 442 Group 2</a:t>
            </a:r>
            <a:endParaRPr lang="en-US" sz="950" dirty="0"/>
          </a:p>
        </p:txBody>
      </p:sp>
      <p:sp>
        <p:nvSpPr>
          <p:cNvPr id="35" name="Text 33"/>
          <p:cNvSpPr/>
          <p:nvPr/>
        </p:nvSpPr>
        <p:spPr>
          <a:xfrm>
            <a:off x="10591495" y="6355080"/>
            <a:ext cx="914400" cy="274320"/>
          </a:xfrm>
          <a:prstGeom prst="rect">
            <a:avLst/>
          </a:prstGeom>
          <a:noFill/>
          <a:ln/>
        </p:spPr>
        <p:txBody>
          <a:bodyPr wrap="square" lIns="0" tIns="0" rIns="0" bIns="0" rtlCol="0" anchor="ctr"/>
          <a:lstStyle/>
          <a:p>
            <a:pPr marL="0" indent="0" algn="r">
              <a:buNone/>
            </a:pPr>
            <a:r>
              <a:rPr lang="en-US" sz="950" dirty="0">
                <a:solidFill>
                  <a:srgbClr val="9AA7B8"/>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384048"/>
            <a:ext cx="8229600" cy="256032"/>
          </a:xfrm>
          <a:prstGeom prst="rect">
            <a:avLst/>
          </a:prstGeom>
          <a:noFill/>
          <a:ln/>
        </p:spPr>
        <p:txBody>
          <a:bodyPr wrap="square" lIns="0" tIns="0" rIns="0" bIns="0" rtlCol="0" anchor="ctr"/>
          <a:lstStyle/>
          <a:p>
            <a:pPr marL="0" indent="0">
              <a:buNone/>
            </a:pPr>
            <a:r>
              <a:rPr lang="en-US" sz="1200" b="1" kern="0" spc="200" dirty="0">
                <a:solidFill>
                  <a:srgbClr val="00A896"/>
                </a:solidFill>
                <a:latin typeface="Calibri" pitchFamily="34" charset="0"/>
                <a:ea typeface="Calibri" pitchFamily="34" charset="-122"/>
                <a:cs typeface="Calibri" pitchFamily="34" charset="-120"/>
              </a:rPr>
              <a:t>UNIVERSE</a:t>
            </a:r>
            <a:endParaRPr lang="en-US" sz="1200" dirty="0"/>
          </a:p>
        </p:txBody>
      </p:sp>
      <p:sp>
        <p:nvSpPr>
          <p:cNvPr id="3" name="Text 1"/>
          <p:cNvSpPr/>
          <p:nvPr/>
        </p:nvSpPr>
        <p:spPr>
          <a:xfrm>
            <a:off x="685800" y="658368"/>
            <a:ext cx="10820095" cy="640080"/>
          </a:xfrm>
          <a:prstGeom prst="rect">
            <a:avLst/>
          </a:prstGeom>
          <a:noFill/>
          <a:ln/>
        </p:spPr>
        <p:txBody>
          <a:bodyPr wrap="square" lIns="0" tIns="0" rIns="0" bIns="0" rtlCol="0" anchor="ctr"/>
          <a:lstStyle/>
          <a:p>
            <a:pPr marL="0" indent="0">
              <a:buNone/>
            </a:pPr>
            <a:r>
              <a:rPr lang="en-US" sz="3400" b="1" dirty="0">
                <a:solidFill>
                  <a:srgbClr val="16202F"/>
                </a:solidFill>
                <a:latin typeface="Cambria" pitchFamily="34" charset="0"/>
                <a:ea typeface="Cambria" pitchFamily="34" charset="-122"/>
                <a:cs typeface="Cambria" pitchFamily="34" charset="-120"/>
              </a:rPr>
              <a:t>A deliberately diversified 20-asset universe</a:t>
            </a:r>
            <a:endParaRPr lang="en-US" sz="3400" dirty="0"/>
          </a:p>
        </p:txBody>
      </p:sp>
      <p:sp>
        <p:nvSpPr>
          <p:cNvPr id="4" name="Shape 2"/>
          <p:cNvSpPr/>
          <p:nvPr/>
        </p:nvSpPr>
        <p:spPr>
          <a:xfrm>
            <a:off x="685800" y="1691640"/>
            <a:ext cx="5806440" cy="2880360"/>
          </a:xfrm>
          <a:prstGeom prst="roundRect">
            <a:avLst>
              <a:gd name="adj" fmla="val 2540"/>
            </a:avLst>
          </a:prstGeom>
          <a:solidFill>
            <a:srgbClr val="0E1F3C"/>
          </a:solidFill>
          <a:ln w="12700">
            <a:solidFill>
              <a:srgbClr val="333333"/>
            </a:solidFill>
            <a:prstDash val="solid"/>
          </a:ln>
        </p:spPr>
        <p:txBody>
          <a:bodyPr/>
          <a:lstStyle/>
          <a:p>
            <a:endParaRPr lang="en-US"/>
          </a:p>
        </p:txBody>
      </p:sp>
      <p:sp>
        <p:nvSpPr>
          <p:cNvPr id="5" name="Shape 3"/>
          <p:cNvSpPr/>
          <p:nvPr/>
        </p:nvSpPr>
        <p:spPr>
          <a:xfrm>
            <a:off x="1097280" y="2029968"/>
            <a:ext cx="201168" cy="201168"/>
          </a:xfrm>
          <a:prstGeom prst="ellipse">
            <a:avLst/>
          </a:prstGeom>
          <a:solidFill>
            <a:srgbClr val="00A896"/>
          </a:solidFill>
          <a:ln w="12700">
            <a:solidFill>
              <a:srgbClr val="333333"/>
            </a:solidFill>
            <a:prstDash val="solid"/>
          </a:ln>
        </p:spPr>
        <p:txBody>
          <a:bodyPr/>
          <a:lstStyle/>
          <a:p>
            <a:endParaRPr lang="en-US"/>
          </a:p>
        </p:txBody>
      </p:sp>
      <p:sp>
        <p:nvSpPr>
          <p:cNvPr id="6" name="Text 4"/>
          <p:cNvSpPr/>
          <p:nvPr/>
        </p:nvSpPr>
        <p:spPr>
          <a:xfrm>
            <a:off x="1417320" y="1956816"/>
            <a:ext cx="4754880" cy="347472"/>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14 individual equities</a:t>
            </a:r>
            <a:endParaRPr lang="en-US" sz="1900" dirty="0"/>
          </a:p>
        </p:txBody>
      </p:sp>
      <p:sp>
        <p:nvSpPr>
          <p:cNvPr id="7" name="Text 5"/>
          <p:cNvSpPr/>
          <p:nvPr/>
        </p:nvSpPr>
        <p:spPr>
          <a:xfrm>
            <a:off x="1097280" y="2514600"/>
            <a:ext cx="5120640" cy="822960"/>
          </a:xfrm>
          <a:prstGeom prst="rect">
            <a:avLst/>
          </a:prstGeom>
          <a:noFill/>
          <a:ln/>
        </p:spPr>
        <p:txBody>
          <a:bodyPr wrap="square" lIns="0" tIns="0" rIns="0" bIns="0" rtlCol="0" anchor="ctr"/>
          <a:lstStyle/>
          <a:p>
            <a:pPr marL="0" indent="0">
              <a:lnSpc>
                <a:spcPts val="2800"/>
              </a:lnSpc>
              <a:buNone/>
            </a:pPr>
            <a:r>
              <a:rPr lang="en-US" sz="1500" b="1" dirty="0">
                <a:solidFill>
                  <a:srgbClr val="6FD3C4"/>
                </a:solidFill>
                <a:latin typeface="Calibri" pitchFamily="34" charset="0"/>
                <a:ea typeface="Calibri" pitchFamily="34" charset="-122"/>
                <a:cs typeface="Calibri" pitchFamily="34" charset="-120"/>
              </a:rPr>
              <a:t>AAPL · MSFT · AMZN · JPM · V · LLY · UNH</a:t>
            </a:r>
            <a:endParaRPr lang="en-US" sz="1500" dirty="0"/>
          </a:p>
          <a:p>
            <a:pPr marL="0" indent="0">
              <a:lnSpc>
                <a:spcPts val="2800"/>
              </a:lnSpc>
              <a:buNone/>
            </a:pPr>
            <a:r>
              <a:rPr lang="en-US" sz="1500" b="1" dirty="0">
                <a:solidFill>
                  <a:srgbClr val="6FD3C4"/>
                </a:solidFill>
                <a:latin typeface="Calibri" pitchFamily="34" charset="0"/>
                <a:ea typeface="Calibri" pitchFamily="34" charset="-122"/>
                <a:cs typeface="Calibri" pitchFamily="34" charset="-120"/>
              </a:rPr>
              <a:t>PG · KO · VZ · CAT · LMT · XOM · NEE</a:t>
            </a:r>
            <a:endParaRPr lang="en-US" sz="1500" dirty="0"/>
          </a:p>
        </p:txBody>
      </p:sp>
      <p:sp>
        <p:nvSpPr>
          <p:cNvPr id="8" name="Text 6"/>
          <p:cNvSpPr/>
          <p:nvPr/>
        </p:nvSpPr>
        <p:spPr>
          <a:xfrm>
            <a:off x="1097280" y="3456432"/>
            <a:ext cx="5029200" cy="914400"/>
          </a:xfrm>
          <a:prstGeom prst="rect">
            <a:avLst/>
          </a:prstGeom>
          <a:noFill/>
          <a:ln/>
        </p:spPr>
        <p:txBody>
          <a:bodyPr wrap="square" lIns="0" tIns="0" rIns="0" bIns="0" rtlCol="0" anchor="ctr"/>
          <a:lstStyle/>
          <a:p>
            <a:pPr marL="0" indent="0">
              <a:lnSpc>
                <a:spcPts val="2000"/>
              </a:lnSpc>
              <a:buNone/>
            </a:pPr>
            <a:r>
              <a:rPr lang="en-US" sz="1300" dirty="0">
                <a:solidFill>
                  <a:srgbClr val="AFC0D4"/>
                </a:solidFill>
                <a:latin typeface="Calibri" pitchFamily="34" charset="0"/>
                <a:ea typeface="Calibri" pitchFamily="34" charset="-122"/>
                <a:cs typeface="Calibri" pitchFamily="34" charset="-120"/>
              </a:rPr>
              <a:t>Nine GICS sectors: information technology, health care, financials, consumer staples, consumer discretionary, industrials, energy, utilities, and communication services.</a:t>
            </a:r>
            <a:endParaRPr lang="en-US" sz="1300" dirty="0"/>
          </a:p>
        </p:txBody>
      </p:sp>
      <p:sp>
        <p:nvSpPr>
          <p:cNvPr id="9" name="Shape 7"/>
          <p:cNvSpPr/>
          <p:nvPr/>
        </p:nvSpPr>
        <p:spPr>
          <a:xfrm>
            <a:off x="6812280" y="1691640"/>
            <a:ext cx="4690872" cy="868680"/>
          </a:xfrm>
          <a:prstGeom prst="roundRect">
            <a:avLst>
              <a:gd name="adj" fmla="val 8421"/>
            </a:avLst>
          </a:prstGeom>
          <a:solidFill>
            <a:srgbClr val="F2F5F9"/>
          </a:solidFill>
          <a:ln w="12700">
            <a:solidFill>
              <a:srgbClr val="333333"/>
            </a:solidFill>
            <a:prstDash val="solid"/>
          </a:ln>
        </p:spPr>
        <p:txBody>
          <a:bodyPr/>
          <a:lstStyle/>
          <a:p>
            <a:endParaRPr lang="en-US"/>
          </a:p>
        </p:txBody>
      </p:sp>
      <p:sp>
        <p:nvSpPr>
          <p:cNvPr id="10" name="Shape 8"/>
          <p:cNvSpPr/>
          <p:nvPr/>
        </p:nvSpPr>
        <p:spPr>
          <a:xfrm>
            <a:off x="7132320" y="1911096"/>
            <a:ext cx="182880" cy="182880"/>
          </a:xfrm>
          <a:prstGeom prst="ellipse">
            <a:avLst/>
          </a:prstGeom>
          <a:solidFill>
            <a:srgbClr val="1B3358"/>
          </a:solidFill>
          <a:ln w="12700">
            <a:solidFill>
              <a:srgbClr val="333333"/>
            </a:solidFill>
            <a:prstDash val="solid"/>
          </a:ln>
        </p:spPr>
        <p:txBody>
          <a:bodyPr/>
          <a:lstStyle/>
          <a:p>
            <a:endParaRPr lang="en-US"/>
          </a:p>
        </p:txBody>
      </p:sp>
      <p:sp>
        <p:nvSpPr>
          <p:cNvPr id="11" name="Text 9"/>
          <p:cNvSpPr/>
          <p:nvPr/>
        </p:nvSpPr>
        <p:spPr>
          <a:xfrm>
            <a:off x="7406640" y="1837944"/>
            <a:ext cx="3840480" cy="292608"/>
          </a:xfrm>
          <a:prstGeom prst="rect">
            <a:avLst/>
          </a:prstGeom>
          <a:noFill/>
          <a:ln/>
        </p:spPr>
        <p:txBody>
          <a:bodyPr wrap="square" lIns="0" tIns="0" rIns="0" bIns="0" rtlCol="0" anchor="ctr"/>
          <a:lstStyle/>
          <a:p>
            <a:pPr marL="0" indent="0">
              <a:buNone/>
            </a:pPr>
            <a:r>
              <a:rPr lang="en-US" sz="1600" b="1" dirty="0">
                <a:solidFill>
                  <a:srgbClr val="16202F"/>
                </a:solidFill>
                <a:latin typeface="Cambria" pitchFamily="34" charset="0"/>
                <a:ea typeface="Cambria" pitchFamily="34" charset="-122"/>
                <a:cs typeface="Cambria" pitchFamily="34" charset="-120"/>
              </a:rPr>
              <a:t>Bonds</a:t>
            </a:r>
            <a:endParaRPr lang="en-US" sz="1600" dirty="0"/>
          </a:p>
        </p:txBody>
      </p:sp>
      <p:sp>
        <p:nvSpPr>
          <p:cNvPr id="12" name="Text 10"/>
          <p:cNvSpPr/>
          <p:nvPr/>
        </p:nvSpPr>
        <p:spPr>
          <a:xfrm>
            <a:off x="7406640" y="2167128"/>
            <a:ext cx="3840480" cy="274320"/>
          </a:xfrm>
          <a:prstGeom prst="rect">
            <a:avLst/>
          </a:prstGeom>
          <a:noFill/>
          <a:ln/>
        </p:spPr>
        <p:txBody>
          <a:bodyPr wrap="square" lIns="0" tIns="0" rIns="0" bIns="0" rtlCol="0" anchor="ctr"/>
          <a:lstStyle/>
          <a:p>
            <a:pPr marL="0" indent="0">
              <a:buNone/>
            </a:pPr>
            <a:r>
              <a:rPr lang="en-US" sz="1200" dirty="0">
                <a:solidFill>
                  <a:srgbClr val="5D6E85"/>
                </a:solidFill>
                <a:latin typeface="Calibri" pitchFamily="34" charset="0"/>
                <a:ea typeface="Calibri" pitchFamily="34" charset="-122"/>
                <a:cs typeface="Calibri" pitchFamily="34" charset="-120"/>
              </a:rPr>
              <a:t>AGG — aggregate bond  ·  TLT — 20+ yr Treasury</a:t>
            </a:r>
            <a:endParaRPr lang="en-US" sz="1200" dirty="0"/>
          </a:p>
        </p:txBody>
      </p:sp>
      <p:sp>
        <p:nvSpPr>
          <p:cNvPr id="13" name="Shape 11"/>
          <p:cNvSpPr/>
          <p:nvPr/>
        </p:nvSpPr>
        <p:spPr>
          <a:xfrm>
            <a:off x="6812280" y="2697480"/>
            <a:ext cx="4690872" cy="868680"/>
          </a:xfrm>
          <a:prstGeom prst="roundRect">
            <a:avLst>
              <a:gd name="adj" fmla="val 8421"/>
            </a:avLst>
          </a:prstGeom>
          <a:solidFill>
            <a:srgbClr val="F2F5F9"/>
          </a:solidFill>
          <a:ln w="12700">
            <a:solidFill>
              <a:srgbClr val="333333"/>
            </a:solidFill>
            <a:prstDash val="solid"/>
          </a:ln>
        </p:spPr>
        <p:txBody>
          <a:bodyPr/>
          <a:lstStyle/>
          <a:p>
            <a:endParaRPr lang="en-US"/>
          </a:p>
        </p:txBody>
      </p:sp>
      <p:sp>
        <p:nvSpPr>
          <p:cNvPr id="14" name="Shape 12"/>
          <p:cNvSpPr/>
          <p:nvPr/>
        </p:nvSpPr>
        <p:spPr>
          <a:xfrm>
            <a:off x="7132320" y="2916936"/>
            <a:ext cx="182880" cy="182880"/>
          </a:xfrm>
          <a:prstGeom prst="ellipse">
            <a:avLst/>
          </a:prstGeom>
          <a:solidFill>
            <a:srgbClr val="E8A33D"/>
          </a:solidFill>
          <a:ln w="12700">
            <a:solidFill>
              <a:srgbClr val="333333"/>
            </a:solidFill>
            <a:prstDash val="solid"/>
          </a:ln>
        </p:spPr>
        <p:txBody>
          <a:bodyPr/>
          <a:lstStyle/>
          <a:p>
            <a:endParaRPr lang="en-US"/>
          </a:p>
        </p:txBody>
      </p:sp>
      <p:sp>
        <p:nvSpPr>
          <p:cNvPr id="15" name="Text 13"/>
          <p:cNvSpPr/>
          <p:nvPr/>
        </p:nvSpPr>
        <p:spPr>
          <a:xfrm>
            <a:off x="7406640" y="2843784"/>
            <a:ext cx="3840480" cy="292608"/>
          </a:xfrm>
          <a:prstGeom prst="rect">
            <a:avLst/>
          </a:prstGeom>
          <a:noFill/>
          <a:ln/>
        </p:spPr>
        <p:txBody>
          <a:bodyPr wrap="square" lIns="0" tIns="0" rIns="0" bIns="0" rtlCol="0" anchor="ctr"/>
          <a:lstStyle/>
          <a:p>
            <a:pPr marL="0" indent="0">
              <a:buNone/>
            </a:pPr>
            <a:r>
              <a:rPr lang="en-US" sz="1600" b="1" dirty="0">
                <a:solidFill>
                  <a:srgbClr val="16202F"/>
                </a:solidFill>
                <a:latin typeface="Cambria" pitchFamily="34" charset="0"/>
                <a:ea typeface="Cambria" pitchFamily="34" charset="-122"/>
                <a:cs typeface="Cambria" pitchFamily="34" charset="-120"/>
              </a:rPr>
              <a:t>Diversifiers</a:t>
            </a:r>
            <a:endParaRPr lang="en-US" sz="1600" dirty="0"/>
          </a:p>
        </p:txBody>
      </p:sp>
      <p:sp>
        <p:nvSpPr>
          <p:cNvPr id="16" name="Text 14"/>
          <p:cNvSpPr/>
          <p:nvPr/>
        </p:nvSpPr>
        <p:spPr>
          <a:xfrm>
            <a:off x="7406640" y="3172968"/>
            <a:ext cx="3840480" cy="274320"/>
          </a:xfrm>
          <a:prstGeom prst="rect">
            <a:avLst/>
          </a:prstGeom>
          <a:noFill/>
          <a:ln/>
        </p:spPr>
        <p:txBody>
          <a:bodyPr wrap="square" lIns="0" tIns="0" rIns="0" bIns="0" rtlCol="0" anchor="ctr"/>
          <a:lstStyle/>
          <a:p>
            <a:pPr marL="0" indent="0">
              <a:buNone/>
            </a:pPr>
            <a:r>
              <a:rPr lang="en-US" sz="1200" dirty="0">
                <a:solidFill>
                  <a:srgbClr val="5D6E85"/>
                </a:solidFill>
                <a:latin typeface="Calibri" pitchFamily="34" charset="0"/>
                <a:ea typeface="Calibri" pitchFamily="34" charset="-122"/>
                <a:cs typeface="Calibri" pitchFamily="34" charset="-120"/>
              </a:rPr>
              <a:t>GLD — gold  ·  VNQ — REITs  ·  VXUS — int'l equity</a:t>
            </a:r>
            <a:endParaRPr lang="en-US" sz="1200" dirty="0"/>
          </a:p>
        </p:txBody>
      </p:sp>
      <p:sp>
        <p:nvSpPr>
          <p:cNvPr id="17" name="Shape 15"/>
          <p:cNvSpPr/>
          <p:nvPr/>
        </p:nvSpPr>
        <p:spPr>
          <a:xfrm>
            <a:off x="6812280" y="3703320"/>
            <a:ext cx="4690872" cy="868680"/>
          </a:xfrm>
          <a:prstGeom prst="roundRect">
            <a:avLst>
              <a:gd name="adj" fmla="val 8421"/>
            </a:avLst>
          </a:prstGeom>
          <a:solidFill>
            <a:srgbClr val="F2F5F9"/>
          </a:solidFill>
          <a:ln w="12700">
            <a:solidFill>
              <a:srgbClr val="333333"/>
            </a:solidFill>
            <a:prstDash val="solid"/>
          </a:ln>
        </p:spPr>
        <p:txBody>
          <a:bodyPr/>
          <a:lstStyle/>
          <a:p>
            <a:endParaRPr lang="en-US"/>
          </a:p>
        </p:txBody>
      </p:sp>
      <p:sp>
        <p:nvSpPr>
          <p:cNvPr id="18" name="Shape 16"/>
          <p:cNvSpPr/>
          <p:nvPr/>
        </p:nvSpPr>
        <p:spPr>
          <a:xfrm>
            <a:off x="7132320" y="3922776"/>
            <a:ext cx="182880" cy="182880"/>
          </a:xfrm>
          <a:prstGeom prst="ellipse">
            <a:avLst/>
          </a:prstGeom>
          <a:solidFill>
            <a:srgbClr val="00A896"/>
          </a:solidFill>
          <a:ln w="12700">
            <a:solidFill>
              <a:srgbClr val="333333"/>
            </a:solidFill>
            <a:prstDash val="solid"/>
          </a:ln>
        </p:spPr>
        <p:txBody>
          <a:bodyPr/>
          <a:lstStyle/>
          <a:p>
            <a:endParaRPr lang="en-US"/>
          </a:p>
        </p:txBody>
      </p:sp>
      <p:sp>
        <p:nvSpPr>
          <p:cNvPr id="19" name="Text 17"/>
          <p:cNvSpPr/>
          <p:nvPr/>
        </p:nvSpPr>
        <p:spPr>
          <a:xfrm>
            <a:off x="7406640" y="3849624"/>
            <a:ext cx="3840480" cy="292608"/>
          </a:xfrm>
          <a:prstGeom prst="rect">
            <a:avLst/>
          </a:prstGeom>
          <a:noFill/>
          <a:ln/>
        </p:spPr>
        <p:txBody>
          <a:bodyPr wrap="square" lIns="0" tIns="0" rIns="0" bIns="0" rtlCol="0" anchor="ctr"/>
          <a:lstStyle/>
          <a:p>
            <a:pPr marL="0" indent="0">
              <a:buNone/>
            </a:pPr>
            <a:r>
              <a:rPr lang="en-US" sz="1600" b="1" dirty="0">
                <a:solidFill>
                  <a:srgbClr val="16202F"/>
                </a:solidFill>
                <a:latin typeface="Cambria" pitchFamily="34" charset="0"/>
                <a:ea typeface="Cambria" pitchFamily="34" charset="-122"/>
                <a:cs typeface="Cambria" pitchFamily="34" charset="-120"/>
              </a:rPr>
              <a:t>Equity ETFs</a:t>
            </a:r>
            <a:endParaRPr lang="en-US" sz="1600" dirty="0"/>
          </a:p>
        </p:txBody>
      </p:sp>
      <p:sp>
        <p:nvSpPr>
          <p:cNvPr id="20" name="Text 18"/>
          <p:cNvSpPr/>
          <p:nvPr/>
        </p:nvSpPr>
        <p:spPr>
          <a:xfrm>
            <a:off x="7406640" y="4178808"/>
            <a:ext cx="3840480" cy="274320"/>
          </a:xfrm>
          <a:prstGeom prst="rect">
            <a:avLst/>
          </a:prstGeom>
          <a:noFill/>
          <a:ln/>
        </p:spPr>
        <p:txBody>
          <a:bodyPr wrap="square" lIns="0" tIns="0" rIns="0" bIns="0" rtlCol="0" anchor="ctr"/>
          <a:lstStyle/>
          <a:p>
            <a:pPr marL="0" indent="0">
              <a:buNone/>
            </a:pPr>
            <a:r>
              <a:rPr lang="en-US" sz="1200" dirty="0">
                <a:solidFill>
                  <a:srgbClr val="5D6E85"/>
                </a:solidFill>
                <a:latin typeface="Calibri" pitchFamily="34" charset="0"/>
                <a:ea typeface="Calibri" pitchFamily="34" charset="-122"/>
                <a:cs typeface="Calibri" pitchFamily="34" charset="-120"/>
              </a:rPr>
              <a:t>QQQ — Nasdaq growth  ·  SPY — benchmark</a:t>
            </a:r>
            <a:endParaRPr lang="en-US" sz="1200" dirty="0"/>
          </a:p>
        </p:txBody>
      </p:sp>
      <p:sp>
        <p:nvSpPr>
          <p:cNvPr id="21" name="Text 19"/>
          <p:cNvSpPr/>
          <p:nvPr/>
        </p:nvSpPr>
        <p:spPr>
          <a:xfrm>
            <a:off x="685800" y="4892040"/>
            <a:ext cx="1463040" cy="274320"/>
          </a:xfrm>
          <a:prstGeom prst="rect">
            <a:avLst/>
          </a:prstGeom>
          <a:noFill/>
          <a:ln/>
        </p:spPr>
        <p:txBody>
          <a:bodyPr wrap="square" lIns="0" tIns="0" rIns="0" bIns="0" rtlCol="0" anchor="ctr"/>
          <a:lstStyle/>
          <a:p>
            <a:pPr marL="0" indent="0">
              <a:buNone/>
            </a:pPr>
            <a:r>
              <a:rPr lang="en-US" sz="1400" b="1" dirty="0">
                <a:solidFill>
                  <a:srgbClr val="16202F"/>
                </a:solidFill>
                <a:latin typeface="Calibri" pitchFamily="34" charset="0"/>
                <a:ea typeface="Calibri" pitchFamily="34" charset="-122"/>
                <a:cs typeface="Calibri" pitchFamily="34" charset="-120"/>
              </a:rPr>
              <a:t>Why it matters:</a:t>
            </a:r>
            <a:endParaRPr lang="en-US" sz="1400" dirty="0"/>
          </a:p>
        </p:txBody>
      </p:sp>
      <p:sp>
        <p:nvSpPr>
          <p:cNvPr id="22" name="Text 20"/>
          <p:cNvSpPr/>
          <p:nvPr/>
        </p:nvSpPr>
        <p:spPr>
          <a:xfrm>
            <a:off x="2194560" y="4892040"/>
            <a:ext cx="9311335" cy="777240"/>
          </a:xfrm>
          <a:prstGeom prst="rect">
            <a:avLst/>
          </a:prstGeom>
          <a:noFill/>
          <a:ln/>
        </p:spPr>
        <p:txBody>
          <a:bodyPr wrap="square" lIns="0" tIns="0" rIns="0" bIns="0" rtlCol="0" anchor="ctr"/>
          <a:lstStyle/>
          <a:p>
            <a:pPr marL="0" indent="0">
              <a:lnSpc>
                <a:spcPts val="2100"/>
              </a:lnSpc>
              <a:buNone/>
            </a:pPr>
            <a:r>
              <a:rPr lang="en-US" sz="1400" dirty="0">
                <a:solidFill>
                  <a:srgbClr val="5D6E85"/>
                </a:solidFill>
                <a:latin typeface="Calibri" pitchFamily="34" charset="0"/>
                <a:ea typeface="Calibri" pitchFamily="34" charset="-122"/>
                <a:cs typeface="Calibri" pitchFamily="34" charset="-120"/>
              </a:rPr>
              <a:t>mixing equities with bonds, gold, real estate, and international exposure gives the optimizer genuinely low-correlation assets to work with — without that, minimum-volatility and equal-weight collapse to nearly the same portfolio.</a:t>
            </a:r>
            <a:endParaRPr lang="en-US" sz="1400" dirty="0"/>
          </a:p>
        </p:txBody>
      </p:sp>
      <p:sp>
        <p:nvSpPr>
          <p:cNvPr id="23" name="Text 21"/>
          <p:cNvSpPr/>
          <p:nvPr/>
        </p:nvSpPr>
        <p:spPr>
          <a:xfrm>
            <a:off x="685800" y="6355080"/>
            <a:ext cx="5486400" cy="274320"/>
          </a:xfrm>
          <a:prstGeom prst="rect">
            <a:avLst/>
          </a:prstGeom>
          <a:noFill/>
          <a:ln/>
        </p:spPr>
        <p:txBody>
          <a:bodyPr wrap="square" lIns="0" tIns="0" rIns="0" bIns="0" rtlCol="0" anchor="ctr"/>
          <a:lstStyle/>
          <a:p>
            <a:pPr marL="0" indent="0">
              <a:buNone/>
            </a:pPr>
            <a:r>
              <a:rPr lang="en-US" sz="950" dirty="0">
                <a:solidFill>
                  <a:srgbClr val="9AA7B8"/>
                </a:solidFill>
                <a:latin typeface="Calibri" pitchFamily="34" charset="0"/>
                <a:ea typeface="Calibri" pitchFamily="34" charset="-122"/>
                <a:cs typeface="Calibri" pitchFamily="34" charset="-120"/>
              </a:rPr>
              <a:t>FinSight Analytics  ·  INFO 442 Group 2</a:t>
            </a:r>
            <a:endParaRPr lang="en-US" sz="950" dirty="0"/>
          </a:p>
        </p:txBody>
      </p:sp>
      <p:sp>
        <p:nvSpPr>
          <p:cNvPr id="24" name="Text 22"/>
          <p:cNvSpPr/>
          <p:nvPr/>
        </p:nvSpPr>
        <p:spPr>
          <a:xfrm>
            <a:off x="10591495" y="6355080"/>
            <a:ext cx="914400" cy="274320"/>
          </a:xfrm>
          <a:prstGeom prst="rect">
            <a:avLst/>
          </a:prstGeom>
          <a:noFill/>
          <a:ln/>
        </p:spPr>
        <p:txBody>
          <a:bodyPr wrap="square" lIns="0" tIns="0" rIns="0" bIns="0" rtlCol="0" anchor="ctr"/>
          <a:lstStyle/>
          <a:p>
            <a:pPr marL="0" indent="0" algn="r">
              <a:buNone/>
            </a:pPr>
            <a:r>
              <a:rPr lang="en-US" sz="950" dirty="0">
                <a:solidFill>
                  <a:srgbClr val="9AA7B8"/>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384048"/>
            <a:ext cx="8229600" cy="256032"/>
          </a:xfrm>
          <a:prstGeom prst="rect">
            <a:avLst/>
          </a:prstGeom>
          <a:noFill/>
          <a:ln/>
        </p:spPr>
        <p:txBody>
          <a:bodyPr wrap="square" lIns="0" tIns="0" rIns="0" bIns="0" rtlCol="0" anchor="ctr"/>
          <a:lstStyle/>
          <a:p>
            <a:pPr marL="0" indent="0">
              <a:buNone/>
            </a:pPr>
            <a:r>
              <a:rPr lang="en-US" sz="1200" b="1" kern="0" spc="200" dirty="0">
                <a:solidFill>
                  <a:srgbClr val="00A896"/>
                </a:solidFill>
                <a:latin typeface="Calibri" pitchFamily="34" charset="0"/>
                <a:ea typeface="Calibri" pitchFamily="34" charset="-122"/>
                <a:cs typeface="Calibri" pitchFamily="34" charset="-120"/>
              </a:rPr>
              <a:t>FEATURES</a:t>
            </a:r>
            <a:endParaRPr lang="en-US" sz="1200" dirty="0"/>
          </a:p>
        </p:txBody>
      </p:sp>
      <p:sp>
        <p:nvSpPr>
          <p:cNvPr id="3" name="Text 1"/>
          <p:cNvSpPr/>
          <p:nvPr/>
        </p:nvSpPr>
        <p:spPr>
          <a:xfrm>
            <a:off x="685800" y="658368"/>
            <a:ext cx="10820095" cy="640080"/>
          </a:xfrm>
          <a:prstGeom prst="rect">
            <a:avLst/>
          </a:prstGeom>
          <a:noFill/>
          <a:ln/>
        </p:spPr>
        <p:txBody>
          <a:bodyPr wrap="square" lIns="0" tIns="0" rIns="0" bIns="0" rtlCol="0" anchor="ctr"/>
          <a:lstStyle/>
          <a:p>
            <a:pPr marL="0" indent="0">
              <a:buNone/>
            </a:pPr>
            <a:r>
              <a:rPr lang="en-US" sz="3400" b="1" dirty="0">
                <a:solidFill>
                  <a:srgbClr val="16202F"/>
                </a:solidFill>
                <a:latin typeface="Cambria" pitchFamily="34" charset="0"/>
                <a:ea typeface="Cambria" pitchFamily="34" charset="-122"/>
                <a:cs typeface="Cambria" pitchFamily="34" charset="-120"/>
              </a:rPr>
              <a:t>Feature selection: 22 candidates down to 17</a:t>
            </a:r>
            <a:endParaRPr lang="en-US" sz="3400" dirty="0"/>
          </a:p>
        </p:txBody>
      </p:sp>
      <p:sp>
        <p:nvSpPr>
          <p:cNvPr id="4" name="Text 2"/>
          <p:cNvSpPr/>
          <p:nvPr/>
        </p:nvSpPr>
        <p:spPr>
          <a:xfrm>
            <a:off x="685800" y="1572768"/>
            <a:ext cx="5486400" cy="868680"/>
          </a:xfrm>
          <a:prstGeom prst="rect">
            <a:avLst/>
          </a:prstGeom>
          <a:noFill/>
          <a:ln/>
        </p:spPr>
        <p:txBody>
          <a:bodyPr wrap="square" lIns="0" tIns="0" rIns="0" bIns="0" rtlCol="0" anchor="ctr"/>
          <a:lstStyle/>
          <a:p>
            <a:pPr marL="0" indent="0">
              <a:lnSpc>
                <a:spcPts val="2000"/>
              </a:lnSpc>
              <a:buNone/>
            </a:pPr>
            <a:r>
              <a:rPr lang="en-US" sz="1350" dirty="0">
                <a:solidFill>
                  <a:srgbClr val="5D6E85"/>
                </a:solidFill>
                <a:latin typeface="Calibri" pitchFamily="34" charset="0"/>
                <a:ea typeface="Calibri" pitchFamily="34" charset="-122"/>
                <a:cs typeface="Calibri" pitchFamily="34" charset="-120"/>
              </a:rPr>
              <a:t>Ranked by three independent signals — absolute target correlation, random-forest importance, and mutual information — then averaged. Redundant and raw-level columns were dropped.</a:t>
            </a:r>
            <a:endParaRPr lang="en-US" sz="1350" dirty="0"/>
          </a:p>
        </p:txBody>
      </p:sp>
      <p:sp>
        <p:nvSpPr>
          <p:cNvPr id="5" name="Text 3"/>
          <p:cNvSpPr/>
          <p:nvPr/>
        </p:nvSpPr>
        <p:spPr>
          <a:xfrm>
            <a:off x="685800" y="2514600"/>
            <a:ext cx="4572000" cy="256032"/>
          </a:xfrm>
          <a:prstGeom prst="rect">
            <a:avLst/>
          </a:prstGeom>
          <a:noFill/>
          <a:ln/>
        </p:spPr>
        <p:txBody>
          <a:bodyPr wrap="square" lIns="0" tIns="0" rIns="0" bIns="0" rtlCol="0" anchor="ctr"/>
          <a:lstStyle/>
          <a:p>
            <a:pPr marL="0" indent="0">
              <a:buNone/>
            </a:pPr>
            <a:r>
              <a:rPr lang="en-US" sz="1100" b="1" kern="0" spc="200" dirty="0">
                <a:solidFill>
                  <a:srgbClr val="00A896"/>
                </a:solidFill>
                <a:latin typeface="Calibri" pitchFamily="34" charset="0"/>
                <a:ea typeface="Calibri" pitchFamily="34" charset="-122"/>
                <a:cs typeface="Calibri" pitchFamily="34" charset="-120"/>
              </a:rPr>
              <a:t>KEPT — TOP SIGNALS</a:t>
            </a:r>
            <a:endParaRPr lang="en-US" sz="1100" dirty="0"/>
          </a:p>
        </p:txBody>
      </p:sp>
      <p:sp>
        <p:nvSpPr>
          <p:cNvPr id="6" name="Shape 4"/>
          <p:cNvSpPr/>
          <p:nvPr/>
        </p:nvSpPr>
        <p:spPr>
          <a:xfrm>
            <a:off x="685800" y="2935224"/>
            <a:ext cx="118872" cy="118872"/>
          </a:xfrm>
          <a:prstGeom prst="ellipse">
            <a:avLst/>
          </a:prstGeom>
          <a:solidFill>
            <a:srgbClr val="00A896"/>
          </a:solidFill>
          <a:ln w="12700">
            <a:solidFill>
              <a:srgbClr val="333333"/>
            </a:solidFill>
            <a:prstDash val="solid"/>
          </a:ln>
        </p:spPr>
        <p:txBody>
          <a:bodyPr/>
          <a:lstStyle/>
          <a:p>
            <a:endParaRPr lang="en-US"/>
          </a:p>
        </p:txBody>
      </p:sp>
      <p:sp>
        <p:nvSpPr>
          <p:cNvPr id="7" name="Text 5"/>
          <p:cNvSpPr/>
          <p:nvPr/>
        </p:nvSpPr>
        <p:spPr>
          <a:xfrm>
            <a:off x="941832" y="2852928"/>
            <a:ext cx="3108960" cy="274320"/>
          </a:xfrm>
          <a:prstGeom prst="rect">
            <a:avLst/>
          </a:prstGeom>
          <a:noFill/>
          <a:ln/>
        </p:spPr>
        <p:txBody>
          <a:bodyPr wrap="square" lIns="0" tIns="0" rIns="0" bIns="0" rtlCol="0" anchor="ctr"/>
          <a:lstStyle/>
          <a:p>
            <a:pPr marL="0" indent="0">
              <a:buNone/>
            </a:pPr>
            <a:r>
              <a:rPr lang="en-US" sz="1200" dirty="0">
                <a:solidFill>
                  <a:srgbClr val="16202F"/>
                </a:solidFill>
                <a:latin typeface="Courier New" pitchFamily="34" charset="0"/>
                <a:ea typeface="Courier New" pitchFamily="34" charset="-122"/>
                <a:cs typeface="Courier New" pitchFamily="34" charset="-120"/>
              </a:rPr>
              <a:t>rolling_abs_return_20d</a:t>
            </a:r>
            <a:endParaRPr lang="en-US" sz="1200" dirty="0"/>
          </a:p>
        </p:txBody>
      </p:sp>
      <p:sp>
        <p:nvSpPr>
          <p:cNvPr id="8" name="Shape 6"/>
          <p:cNvSpPr/>
          <p:nvPr/>
        </p:nvSpPr>
        <p:spPr>
          <a:xfrm>
            <a:off x="685800" y="3264408"/>
            <a:ext cx="118872" cy="118872"/>
          </a:xfrm>
          <a:prstGeom prst="ellipse">
            <a:avLst/>
          </a:prstGeom>
          <a:solidFill>
            <a:srgbClr val="00A896"/>
          </a:solidFill>
          <a:ln w="12700">
            <a:solidFill>
              <a:srgbClr val="333333"/>
            </a:solidFill>
            <a:prstDash val="solid"/>
          </a:ln>
        </p:spPr>
        <p:txBody>
          <a:bodyPr/>
          <a:lstStyle/>
          <a:p>
            <a:endParaRPr lang="en-US"/>
          </a:p>
        </p:txBody>
      </p:sp>
      <p:sp>
        <p:nvSpPr>
          <p:cNvPr id="9" name="Text 7"/>
          <p:cNvSpPr/>
          <p:nvPr/>
        </p:nvSpPr>
        <p:spPr>
          <a:xfrm>
            <a:off x="941832" y="3182112"/>
            <a:ext cx="3108960" cy="274320"/>
          </a:xfrm>
          <a:prstGeom prst="rect">
            <a:avLst/>
          </a:prstGeom>
          <a:noFill/>
          <a:ln/>
        </p:spPr>
        <p:txBody>
          <a:bodyPr wrap="square" lIns="0" tIns="0" rIns="0" bIns="0" rtlCol="0" anchor="ctr"/>
          <a:lstStyle/>
          <a:p>
            <a:pPr marL="0" indent="0">
              <a:buNone/>
            </a:pPr>
            <a:r>
              <a:rPr lang="en-US" sz="1200" dirty="0">
                <a:solidFill>
                  <a:srgbClr val="16202F"/>
                </a:solidFill>
                <a:latin typeface="Courier New" pitchFamily="34" charset="0"/>
                <a:ea typeface="Courier New" pitchFamily="34" charset="-122"/>
                <a:cs typeface="Courier New" pitchFamily="34" charset="-120"/>
              </a:rPr>
              <a:t>rolling_volatility_5d</a:t>
            </a:r>
            <a:endParaRPr lang="en-US" sz="1200" dirty="0"/>
          </a:p>
        </p:txBody>
      </p:sp>
      <p:sp>
        <p:nvSpPr>
          <p:cNvPr id="10" name="Shape 8"/>
          <p:cNvSpPr/>
          <p:nvPr/>
        </p:nvSpPr>
        <p:spPr>
          <a:xfrm>
            <a:off x="685800" y="3593592"/>
            <a:ext cx="118872" cy="118872"/>
          </a:xfrm>
          <a:prstGeom prst="ellipse">
            <a:avLst/>
          </a:prstGeom>
          <a:solidFill>
            <a:srgbClr val="00A896"/>
          </a:solidFill>
          <a:ln w="12700">
            <a:solidFill>
              <a:srgbClr val="333333"/>
            </a:solidFill>
            <a:prstDash val="solid"/>
          </a:ln>
        </p:spPr>
        <p:txBody>
          <a:bodyPr/>
          <a:lstStyle/>
          <a:p>
            <a:endParaRPr lang="en-US"/>
          </a:p>
        </p:txBody>
      </p:sp>
      <p:sp>
        <p:nvSpPr>
          <p:cNvPr id="11" name="Text 9"/>
          <p:cNvSpPr/>
          <p:nvPr/>
        </p:nvSpPr>
        <p:spPr>
          <a:xfrm>
            <a:off x="941832" y="3511296"/>
            <a:ext cx="3108960" cy="274320"/>
          </a:xfrm>
          <a:prstGeom prst="rect">
            <a:avLst/>
          </a:prstGeom>
          <a:noFill/>
          <a:ln/>
        </p:spPr>
        <p:txBody>
          <a:bodyPr wrap="square" lIns="0" tIns="0" rIns="0" bIns="0" rtlCol="0" anchor="ctr"/>
          <a:lstStyle/>
          <a:p>
            <a:pPr marL="0" indent="0">
              <a:buNone/>
            </a:pPr>
            <a:r>
              <a:rPr lang="en-US" sz="1200" dirty="0">
                <a:solidFill>
                  <a:srgbClr val="16202F"/>
                </a:solidFill>
                <a:latin typeface="Courier New" pitchFamily="34" charset="0"/>
                <a:ea typeface="Courier New" pitchFamily="34" charset="-122"/>
                <a:cs typeface="Courier New" pitchFamily="34" charset="-120"/>
              </a:rPr>
              <a:t>cpi_pct_change</a:t>
            </a:r>
            <a:endParaRPr lang="en-US" sz="1200" dirty="0"/>
          </a:p>
        </p:txBody>
      </p:sp>
      <p:sp>
        <p:nvSpPr>
          <p:cNvPr id="12" name="Shape 10"/>
          <p:cNvSpPr/>
          <p:nvPr/>
        </p:nvSpPr>
        <p:spPr>
          <a:xfrm>
            <a:off x="685800" y="3922776"/>
            <a:ext cx="118872" cy="118872"/>
          </a:xfrm>
          <a:prstGeom prst="ellipse">
            <a:avLst/>
          </a:prstGeom>
          <a:solidFill>
            <a:srgbClr val="00A896"/>
          </a:solidFill>
          <a:ln w="12700">
            <a:solidFill>
              <a:srgbClr val="333333"/>
            </a:solidFill>
            <a:prstDash val="solid"/>
          </a:ln>
        </p:spPr>
        <p:txBody>
          <a:bodyPr/>
          <a:lstStyle/>
          <a:p>
            <a:endParaRPr lang="en-US"/>
          </a:p>
        </p:txBody>
      </p:sp>
      <p:sp>
        <p:nvSpPr>
          <p:cNvPr id="13" name="Text 11"/>
          <p:cNvSpPr/>
          <p:nvPr/>
        </p:nvSpPr>
        <p:spPr>
          <a:xfrm>
            <a:off x="941832" y="3840480"/>
            <a:ext cx="3108960" cy="274320"/>
          </a:xfrm>
          <a:prstGeom prst="rect">
            <a:avLst/>
          </a:prstGeom>
          <a:noFill/>
          <a:ln/>
        </p:spPr>
        <p:txBody>
          <a:bodyPr wrap="square" lIns="0" tIns="0" rIns="0" bIns="0" rtlCol="0" anchor="ctr"/>
          <a:lstStyle/>
          <a:p>
            <a:pPr marL="0" indent="0">
              <a:buNone/>
            </a:pPr>
            <a:r>
              <a:rPr lang="en-US" sz="1200" dirty="0">
                <a:solidFill>
                  <a:srgbClr val="16202F"/>
                </a:solidFill>
                <a:latin typeface="Courier New" pitchFamily="34" charset="0"/>
                <a:ea typeface="Courier New" pitchFamily="34" charset="-122"/>
                <a:cs typeface="Courier New" pitchFamily="34" charset="-120"/>
              </a:rPr>
              <a:t>vix</a:t>
            </a:r>
            <a:endParaRPr lang="en-US" sz="1200" dirty="0"/>
          </a:p>
        </p:txBody>
      </p:sp>
      <p:sp>
        <p:nvSpPr>
          <p:cNvPr id="14" name="Shape 12"/>
          <p:cNvSpPr/>
          <p:nvPr/>
        </p:nvSpPr>
        <p:spPr>
          <a:xfrm>
            <a:off x="685800" y="4251960"/>
            <a:ext cx="118872" cy="118872"/>
          </a:xfrm>
          <a:prstGeom prst="ellipse">
            <a:avLst/>
          </a:prstGeom>
          <a:solidFill>
            <a:srgbClr val="00A896"/>
          </a:solidFill>
          <a:ln w="12700">
            <a:solidFill>
              <a:srgbClr val="333333"/>
            </a:solidFill>
            <a:prstDash val="solid"/>
          </a:ln>
        </p:spPr>
        <p:txBody>
          <a:bodyPr/>
          <a:lstStyle/>
          <a:p>
            <a:endParaRPr lang="en-US"/>
          </a:p>
        </p:txBody>
      </p:sp>
      <p:sp>
        <p:nvSpPr>
          <p:cNvPr id="15" name="Text 13"/>
          <p:cNvSpPr/>
          <p:nvPr/>
        </p:nvSpPr>
        <p:spPr>
          <a:xfrm>
            <a:off x="941832" y="4169664"/>
            <a:ext cx="3108960" cy="274320"/>
          </a:xfrm>
          <a:prstGeom prst="rect">
            <a:avLst/>
          </a:prstGeom>
          <a:noFill/>
          <a:ln/>
        </p:spPr>
        <p:txBody>
          <a:bodyPr wrap="square" lIns="0" tIns="0" rIns="0" bIns="0" rtlCol="0" anchor="ctr"/>
          <a:lstStyle/>
          <a:p>
            <a:pPr marL="0" indent="0">
              <a:buNone/>
            </a:pPr>
            <a:r>
              <a:rPr lang="en-US" sz="1200" dirty="0">
                <a:solidFill>
                  <a:srgbClr val="16202F"/>
                </a:solidFill>
                <a:latin typeface="Courier New" pitchFamily="34" charset="0"/>
                <a:ea typeface="Courier New" pitchFamily="34" charset="-122"/>
                <a:cs typeface="Courier New" pitchFamily="34" charset="-120"/>
              </a:rPr>
              <a:t>fed_funds_rate_pct</a:t>
            </a:r>
            <a:endParaRPr lang="en-US" sz="1200" dirty="0"/>
          </a:p>
        </p:txBody>
      </p:sp>
      <p:sp>
        <p:nvSpPr>
          <p:cNvPr id="16" name="Shape 14"/>
          <p:cNvSpPr/>
          <p:nvPr/>
        </p:nvSpPr>
        <p:spPr>
          <a:xfrm>
            <a:off x="685800" y="4581144"/>
            <a:ext cx="118872" cy="118872"/>
          </a:xfrm>
          <a:prstGeom prst="ellipse">
            <a:avLst/>
          </a:prstGeom>
          <a:solidFill>
            <a:srgbClr val="00A896"/>
          </a:solidFill>
          <a:ln w="12700">
            <a:solidFill>
              <a:srgbClr val="333333"/>
            </a:solidFill>
            <a:prstDash val="solid"/>
          </a:ln>
        </p:spPr>
        <p:txBody>
          <a:bodyPr/>
          <a:lstStyle/>
          <a:p>
            <a:endParaRPr lang="en-US"/>
          </a:p>
        </p:txBody>
      </p:sp>
      <p:sp>
        <p:nvSpPr>
          <p:cNvPr id="17" name="Text 15"/>
          <p:cNvSpPr/>
          <p:nvPr/>
        </p:nvSpPr>
        <p:spPr>
          <a:xfrm>
            <a:off x="941832" y="4498848"/>
            <a:ext cx="3108960" cy="274320"/>
          </a:xfrm>
          <a:prstGeom prst="rect">
            <a:avLst/>
          </a:prstGeom>
          <a:noFill/>
          <a:ln/>
        </p:spPr>
        <p:txBody>
          <a:bodyPr wrap="square" lIns="0" tIns="0" rIns="0" bIns="0" rtlCol="0" anchor="ctr"/>
          <a:lstStyle/>
          <a:p>
            <a:pPr marL="0" indent="0">
              <a:buNone/>
            </a:pPr>
            <a:r>
              <a:rPr lang="en-US" sz="1200" dirty="0">
                <a:solidFill>
                  <a:srgbClr val="16202F"/>
                </a:solidFill>
                <a:latin typeface="Courier New" pitchFamily="34" charset="0"/>
                <a:ea typeface="Courier New" pitchFamily="34" charset="-122"/>
                <a:cs typeface="Courier New" pitchFamily="34" charset="-120"/>
              </a:rPr>
              <a:t>yield_curve_spread</a:t>
            </a:r>
            <a:endParaRPr lang="en-US" sz="1200" dirty="0"/>
          </a:p>
        </p:txBody>
      </p:sp>
      <p:sp>
        <p:nvSpPr>
          <p:cNvPr id="18" name="Shape 16"/>
          <p:cNvSpPr/>
          <p:nvPr/>
        </p:nvSpPr>
        <p:spPr>
          <a:xfrm>
            <a:off x="685800" y="4910328"/>
            <a:ext cx="118872" cy="118872"/>
          </a:xfrm>
          <a:prstGeom prst="ellipse">
            <a:avLst/>
          </a:prstGeom>
          <a:solidFill>
            <a:srgbClr val="00A896"/>
          </a:solidFill>
          <a:ln w="12700">
            <a:solidFill>
              <a:srgbClr val="333333"/>
            </a:solidFill>
            <a:prstDash val="solid"/>
          </a:ln>
        </p:spPr>
        <p:txBody>
          <a:bodyPr/>
          <a:lstStyle/>
          <a:p>
            <a:endParaRPr lang="en-US"/>
          </a:p>
        </p:txBody>
      </p:sp>
      <p:sp>
        <p:nvSpPr>
          <p:cNvPr id="19" name="Text 17"/>
          <p:cNvSpPr/>
          <p:nvPr/>
        </p:nvSpPr>
        <p:spPr>
          <a:xfrm>
            <a:off x="941832" y="4828032"/>
            <a:ext cx="3108960" cy="274320"/>
          </a:xfrm>
          <a:prstGeom prst="rect">
            <a:avLst/>
          </a:prstGeom>
          <a:noFill/>
          <a:ln/>
        </p:spPr>
        <p:txBody>
          <a:bodyPr wrap="square" lIns="0" tIns="0" rIns="0" bIns="0" rtlCol="0" anchor="ctr"/>
          <a:lstStyle/>
          <a:p>
            <a:pPr marL="0" indent="0">
              <a:buNone/>
            </a:pPr>
            <a:r>
              <a:rPr lang="en-US" sz="1200" dirty="0">
                <a:solidFill>
                  <a:srgbClr val="16202F"/>
                </a:solidFill>
                <a:latin typeface="Courier New" pitchFamily="34" charset="0"/>
                <a:ea typeface="Courier New" pitchFamily="34" charset="-122"/>
                <a:cs typeface="Courier New" pitchFamily="34" charset="-120"/>
              </a:rPr>
              <a:t>recession_flag</a:t>
            </a:r>
            <a:endParaRPr lang="en-US" sz="1200" dirty="0"/>
          </a:p>
        </p:txBody>
      </p:sp>
      <p:sp>
        <p:nvSpPr>
          <p:cNvPr id="20" name="Text 18"/>
          <p:cNvSpPr/>
          <p:nvPr/>
        </p:nvSpPr>
        <p:spPr>
          <a:xfrm>
            <a:off x="4160520" y="2514600"/>
            <a:ext cx="3657600" cy="256032"/>
          </a:xfrm>
          <a:prstGeom prst="rect">
            <a:avLst/>
          </a:prstGeom>
          <a:noFill/>
          <a:ln/>
        </p:spPr>
        <p:txBody>
          <a:bodyPr wrap="square" lIns="0" tIns="0" rIns="0" bIns="0" rtlCol="0" anchor="ctr"/>
          <a:lstStyle/>
          <a:p>
            <a:pPr marL="0" indent="0">
              <a:buNone/>
            </a:pPr>
            <a:r>
              <a:rPr lang="en-US" sz="1100" b="1" kern="0" spc="200" dirty="0">
                <a:solidFill>
                  <a:srgbClr val="C4553B"/>
                </a:solidFill>
                <a:latin typeface="Calibri" pitchFamily="34" charset="0"/>
                <a:ea typeface="Calibri" pitchFamily="34" charset="-122"/>
                <a:cs typeface="Calibri" pitchFamily="34" charset="-120"/>
              </a:rPr>
              <a:t>DROPPED — REDUNDANT OR RAW-LEVEL</a:t>
            </a:r>
            <a:endParaRPr lang="en-US" sz="1100" dirty="0"/>
          </a:p>
        </p:txBody>
      </p:sp>
      <p:sp>
        <p:nvSpPr>
          <p:cNvPr id="21" name="Shape 19"/>
          <p:cNvSpPr/>
          <p:nvPr/>
        </p:nvSpPr>
        <p:spPr>
          <a:xfrm>
            <a:off x="4160520" y="2935224"/>
            <a:ext cx="118872" cy="118872"/>
          </a:xfrm>
          <a:prstGeom prst="ellipse">
            <a:avLst/>
          </a:prstGeom>
          <a:solidFill>
            <a:srgbClr val="C4553B"/>
          </a:solidFill>
          <a:ln w="12700">
            <a:solidFill>
              <a:srgbClr val="333333"/>
            </a:solidFill>
            <a:prstDash val="solid"/>
          </a:ln>
        </p:spPr>
        <p:txBody>
          <a:bodyPr/>
          <a:lstStyle/>
          <a:p>
            <a:endParaRPr lang="en-US"/>
          </a:p>
        </p:txBody>
      </p:sp>
      <p:sp>
        <p:nvSpPr>
          <p:cNvPr id="22" name="Text 20"/>
          <p:cNvSpPr/>
          <p:nvPr/>
        </p:nvSpPr>
        <p:spPr>
          <a:xfrm>
            <a:off x="4416552" y="2852928"/>
            <a:ext cx="3108960" cy="274320"/>
          </a:xfrm>
          <a:prstGeom prst="rect">
            <a:avLst/>
          </a:prstGeom>
          <a:noFill/>
          <a:ln/>
        </p:spPr>
        <p:txBody>
          <a:bodyPr wrap="square" lIns="0" tIns="0" rIns="0" bIns="0" rtlCol="0" anchor="ctr"/>
          <a:lstStyle/>
          <a:p>
            <a:pPr marL="0" indent="0">
              <a:buNone/>
            </a:pPr>
            <a:r>
              <a:rPr lang="en-US" sz="1200" dirty="0">
                <a:solidFill>
                  <a:srgbClr val="5D6E85"/>
                </a:solidFill>
                <a:latin typeface="Courier New" pitchFamily="34" charset="0"/>
                <a:ea typeface="Courier New" pitchFamily="34" charset="-122"/>
                <a:cs typeface="Courier New" pitchFamily="34" charset="-120"/>
              </a:rPr>
              <a:t>rolling_volatility_20d</a:t>
            </a:r>
            <a:endParaRPr lang="en-US" sz="1200" dirty="0"/>
          </a:p>
        </p:txBody>
      </p:sp>
      <p:sp>
        <p:nvSpPr>
          <p:cNvPr id="23" name="Shape 21"/>
          <p:cNvSpPr/>
          <p:nvPr/>
        </p:nvSpPr>
        <p:spPr>
          <a:xfrm>
            <a:off x="4160520" y="3264408"/>
            <a:ext cx="118872" cy="118872"/>
          </a:xfrm>
          <a:prstGeom prst="ellipse">
            <a:avLst/>
          </a:prstGeom>
          <a:solidFill>
            <a:srgbClr val="C4553B"/>
          </a:solidFill>
          <a:ln w="12700">
            <a:solidFill>
              <a:srgbClr val="333333"/>
            </a:solidFill>
            <a:prstDash val="solid"/>
          </a:ln>
        </p:spPr>
        <p:txBody>
          <a:bodyPr/>
          <a:lstStyle/>
          <a:p>
            <a:endParaRPr lang="en-US"/>
          </a:p>
        </p:txBody>
      </p:sp>
      <p:sp>
        <p:nvSpPr>
          <p:cNvPr id="24" name="Text 22"/>
          <p:cNvSpPr/>
          <p:nvPr/>
        </p:nvSpPr>
        <p:spPr>
          <a:xfrm>
            <a:off x="4416552" y="3182112"/>
            <a:ext cx="3108960" cy="274320"/>
          </a:xfrm>
          <a:prstGeom prst="rect">
            <a:avLst/>
          </a:prstGeom>
          <a:noFill/>
          <a:ln/>
        </p:spPr>
        <p:txBody>
          <a:bodyPr wrap="square" lIns="0" tIns="0" rIns="0" bIns="0" rtlCol="0" anchor="ctr"/>
          <a:lstStyle/>
          <a:p>
            <a:pPr marL="0" indent="0">
              <a:buNone/>
            </a:pPr>
            <a:r>
              <a:rPr lang="en-US" sz="1200" dirty="0">
                <a:solidFill>
                  <a:srgbClr val="5D6E85"/>
                </a:solidFill>
                <a:latin typeface="Courier New" pitchFamily="34" charset="0"/>
                <a:ea typeface="Courier New" pitchFamily="34" charset="-122"/>
                <a:cs typeface="Courier New" pitchFamily="34" charset="-120"/>
              </a:rPr>
              <a:t>rolling_squared_return_20d</a:t>
            </a:r>
            <a:endParaRPr lang="en-US" sz="1200" dirty="0"/>
          </a:p>
        </p:txBody>
      </p:sp>
      <p:sp>
        <p:nvSpPr>
          <p:cNvPr id="25" name="Shape 23"/>
          <p:cNvSpPr/>
          <p:nvPr/>
        </p:nvSpPr>
        <p:spPr>
          <a:xfrm>
            <a:off x="4160520" y="3593592"/>
            <a:ext cx="118872" cy="118872"/>
          </a:xfrm>
          <a:prstGeom prst="ellipse">
            <a:avLst/>
          </a:prstGeom>
          <a:solidFill>
            <a:srgbClr val="C4553B"/>
          </a:solidFill>
          <a:ln w="12700">
            <a:solidFill>
              <a:srgbClr val="333333"/>
            </a:solidFill>
            <a:prstDash val="solid"/>
          </a:ln>
        </p:spPr>
        <p:txBody>
          <a:bodyPr/>
          <a:lstStyle/>
          <a:p>
            <a:endParaRPr lang="en-US"/>
          </a:p>
        </p:txBody>
      </p:sp>
      <p:sp>
        <p:nvSpPr>
          <p:cNvPr id="26" name="Text 24"/>
          <p:cNvSpPr/>
          <p:nvPr/>
        </p:nvSpPr>
        <p:spPr>
          <a:xfrm>
            <a:off x="4416552" y="3511296"/>
            <a:ext cx="3108960" cy="274320"/>
          </a:xfrm>
          <a:prstGeom prst="rect">
            <a:avLst/>
          </a:prstGeom>
          <a:noFill/>
          <a:ln/>
        </p:spPr>
        <p:txBody>
          <a:bodyPr wrap="square" lIns="0" tIns="0" rIns="0" bIns="0" rtlCol="0" anchor="ctr"/>
          <a:lstStyle/>
          <a:p>
            <a:pPr marL="0" indent="0">
              <a:buNone/>
            </a:pPr>
            <a:r>
              <a:rPr lang="en-US" sz="1200" dirty="0">
                <a:solidFill>
                  <a:srgbClr val="5D6E85"/>
                </a:solidFill>
                <a:latin typeface="Courier New" pitchFamily="34" charset="0"/>
                <a:ea typeface="Courier New" pitchFamily="34" charset="-122"/>
                <a:cs typeface="Courier New" pitchFamily="34" charset="-120"/>
              </a:rPr>
              <a:t>risk_free_rate_decimal</a:t>
            </a:r>
            <a:endParaRPr lang="en-US" sz="1200" dirty="0"/>
          </a:p>
        </p:txBody>
      </p:sp>
      <p:sp>
        <p:nvSpPr>
          <p:cNvPr id="27" name="Shape 25"/>
          <p:cNvSpPr/>
          <p:nvPr/>
        </p:nvSpPr>
        <p:spPr>
          <a:xfrm>
            <a:off x="4160520" y="3922776"/>
            <a:ext cx="118872" cy="118872"/>
          </a:xfrm>
          <a:prstGeom prst="ellipse">
            <a:avLst/>
          </a:prstGeom>
          <a:solidFill>
            <a:srgbClr val="C4553B"/>
          </a:solidFill>
          <a:ln w="12700">
            <a:solidFill>
              <a:srgbClr val="333333"/>
            </a:solidFill>
            <a:prstDash val="solid"/>
          </a:ln>
        </p:spPr>
        <p:txBody>
          <a:bodyPr/>
          <a:lstStyle/>
          <a:p>
            <a:endParaRPr lang="en-US"/>
          </a:p>
        </p:txBody>
      </p:sp>
      <p:sp>
        <p:nvSpPr>
          <p:cNvPr id="28" name="Text 26"/>
          <p:cNvSpPr/>
          <p:nvPr/>
        </p:nvSpPr>
        <p:spPr>
          <a:xfrm>
            <a:off x="4416552" y="3840480"/>
            <a:ext cx="3108960" cy="274320"/>
          </a:xfrm>
          <a:prstGeom prst="rect">
            <a:avLst/>
          </a:prstGeom>
          <a:noFill/>
          <a:ln/>
        </p:spPr>
        <p:txBody>
          <a:bodyPr wrap="square" lIns="0" tIns="0" rIns="0" bIns="0" rtlCol="0" anchor="ctr"/>
          <a:lstStyle/>
          <a:p>
            <a:pPr marL="0" indent="0">
              <a:buNone/>
            </a:pPr>
            <a:r>
              <a:rPr lang="en-US" sz="1200" dirty="0">
                <a:solidFill>
                  <a:srgbClr val="5D6E85"/>
                </a:solidFill>
                <a:latin typeface="Courier New" pitchFamily="34" charset="0"/>
                <a:ea typeface="Courier New" pitchFamily="34" charset="-122"/>
                <a:cs typeface="Courier New" pitchFamily="34" charset="-120"/>
              </a:rPr>
              <a:t>moving_avg_20d</a:t>
            </a:r>
            <a:endParaRPr lang="en-US" sz="1200" dirty="0"/>
          </a:p>
        </p:txBody>
      </p:sp>
      <p:sp>
        <p:nvSpPr>
          <p:cNvPr id="29" name="Shape 27"/>
          <p:cNvSpPr/>
          <p:nvPr/>
        </p:nvSpPr>
        <p:spPr>
          <a:xfrm>
            <a:off x="4160520" y="4251960"/>
            <a:ext cx="118872" cy="118872"/>
          </a:xfrm>
          <a:prstGeom prst="ellipse">
            <a:avLst/>
          </a:prstGeom>
          <a:solidFill>
            <a:srgbClr val="C4553B"/>
          </a:solidFill>
          <a:ln w="12700">
            <a:solidFill>
              <a:srgbClr val="333333"/>
            </a:solidFill>
            <a:prstDash val="solid"/>
          </a:ln>
        </p:spPr>
        <p:txBody>
          <a:bodyPr/>
          <a:lstStyle/>
          <a:p>
            <a:endParaRPr lang="en-US"/>
          </a:p>
        </p:txBody>
      </p:sp>
      <p:sp>
        <p:nvSpPr>
          <p:cNvPr id="30" name="Text 28"/>
          <p:cNvSpPr/>
          <p:nvPr/>
        </p:nvSpPr>
        <p:spPr>
          <a:xfrm>
            <a:off x="4416552" y="4169664"/>
            <a:ext cx="3108960" cy="274320"/>
          </a:xfrm>
          <a:prstGeom prst="rect">
            <a:avLst/>
          </a:prstGeom>
          <a:noFill/>
          <a:ln/>
        </p:spPr>
        <p:txBody>
          <a:bodyPr wrap="square" lIns="0" tIns="0" rIns="0" bIns="0" rtlCol="0" anchor="ctr"/>
          <a:lstStyle/>
          <a:p>
            <a:pPr marL="0" indent="0">
              <a:buNone/>
            </a:pPr>
            <a:r>
              <a:rPr lang="en-US" sz="1200" dirty="0">
                <a:solidFill>
                  <a:srgbClr val="5D6E85"/>
                </a:solidFill>
                <a:latin typeface="Courier New" pitchFamily="34" charset="0"/>
                <a:ea typeface="Courier New" pitchFamily="34" charset="-122"/>
                <a:cs typeface="Courier New" pitchFamily="34" charset="-120"/>
              </a:rPr>
              <a:t>cpi_index</a:t>
            </a:r>
            <a:endParaRPr lang="en-US" sz="1200" dirty="0"/>
          </a:p>
        </p:txBody>
      </p:sp>
      <p:sp>
        <p:nvSpPr>
          <p:cNvPr id="31" name="Text 29"/>
          <p:cNvSpPr/>
          <p:nvPr/>
        </p:nvSpPr>
        <p:spPr>
          <a:xfrm>
            <a:off x="685800" y="5230368"/>
            <a:ext cx="6858000" cy="777240"/>
          </a:xfrm>
          <a:prstGeom prst="rect">
            <a:avLst/>
          </a:prstGeom>
          <a:noFill/>
          <a:ln/>
        </p:spPr>
        <p:txBody>
          <a:bodyPr wrap="square" lIns="0" tIns="0" rIns="0" bIns="0" rtlCol="0" anchor="ctr"/>
          <a:lstStyle/>
          <a:p>
            <a:pPr marL="0" indent="0">
              <a:lnSpc>
                <a:spcPts val="1900"/>
              </a:lnSpc>
              <a:buNone/>
            </a:pPr>
            <a:r>
              <a:rPr lang="en-US" sz="1250" i="1" dirty="0">
                <a:solidFill>
                  <a:srgbClr val="16202F"/>
                </a:solidFill>
                <a:latin typeface="Calibri" pitchFamily="34" charset="0"/>
                <a:ea typeface="Calibri" pitchFamily="34" charset="-122"/>
                <a:cs typeface="Calibri" pitchFamily="34" charset="-120"/>
              </a:rPr>
              <a:t>selected_features.csv is the single source of truth for Linear, Ridge, and Gradient Boosting. Random Forest adds 18 one-hot sector and asset-type columns on top — 35 features in total.</a:t>
            </a:r>
            <a:endParaRPr lang="en-US" sz="1250" dirty="0"/>
          </a:p>
        </p:txBody>
      </p:sp>
      <p:graphicFrame>
        <p:nvGraphicFramePr>
          <p:cNvPr id="32" name="Chart 0"/>
          <p:cNvGraphicFramePr/>
          <p:nvPr/>
        </p:nvGraphicFramePr>
        <p:xfrm>
          <a:off x="7635240" y="1600200"/>
          <a:ext cx="393192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33" name="Text 30"/>
          <p:cNvSpPr/>
          <p:nvPr/>
        </p:nvSpPr>
        <p:spPr>
          <a:xfrm>
            <a:off x="685800" y="6355080"/>
            <a:ext cx="5486400" cy="274320"/>
          </a:xfrm>
          <a:prstGeom prst="rect">
            <a:avLst/>
          </a:prstGeom>
          <a:noFill/>
          <a:ln/>
        </p:spPr>
        <p:txBody>
          <a:bodyPr wrap="square" lIns="0" tIns="0" rIns="0" bIns="0" rtlCol="0" anchor="ctr"/>
          <a:lstStyle/>
          <a:p>
            <a:pPr marL="0" indent="0">
              <a:buNone/>
            </a:pPr>
            <a:r>
              <a:rPr lang="en-US" sz="950" dirty="0">
                <a:solidFill>
                  <a:srgbClr val="9AA7B8"/>
                </a:solidFill>
                <a:latin typeface="Calibri" pitchFamily="34" charset="0"/>
                <a:ea typeface="Calibri" pitchFamily="34" charset="-122"/>
                <a:cs typeface="Calibri" pitchFamily="34" charset="-120"/>
              </a:rPr>
              <a:t>FinSight Analytics  ·  INFO 442 Group 2</a:t>
            </a:r>
            <a:endParaRPr lang="en-US" sz="950" dirty="0"/>
          </a:p>
        </p:txBody>
      </p:sp>
      <p:sp>
        <p:nvSpPr>
          <p:cNvPr id="34" name="Text 31"/>
          <p:cNvSpPr/>
          <p:nvPr/>
        </p:nvSpPr>
        <p:spPr>
          <a:xfrm>
            <a:off x="10591495" y="6355080"/>
            <a:ext cx="914400" cy="274320"/>
          </a:xfrm>
          <a:prstGeom prst="rect">
            <a:avLst/>
          </a:prstGeom>
          <a:noFill/>
          <a:ln/>
        </p:spPr>
        <p:txBody>
          <a:bodyPr wrap="square" lIns="0" tIns="0" rIns="0" bIns="0" rtlCol="0" anchor="ctr"/>
          <a:lstStyle/>
          <a:p>
            <a:pPr marL="0" indent="0" algn="r">
              <a:buNone/>
            </a:pPr>
            <a:r>
              <a:rPr lang="en-US" sz="950" dirty="0">
                <a:solidFill>
                  <a:srgbClr val="9AA7B8"/>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384048"/>
            <a:ext cx="8229600" cy="256032"/>
          </a:xfrm>
          <a:prstGeom prst="rect">
            <a:avLst/>
          </a:prstGeom>
          <a:noFill/>
          <a:ln/>
        </p:spPr>
        <p:txBody>
          <a:bodyPr wrap="square" lIns="0" tIns="0" rIns="0" bIns="0" rtlCol="0" anchor="ctr"/>
          <a:lstStyle/>
          <a:p>
            <a:pPr marL="0" indent="0">
              <a:buNone/>
            </a:pPr>
            <a:r>
              <a:rPr lang="en-US" sz="1200" b="1" kern="0" spc="200" dirty="0">
                <a:solidFill>
                  <a:srgbClr val="00A896"/>
                </a:solidFill>
                <a:latin typeface="Calibri" pitchFamily="34" charset="0"/>
                <a:ea typeface="Calibri" pitchFamily="34" charset="-122"/>
                <a:cs typeface="Calibri" pitchFamily="34" charset="-120"/>
              </a:rPr>
              <a:t>MODELING</a:t>
            </a:r>
            <a:endParaRPr lang="en-US" sz="1200" dirty="0"/>
          </a:p>
        </p:txBody>
      </p:sp>
      <p:sp>
        <p:nvSpPr>
          <p:cNvPr id="3" name="Text 1"/>
          <p:cNvSpPr/>
          <p:nvPr/>
        </p:nvSpPr>
        <p:spPr>
          <a:xfrm>
            <a:off x="685800" y="658368"/>
            <a:ext cx="10820095" cy="640080"/>
          </a:xfrm>
          <a:prstGeom prst="rect">
            <a:avLst/>
          </a:prstGeom>
          <a:noFill/>
          <a:ln/>
        </p:spPr>
        <p:txBody>
          <a:bodyPr wrap="square" lIns="0" tIns="0" rIns="0" bIns="0" rtlCol="0" anchor="ctr"/>
          <a:lstStyle/>
          <a:p>
            <a:pPr marL="0" indent="0">
              <a:buNone/>
            </a:pPr>
            <a:r>
              <a:rPr lang="en-US" sz="3400" b="1" dirty="0">
                <a:solidFill>
                  <a:srgbClr val="16202F"/>
                </a:solidFill>
                <a:latin typeface="Cambria" pitchFamily="34" charset="0"/>
                <a:ea typeface="Cambria" pitchFamily="34" charset="-122"/>
                <a:cs typeface="Cambria" pitchFamily="34" charset="-120"/>
              </a:rPr>
              <a:t>Random Forest is the best volatility model</a:t>
            </a:r>
            <a:endParaRPr lang="en-US" sz="3400" dirty="0"/>
          </a:p>
        </p:txBody>
      </p:sp>
      <p:graphicFrame>
        <p:nvGraphicFramePr>
          <p:cNvPr id="4" name="Chart 0"/>
          <p:cNvGraphicFramePr/>
          <p:nvPr/>
        </p:nvGraphicFramePr>
        <p:xfrm>
          <a:off x="685800" y="1737360"/>
          <a:ext cx="676656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7726680" y="1737360"/>
            <a:ext cx="3794760" cy="3657600"/>
          </a:xfrm>
          <a:prstGeom prst="roundRect">
            <a:avLst>
              <a:gd name="adj" fmla="val 2000"/>
            </a:avLst>
          </a:prstGeom>
          <a:solidFill>
            <a:srgbClr val="0E1F3C"/>
          </a:solidFill>
          <a:ln w="12700">
            <a:solidFill>
              <a:srgbClr val="0E1F3C"/>
            </a:solidFill>
            <a:prstDash val="solid"/>
          </a:ln>
        </p:spPr>
        <p:txBody>
          <a:bodyPr/>
          <a:lstStyle/>
          <a:p>
            <a:endParaRPr lang="en-US"/>
          </a:p>
        </p:txBody>
      </p:sp>
      <p:sp>
        <p:nvSpPr>
          <p:cNvPr id="6" name="Text 3"/>
          <p:cNvSpPr/>
          <p:nvPr/>
        </p:nvSpPr>
        <p:spPr>
          <a:xfrm>
            <a:off x="8092440" y="1965960"/>
            <a:ext cx="3108960" cy="320040"/>
          </a:xfrm>
          <a:prstGeom prst="rect">
            <a:avLst/>
          </a:prstGeom>
          <a:noFill/>
          <a:ln/>
        </p:spPr>
        <p:txBody>
          <a:bodyPr wrap="square" lIns="0" tIns="0" rIns="0" bIns="0" rtlCol="0" anchor="ctr"/>
          <a:lstStyle/>
          <a:p>
            <a:pPr marL="0" indent="0">
              <a:buNone/>
            </a:pPr>
            <a:r>
              <a:rPr lang="en-US" sz="1300" b="1" dirty="0">
                <a:solidFill>
                  <a:srgbClr val="6FD3C4"/>
                </a:solidFill>
                <a:latin typeface="Calibri" pitchFamily="34" charset="0"/>
                <a:ea typeface="Calibri" pitchFamily="34" charset="-122"/>
                <a:cs typeface="Calibri" pitchFamily="34" charset="-120"/>
              </a:rPr>
              <a:t>Random Forest (tuned)</a:t>
            </a:r>
            <a:endParaRPr lang="en-US" sz="1300" dirty="0"/>
          </a:p>
        </p:txBody>
      </p:sp>
      <p:sp>
        <p:nvSpPr>
          <p:cNvPr id="7" name="Text 4"/>
          <p:cNvSpPr/>
          <p:nvPr/>
        </p:nvSpPr>
        <p:spPr>
          <a:xfrm>
            <a:off x="8092440" y="2331720"/>
            <a:ext cx="3108960" cy="54864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R² = 0.339</a:t>
            </a:r>
            <a:endParaRPr lang="en-US" sz="3200" dirty="0"/>
          </a:p>
        </p:txBody>
      </p:sp>
      <p:sp>
        <p:nvSpPr>
          <p:cNvPr id="8" name="Text 5"/>
          <p:cNvSpPr/>
          <p:nvPr/>
        </p:nvSpPr>
        <p:spPr>
          <a:xfrm>
            <a:off x="8092440" y="2926080"/>
            <a:ext cx="3108960" cy="731520"/>
          </a:xfrm>
          <a:prstGeom prst="rect">
            <a:avLst/>
          </a:prstGeom>
          <a:noFill/>
          <a:ln/>
        </p:spPr>
        <p:txBody>
          <a:bodyPr wrap="square" lIns="0" tIns="0" rIns="0" bIns="0" rtlCol="0" anchor="ctr"/>
          <a:lstStyle/>
          <a:p>
            <a:pPr marL="0" indent="0">
              <a:lnSpc>
                <a:spcPts val="1900"/>
              </a:lnSpc>
              <a:buNone/>
            </a:pPr>
            <a:r>
              <a:rPr lang="en-US" sz="1250" dirty="0">
                <a:solidFill>
                  <a:srgbClr val="BCCADC"/>
                </a:solidFill>
                <a:latin typeface="Calibri" pitchFamily="34" charset="0"/>
                <a:ea typeface="Calibri" pitchFamily="34" charset="-122"/>
                <a:cs typeface="Calibri" pitchFamily="34" charset="-120"/>
              </a:rPr>
              <a:t>vs. 0.002 for the rolling-volatility baseline and negative R² for both linear models.</a:t>
            </a:r>
            <a:endParaRPr lang="en-US" sz="1250" dirty="0"/>
          </a:p>
        </p:txBody>
      </p:sp>
      <p:sp>
        <p:nvSpPr>
          <p:cNvPr id="9" name="Text 6"/>
          <p:cNvSpPr/>
          <p:nvPr/>
        </p:nvSpPr>
        <p:spPr>
          <a:xfrm>
            <a:off x="8092440" y="3794760"/>
            <a:ext cx="1645920" cy="274320"/>
          </a:xfrm>
          <a:prstGeom prst="rect">
            <a:avLst/>
          </a:prstGeom>
          <a:noFill/>
          <a:ln/>
        </p:spPr>
        <p:txBody>
          <a:bodyPr wrap="square" lIns="0" tIns="0" rIns="0" bIns="0" rtlCol="0" anchor="ctr"/>
          <a:lstStyle/>
          <a:p>
            <a:pPr marL="0" indent="0">
              <a:buNone/>
            </a:pPr>
            <a:r>
              <a:rPr lang="en-US" sz="1250" dirty="0">
                <a:solidFill>
                  <a:srgbClr val="9AACC2"/>
                </a:solidFill>
                <a:latin typeface="Calibri" pitchFamily="34" charset="0"/>
                <a:ea typeface="Calibri" pitchFamily="34" charset="-122"/>
                <a:cs typeface="Calibri" pitchFamily="34" charset="-120"/>
              </a:rPr>
              <a:t>MAE</a:t>
            </a:r>
            <a:endParaRPr lang="en-US" sz="1250" dirty="0"/>
          </a:p>
        </p:txBody>
      </p:sp>
      <p:sp>
        <p:nvSpPr>
          <p:cNvPr id="10" name="Text 7"/>
          <p:cNvSpPr/>
          <p:nvPr/>
        </p:nvSpPr>
        <p:spPr>
          <a:xfrm>
            <a:off x="9601200" y="3794760"/>
            <a:ext cx="1600200" cy="274320"/>
          </a:xfrm>
          <a:prstGeom prst="rect">
            <a:avLst/>
          </a:prstGeom>
          <a:noFill/>
          <a:ln/>
        </p:spPr>
        <p:txBody>
          <a:bodyPr wrap="square" lIns="0" tIns="0" rIns="0" bIns="0" rtlCol="0" anchor="ctr"/>
          <a:lstStyle/>
          <a:p>
            <a:pPr marL="0" indent="0" algn="r">
              <a:buNone/>
            </a:pPr>
            <a:r>
              <a:rPr lang="en-US" sz="1250" b="1" dirty="0">
                <a:solidFill>
                  <a:srgbClr val="FFFFFF"/>
                </a:solidFill>
                <a:latin typeface="Calibri" pitchFamily="34" charset="0"/>
                <a:ea typeface="Calibri" pitchFamily="34" charset="-122"/>
                <a:cs typeface="Calibri" pitchFamily="34" charset="-120"/>
              </a:rPr>
              <a:t>0.00374</a:t>
            </a:r>
            <a:endParaRPr lang="en-US" sz="1250" dirty="0"/>
          </a:p>
        </p:txBody>
      </p:sp>
      <p:sp>
        <p:nvSpPr>
          <p:cNvPr id="11" name="Text 8"/>
          <p:cNvSpPr/>
          <p:nvPr/>
        </p:nvSpPr>
        <p:spPr>
          <a:xfrm>
            <a:off x="8092440" y="4178808"/>
            <a:ext cx="1645920" cy="274320"/>
          </a:xfrm>
          <a:prstGeom prst="rect">
            <a:avLst/>
          </a:prstGeom>
          <a:noFill/>
          <a:ln/>
        </p:spPr>
        <p:txBody>
          <a:bodyPr wrap="square" lIns="0" tIns="0" rIns="0" bIns="0" rtlCol="0" anchor="ctr"/>
          <a:lstStyle/>
          <a:p>
            <a:pPr marL="0" indent="0">
              <a:buNone/>
            </a:pPr>
            <a:r>
              <a:rPr lang="en-US" sz="1250" dirty="0">
                <a:solidFill>
                  <a:srgbClr val="9AACC2"/>
                </a:solidFill>
                <a:latin typeface="Calibri" pitchFamily="34" charset="0"/>
                <a:ea typeface="Calibri" pitchFamily="34" charset="-122"/>
                <a:cs typeface="Calibri" pitchFamily="34" charset="-120"/>
              </a:rPr>
              <a:t>RMSE</a:t>
            </a:r>
            <a:endParaRPr lang="en-US" sz="1250" dirty="0"/>
          </a:p>
        </p:txBody>
      </p:sp>
      <p:sp>
        <p:nvSpPr>
          <p:cNvPr id="12" name="Text 9"/>
          <p:cNvSpPr/>
          <p:nvPr/>
        </p:nvSpPr>
        <p:spPr>
          <a:xfrm>
            <a:off x="9601200" y="4178808"/>
            <a:ext cx="1600200" cy="274320"/>
          </a:xfrm>
          <a:prstGeom prst="rect">
            <a:avLst/>
          </a:prstGeom>
          <a:noFill/>
          <a:ln/>
        </p:spPr>
        <p:txBody>
          <a:bodyPr wrap="square" lIns="0" tIns="0" rIns="0" bIns="0" rtlCol="0" anchor="ctr"/>
          <a:lstStyle/>
          <a:p>
            <a:pPr marL="0" indent="0" algn="r">
              <a:buNone/>
            </a:pPr>
            <a:r>
              <a:rPr lang="en-US" sz="1250" b="1" dirty="0">
                <a:solidFill>
                  <a:srgbClr val="FFFFFF"/>
                </a:solidFill>
                <a:latin typeface="Calibri" pitchFamily="34" charset="0"/>
                <a:ea typeface="Calibri" pitchFamily="34" charset="-122"/>
                <a:cs typeface="Calibri" pitchFamily="34" charset="-120"/>
              </a:rPr>
              <a:t>0.00580</a:t>
            </a:r>
            <a:endParaRPr lang="en-US" sz="1250" dirty="0"/>
          </a:p>
        </p:txBody>
      </p:sp>
      <p:sp>
        <p:nvSpPr>
          <p:cNvPr id="13" name="Text 10"/>
          <p:cNvSpPr/>
          <p:nvPr/>
        </p:nvSpPr>
        <p:spPr>
          <a:xfrm>
            <a:off x="8092440" y="4562856"/>
            <a:ext cx="1645920" cy="274320"/>
          </a:xfrm>
          <a:prstGeom prst="rect">
            <a:avLst/>
          </a:prstGeom>
          <a:noFill/>
          <a:ln/>
        </p:spPr>
        <p:txBody>
          <a:bodyPr wrap="square" lIns="0" tIns="0" rIns="0" bIns="0" rtlCol="0" anchor="ctr"/>
          <a:lstStyle/>
          <a:p>
            <a:pPr marL="0" indent="0">
              <a:buNone/>
            </a:pPr>
            <a:r>
              <a:rPr lang="en-US" sz="1250" dirty="0">
                <a:solidFill>
                  <a:srgbClr val="9AACC2"/>
                </a:solidFill>
                <a:latin typeface="Calibri" pitchFamily="34" charset="0"/>
                <a:ea typeface="Calibri" pitchFamily="34" charset="-122"/>
                <a:cs typeface="Calibri" pitchFamily="34" charset="-120"/>
              </a:rPr>
              <a:t>Train time</a:t>
            </a:r>
            <a:endParaRPr lang="en-US" sz="1250" dirty="0"/>
          </a:p>
        </p:txBody>
      </p:sp>
      <p:sp>
        <p:nvSpPr>
          <p:cNvPr id="14" name="Text 11"/>
          <p:cNvSpPr/>
          <p:nvPr/>
        </p:nvSpPr>
        <p:spPr>
          <a:xfrm>
            <a:off x="9601200" y="4562856"/>
            <a:ext cx="1600200" cy="274320"/>
          </a:xfrm>
          <a:prstGeom prst="rect">
            <a:avLst/>
          </a:prstGeom>
          <a:noFill/>
          <a:ln/>
        </p:spPr>
        <p:txBody>
          <a:bodyPr wrap="square" lIns="0" tIns="0" rIns="0" bIns="0" rtlCol="0" anchor="ctr"/>
          <a:lstStyle/>
          <a:p>
            <a:pPr marL="0" indent="0" algn="r">
              <a:buNone/>
            </a:pPr>
            <a:r>
              <a:rPr lang="en-US" sz="1250" b="1" dirty="0">
                <a:solidFill>
                  <a:srgbClr val="FFFFFF"/>
                </a:solidFill>
                <a:latin typeface="Calibri" pitchFamily="34" charset="0"/>
                <a:ea typeface="Calibri" pitchFamily="34" charset="-122"/>
                <a:cs typeface="Calibri" pitchFamily="34" charset="-120"/>
              </a:rPr>
              <a:t>38.9 s</a:t>
            </a:r>
            <a:endParaRPr lang="en-US" sz="1250" dirty="0"/>
          </a:p>
        </p:txBody>
      </p:sp>
      <p:sp>
        <p:nvSpPr>
          <p:cNvPr id="15" name="Text 12"/>
          <p:cNvSpPr/>
          <p:nvPr/>
        </p:nvSpPr>
        <p:spPr>
          <a:xfrm>
            <a:off x="8092440" y="4800600"/>
            <a:ext cx="3108960" cy="502920"/>
          </a:xfrm>
          <a:prstGeom prst="rect">
            <a:avLst/>
          </a:prstGeom>
          <a:noFill/>
          <a:ln/>
        </p:spPr>
        <p:txBody>
          <a:bodyPr wrap="square" lIns="0" tIns="0" rIns="0" bIns="0" rtlCol="0" anchor="ctr"/>
          <a:lstStyle/>
          <a:p>
            <a:pPr marL="0" indent="0">
              <a:lnSpc>
                <a:spcPts val="1700"/>
              </a:lnSpc>
              <a:buNone/>
            </a:pPr>
            <a:r>
              <a:rPr lang="en-US" sz="1150" i="1" dirty="0">
                <a:solidFill>
                  <a:srgbClr val="E8A33D"/>
                </a:solidFill>
                <a:latin typeface="Calibri" pitchFamily="34" charset="0"/>
                <a:ea typeface="Calibri" pitchFamily="34" charset="-122"/>
                <a:cs typeface="Calibri" pitchFamily="34" charset="-120"/>
              </a:rPr>
              <a:t>Gradient Boosting: R² 0.306 in 1.7 s — the fast backup.</a:t>
            </a:r>
            <a:endParaRPr lang="en-US" sz="1150" dirty="0"/>
          </a:p>
        </p:txBody>
      </p:sp>
      <p:sp>
        <p:nvSpPr>
          <p:cNvPr id="16" name="Text 13"/>
          <p:cNvSpPr/>
          <p:nvPr/>
        </p:nvSpPr>
        <p:spPr>
          <a:xfrm>
            <a:off x="685800" y="6355080"/>
            <a:ext cx="5486400" cy="274320"/>
          </a:xfrm>
          <a:prstGeom prst="rect">
            <a:avLst/>
          </a:prstGeom>
          <a:noFill/>
          <a:ln/>
        </p:spPr>
        <p:txBody>
          <a:bodyPr wrap="square" lIns="0" tIns="0" rIns="0" bIns="0" rtlCol="0" anchor="ctr"/>
          <a:lstStyle/>
          <a:p>
            <a:pPr marL="0" indent="0">
              <a:buNone/>
            </a:pPr>
            <a:r>
              <a:rPr lang="en-US" sz="950" dirty="0">
                <a:solidFill>
                  <a:srgbClr val="9AA7B8"/>
                </a:solidFill>
                <a:latin typeface="Calibri" pitchFamily="34" charset="0"/>
                <a:ea typeface="Calibri" pitchFamily="34" charset="-122"/>
                <a:cs typeface="Calibri" pitchFamily="34" charset="-120"/>
              </a:rPr>
              <a:t>FinSight Analytics  ·  INFO 442 Group 2</a:t>
            </a:r>
            <a:endParaRPr lang="en-US" sz="950" dirty="0"/>
          </a:p>
        </p:txBody>
      </p:sp>
      <p:sp>
        <p:nvSpPr>
          <p:cNvPr id="17" name="Text 14"/>
          <p:cNvSpPr/>
          <p:nvPr/>
        </p:nvSpPr>
        <p:spPr>
          <a:xfrm>
            <a:off x="10591495" y="6355080"/>
            <a:ext cx="914400" cy="274320"/>
          </a:xfrm>
          <a:prstGeom prst="rect">
            <a:avLst/>
          </a:prstGeom>
          <a:noFill/>
          <a:ln/>
        </p:spPr>
        <p:txBody>
          <a:bodyPr wrap="square" lIns="0" tIns="0" rIns="0" bIns="0" rtlCol="0" anchor="ctr"/>
          <a:lstStyle/>
          <a:p>
            <a:pPr marL="0" indent="0" algn="r">
              <a:buNone/>
            </a:pPr>
            <a:r>
              <a:rPr lang="en-US" sz="950" dirty="0">
                <a:solidFill>
                  <a:srgbClr val="9AA7B8"/>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384048"/>
            <a:ext cx="8229600" cy="256032"/>
          </a:xfrm>
          <a:prstGeom prst="rect">
            <a:avLst/>
          </a:prstGeom>
          <a:noFill/>
          <a:ln/>
        </p:spPr>
        <p:txBody>
          <a:bodyPr wrap="square" lIns="0" tIns="0" rIns="0" bIns="0" rtlCol="0" anchor="ctr"/>
          <a:lstStyle/>
          <a:p>
            <a:pPr marL="0" indent="0">
              <a:buNone/>
            </a:pPr>
            <a:r>
              <a:rPr lang="en-US" sz="1200" b="1" kern="0" spc="200" dirty="0">
                <a:solidFill>
                  <a:srgbClr val="00A896"/>
                </a:solidFill>
                <a:latin typeface="Calibri" pitchFamily="34" charset="0"/>
                <a:ea typeface="Calibri" pitchFamily="34" charset="-122"/>
                <a:cs typeface="Calibri" pitchFamily="34" charset="-120"/>
              </a:rPr>
              <a:t>VALIDATION</a:t>
            </a:r>
            <a:endParaRPr lang="en-US" sz="1200" dirty="0"/>
          </a:p>
        </p:txBody>
      </p:sp>
      <p:sp>
        <p:nvSpPr>
          <p:cNvPr id="3" name="Text 1"/>
          <p:cNvSpPr/>
          <p:nvPr/>
        </p:nvSpPr>
        <p:spPr>
          <a:xfrm>
            <a:off x="685800" y="658368"/>
            <a:ext cx="10820095" cy="640080"/>
          </a:xfrm>
          <a:prstGeom prst="rect">
            <a:avLst/>
          </a:prstGeom>
          <a:noFill/>
          <a:ln/>
        </p:spPr>
        <p:txBody>
          <a:bodyPr wrap="square" lIns="0" tIns="0" rIns="0" bIns="0" rtlCol="0" anchor="ctr"/>
          <a:lstStyle/>
          <a:p>
            <a:pPr marL="0" indent="0">
              <a:buNone/>
            </a:pPr>
            <a:r>
              <a:rPr lang="en-US" sz="3400" b="1" dirty="0">
                <a:solidFill>
                  <a:srgbClr val="16202F"/>
                </a:solidFill>
                <a:latin typeface="Cambria" pitchFamily="34" charset="0"/>
                <a:ea typeface="Cambria" pitchFamily="34" charset="-122"/>
                <a:cs typeface="Cambria" pitchFamily="34" charset="-120"/>
              </a:rPr>
              <a:t>Honest, auditable evaluation</a:t>
            </a:r>
            <a:endParaRPr lang="en-US" sz="3400" dirty="0"/>
          </a:p>
        </p:txBody>
      </p:sp>
      <p:sp>
        <p:nvSpPr>
          <p:cNvPr id="4" name="Shape 2"/>
          <p:cNvSpPr/>
          <p:nvPr/>
        </p:nvSpPr>
        <p:spPr>
          <a:xfrm>
            <a:off x="685800" y="1737360"/>
            <a:ext cx="5227168" cy="1783080"/>
          </a:xfrm>
          <a:prstGeom prst="roundRect">
            <a:avLst>
              <a:gd name="adj" fmla="val 4103"/>
            </a:avLst>
          </a:prstGeom>
          <a:solidFill>
            <a:srgbClr val="FFFFFF"/>
          </a:solidFill>
          <a:ln w="12700">
            <a:solidFill>
              <a:srgbClr val="DCE3EC"/>
            </a:solidFill>
            <a:prstDash val="solid"/>
          </a:ln>
        </p:spPr>
        <p:txBody>
          <a:bodyPr/>
          <a:lstStyle/>
          <a:p>
            <a:endParaRPr lang="en-US"/>
          </a:p>
        </p:txBody>
      </p:sp>
      <p:sp>
        <p:nvSpPr>
          <p:cNvPr id="5" name="Text 3"/>
          <p:cNvSpPr/>
          <p:nvPr/>
        </p:nvSpPr>
        <p:spPr>
          <a:xfrm>
            <a:off x="1069848" y="2011680"/>
            <a:ext cx="4449928" cy="411480"/>
          </a:xfrm>
          <a:prstGeom prst="rect">
            <a:avLst/>
          </a:prstGeom>
          <a:noFill/>
          <a:ln/>
        </p:spPr>
        <p:txBody>
          <a:bodyPr wrap="square" lIns="0" tIns="0" rIns="0" bIns="0" rtlCol="0" anchor="ctr"/>
          <a:lstStyle/>
          <a:p>
            <a:pPr marL="0" indent="0">
              <a:buNone/>
            </a:pPr>
            <a:r>
              <a:rPr lang="en-US" sz="2100" b="1" dirty="0">
                <a:solidFill>
                  <a:srgbClr val="00A896"/>
                </a:solidFill>
                <a:latin typeface="Cambria" pitchFamily="34" charset="0"/>
                <a:ea typeface="Cambria" pitchFamily="34" charset="-122"/>
                <a:cs typeface="Cambria" pitchFamily="34" charset="-120"/>
              </a:rPr>
              <a:t>Time-based split</a:t>
            </a:r>
            <a:endParaRPr lang="en-US" sz="2100" dirty="0"/>
          </a:p>
        </p:txBody>
      </p:sp>
      <p:sp>
        <p:nvSpPr>
          <p:cNvPr id="6" name="Text 4"/>
          <p:cNvSpPr/>
          <p:nvPr/>
        </p:nvSpPr>
        <p:spPr>
          <a:xfrm>
            <a:off x="1069848" y="2514600"/>
            <a:ext cx="4449928" cy="868680"/>
          </a:xfrm>
          <a:prstGeom prst="rect">
            <a:avLst/>
          </a:prstGeom>
          <a:noFill/>
          <a:ln/>
        </p:spPr>
        <p:txBody>
          <a:bodyPr wrap="square" lIns="0" tIns="0" rIns="0" bIns="0" rtlCol="0" anchor="ctr"/>
          <a:lstStyle/>
          <a:p>
            <a:pPr marL="0" indent="0">
              <a:lnSpc>
                <a:spcPts val="2000"/>
              </a:lnSpc>
              <a:buNone/>
            </a:pPr>
            <a:r>
              <a:rPr lang="en-US" sz="1350" dirty="0">
                <a:solidFill>
                  <a:srgbClr val="5D6E85"/>
                </a:solidFill>
                <a:latin typeface="Calibri" pitchFamily="34" charset="0"/>
                <a:ea typeface="Calibri" pitchFamily="34" charset="-122"/>
                <a:cs typeface="Calibri" pitchFamily="34" charset="-120"/>
              </a:rPr>
              <a:t>Train 2018-01-31 → 2023-12-29. Test 2024-01-02 → 2025-12-01. No shuffling, no look-ahead.</a:t>
            </a:r>
            <a:endParaRPr lang="en-US" sz="1350" dirty="0"/>
          </a:p>
        </p:txBody>
      </p:sp>
      <p:sp>
        <p:nvSpPr>
          <p:cNvPr id="7" name="Shape 5"/>
          <p:cNvSpPr/>
          <p:nvPr/>
        </p:nvSpPr>
        <p:spPr>
          <a:xfrm>
            <a:off x="6278728" y="1737360"/>
            <a:ext cx="5227168" cy="1783080"/>
          </a:xfrm>
          <a:prstGeom prst="roundRect">
            <a:avLst>
              <a:gd name="adj" fmla="val 4103"/>
            </a:avLst>
          </a:prstGeom>
          <a:solidFill>
            <a:srgbClr val="FFFFFF"/>
          </a:solidFill>
          <a:ln w="12700">
            <a:solidFill>
              <a:srgbClr val="DCE3EC"/>
            </a:solidFill>
            <a:prstDash val="solid"/>
          </a:ln>
        </p:spPr>
        <p:txBody>
          <a:bodyPr/>
          <a:lstStyle/>
          <a:p>
            <a:endParaRPr lang="en-US"/>
          </a:p>
        </p:txBody>
      </p:sp>
      <p:sp>
        <p:nvSpPr>
          <p:cNvPr id="8" name="Text 6"/>
          <p:cNvSpPr/>
          <p:nvPr/>
        </p:nvSpPr>
        <p:spPr>
          <a:xfrm>
            <a:off x="6662776" y="2011680"/>
            <a:ext cx="4449928" cy="411480"/>
          </a:xfrm>
          <a:prstGeom prst="rect">
            <a:avLst/>
          </a:prstGeom>
          <a:noFill/>
          <a:ln/>
        </p:spPr>
        <p:txBody>
          <a:bodyPr wrap="square" lIns="0" tIns="0" rIns="0" bIns="0" rtlCol="0" anchor="ctr"/>
          <a:lstStyle/>
          <a:p>
            <a:pPr marL="0" indent="0">
              <a:buNone/>
            </a:pPr>
            <a:r>
              <a:rPr lang="en-US" sz="2100" b="1" dirty="0">
                <a:solidFill>
                  <a:srgbClr val="00A896"/>
                </a:solidFill>
                <a:latin typeface="Cambria" pitchFamily="34" charset="0"/>
                <a:ea typeface="Cambria" pitchFamily="34" charset="-122"/>
                <a:cs typeface="Cambria" pitchFamily="34" charset="-120"/>
              </a:rPr>
              <a:t>31,269 / 10,101</a:t>
            </a:r>
            <a:endParaRPr lang="en-US" sz="2100" dirty="0"/>
          </a:p>
        </p:txBody>
      </p:sp>
      <p:sp>
        <p:nvSpPr>
          <p:cNvPr id="9" name="Text 7"/>
          <p:cNvSpPr/>
          <p:nvPr/>
        </p:nvSpPr>
        <p:spPr>
          <a:xfrm>
            <a:off x="6662776" y="2514600"/>
            <a:ext cx="4449928" cy="868680"/>
          </a:xfrm>
          <a:prstGeom prst="rect">
            <a:avLst/>
          </a:prstGeom>
          <a:noFill/>
          <a:ln/>
        </p:spPr>
        <p:txBody>
          <a:bodyPr wrap="square" lIns="0" tIns="0" rIns="0" bIns="0" rtlCol="0" anchor="ctr"/>
          <a:lstStyle/>
          <a:p>
            <a:pPr marL="0" indent="0">
              <a:lnSpc>
                <a:spcPts val="2000"/>
              </a:lnSpc>
              <a:buNone/>
            </a:pPr>
            <a:r>
              <a:rPr lang="en-US" sz="1350" dirty="0">
                <a:solidFill>
                  <a:srgbClr val="5D6E85"/>
                </a:solidFill>
                <a:latin typeface="Calibri" pitchFamily="34" charset="0"/>
                <a:ea typeface="Calibri" pitchFamily="34" charset="-122"/>
                <a:cs typeface="Calibri" pitchFamily="34" charset="-120"/>
              </a:rPr>
              <a:t>Training rows and test rows. Every model sees the identical time split — though not identical features (see below).</a:t>
            </a:r>
            <a:endParaRPr lang="en-US" sz="1350" dirty="0"/>
          </a:p>
        </p:txBody>
      </p:sp>
      <p:sp>
        <p:nvSpPr>
          <p:cNvPr id="10" name="Shape 8"/>
          <p:cNvSpPr/>
          <p:nvPr/>
        </p:nvSpPr>
        <p:spPr>
          <a:xfrm>
            <a:off x="685800" y="3749040"/>
            <a:ext cx="5227168" cy="1783080"/>
          </a:xfrm>
          <a:prstGeom prst="roundRect">
            <a:avLst>
              <a:gd name="adj" fmla="val 4103"/>
            </a:avLst>
          </a:prstGeom>
          <a:solidFill>
            <a:srgbClr val="FFFFFF"/>
          </a:solidFill>
          <a:ln w="12700">
            <a:solidFill>
              <a:srgbClr val="DCE3EC"/>
            </a:solidFill>
            <a:prstDash val="solid"/>
          </a:ln>
        </p:spPr>
        <p:txBody>
          <a:bodyPr/>
          <a:lstStyle/>
          <a:p>
            <a:endParaRPr lang="en-US"/>
          </a:p>
        </p:txBody>
      </p:sp>
      <p:sp>
        <p:nvSpPr>
          <p:cNvPr id="11" name="Text 9"/>
          <p:cNvSpPr/>
          <p:nvPr/>
        </p:nvSpPr>
        <p:spPr>
          <a:xfrm>
            <a:off x="1069848" y="4023360"/>
            <a:ext cx="4449928" cy="411480"/>
          </a:xfrm>
          <a:prstGeom prst="rect">
            <a:avLst/>
          </a:prstGeom>
          <a:noFill/>
          <a:ln/>
        </p:spPr>
        <p:txBody>
          <a:bodyPr wrap="square" lIns="0" tIns="0" rIns="0" bIns="0" rtlCol="0" anchor="ctr"/>
          <a:lstStyle/>
          <a:p>
            <a:pPr marL="0" indent="0">
              <a:buNone/>
            </a:pPr>
            <a:r>
              <a:rPr lang="en-US" sz="2100" b="1" dirty="0">
                <a:solidFill>
                  <a:srgbClr val="00A896"/>
                </a:solidFill>
                <a:latin typeface="Cambria" pitchFamily="34" charset="0"/>
                <a:ea typeface="Cambria" pitchFamily="34" charset="-122"/>
                <a:cs typeface="Cambria" pitchFamily="34" charset="-120"/>
              </a:rPr>
              <a:t>Logged runtimes</a:t>
            </a:r>
            <a:endParaRPr lang="en-US" sz="2100" dirty="0"/>
          </a:p>
        </p:txBody>
      </p:sp>
      <p:sp>
        <p:nvSpPr>
          <p:cNvPr id="12" name="Text 10"/>
          <p:cNvSpPr/>
          <p:nvPr/>
        </p:nvSpPr>
        <p:spPr>
          <a:xfrm>
            <a:off x="1069848" y="4526280"/>
            <a:ext cx="4449928" cy="868680"/>
          </a:xfrm>
          <a:prstGeom prst="rect">
            <a:avLst/>
          </a:prstGeom>
          <a:noFill/>
          <a:ln/>
        </p:spPr>
        <p:txBody>
          <a:bodyPr wrap="square" lIns="0" tIns="0" rIns="0" bIns="0" rtlCol="0" anchor="ctr"/>
          <a:lstStyle/>
          <a:p>
            <a:pPr marL="0" indent="0">
              <a:lnSpc>
                <a:spcPts val="2000"/>
              </a:lnSpc>
              <a:buNone/>
            </a:pPr>
            <a:r>
              <a:rPr lang="en-US" sz="1350" dirty="0">
                <a:solidFill>
                  <a:srgbClr val="5D6E85"/>
                </a:solidFill>
                <a:latin typeface="Calibri" pitchFamily="34" charset="0"/>
                <a:ea typeface="Calibri" pitchFamily="34" charset="-122"/>
                <a:cs typeface="Calibri" pitchFamily="34" charset="-120"/>
              </a:rPr>
              <a:t>Each run writes training start/end timestamps and duration, so accuracy-vs-cost is a comparison we can actually make.</a:t>
            </a:r>
            <a:endParaRPr lang="en-US" sz="1350" dirty="0"/>
          </a:p>
        </p:txBody>
      </p:sp>
      <p:sp>
        <p:nvSpPr>
          <p:cNvPr id="13" name="Shape 11"/>
          <p:cNvSpPr/>
          <p:nvPr/>
        </p:nvSpPr>
        <p:spPr>
          <a:xfrm>
            <a:off x="6278728" y="3749040"/>
            <a:ext cx="5227168" cy="1783080"/>
          </a:xfrm>
          <a:prstGeom prst="roundRect">
            <a:avLst>
              <a:gd name="adj" fmla="val 4103"/>
            </a:avLst>
          </a:prstGeom>
          <a:solidFill>
            <a:srgbClr val="FFFFFF"/>
          </a:solidFill>
          <a:ln w="12700">
            <a:solidFill>
              <a:srgbClr val="DCE3EC"/>
            </a:solidFill>
            <a:prstDash val="solid"/>
          </a:ln>
        </p:spPr>
        <p:txBody>
          <a:bodyPr/>
          <a:lstStyle/>
          <a:p>
            <a:endParaRPr lang="en-US"/>
          </a:p>
        </p:txBody>
      </p:sp>
      <p:sp>
        <p:nvSpPr>
          <p:cNvPr id="14" name="Text 12"/>
          <p:cNvSpPr/>
          <p:nvPr/>
        </p:nvSpPr>
        <p:spPr>
          <a:xfrm>
            <a:off x="6662776" y="4023360"/>
            <a:ext cx="4449928" cy="411480"/>
          </a:xfrm>
          <a:prstGeom prst="rect">
            <a:avLst/>
          </a:prstGeom>
          <a:noFill/>
          <a:ln/>
        </p:spPr>
        <p:txBody>
          <a:bodyPr wrap="square" lIns="0" tIns="0" rIns="0" bIns="0" rtlCol="0" anchor="ctr"/>
          <a:lstStyle/>
          <a:p>
            <a:pPr marL="0" indent="0">
              <a:buNone/>
            </a:pPr>
            <a:r>
              <a:rPr lang="en-US" sz="2100" b="1" dirty="0">
                <a:solidFill>
                  <a:srgbClr val="E8A33D"/>
                </a:solidFill>
                <a:latin typeface="Cambria" pitchFamily="34" charset="0"/>
                <a:ea typeface="Cambria" pitchFamily="34" charset="-122"/>
                <a:cs typeface="Cambria" pitchFamily="34" charset="-120"/>
              </a:rPr>
              <a:t>Naive baseline</a:t>
            </a:r>
            <a:endParaRPr lang="en-US" sz="2100" dirty="0"/>
          </a:p>
        </p:txBody>
      </p:sp>
      <p:sp>
        <p:nvSpPr>
          <p:cNvPr id="15" name="Text 13"/>
          <p:cNvSpPr/>
          <p:nvPr/>
        </p:nvSpPr>
        <p:spPr>
          <a:xfrm>
            <a:off x="6662776" y="4526280"/>
            <a:ext cx="4449928" cy="868680"/>
          </a:xfrm>
          <a:prstGeom prst="rect">
            <a:avLst/>
          </a:prstGeom>
          <a:noFill/>
          <a:ln/>
        </p:spPr>
        <p:txBody>
          <a:bodyPr wrap="square" lIns="0" tIns="0" rIns="0" bIns="0" rtlCol="0" anchor="ctr"/>
          <a:lstStyle/>
          <a:p>
            <a:pPr marL="0" indent="0">
              <a:lnSpc>
                <a:spcPts val="2000"/>
              </a:lnSpc>
              <a:buNone/>
            </a:pPr>
            <a:r>
              <a:rPr lang="en-US" sz="1350" dirty="0">
                <a:solidFill>
                  <a:srgbClr val="5D6E85"/>
                </a:solidFill>
                <a:latin typeface="Calibri" pitchFamily="34" charset="0"/>
                <a:ea typeface="Calibri" pitchFamily="34" charset="-122"/>
                <a:cs typeface="Calibri" pitchFamily="34" charset="-120"/>
              </a:rPr>
              <a:t>20-day rolling volatility. Any model that can't beat it isn't earning its complexity.</a:t>
            </a:r>
            <a:endParaRPr lang="en-US" sz="1350" dirty="0"/>
          </a:p>
        </p:txBody>
      </p:sp>
      <p:sp>
        <p:nvSpPr>
          <p:cNvPr id="16" name="Text 14"/>
          <p:cNvSpPr/>
          <p:nvPr/>
        </p:nvSpPr>
        <p:spPr>
          <a:xfrm>
            <a:off x="685800" y="5669280"/>
            <a:ext cx="10820095" cy="548640"/>
          </a:xfrm>
          <a:prstGeom prst="rect">
            <a:avLst/>
          </a:prstGeom>
          <a:noFill/>
          <a:ln/>
        </p:spPr>
        <p:txBody>
          <a:bodyPr wrap="square" lIns="0" tIns="0" rIns="0" bIns="0" rtlCol="0" anchor="ctr"/>
          <a:lstStyle/>
          <a:p>
            <a:pPr marL="0" indent="0">
              <a:lnSpc>
                <a:spcPts val="1900"/>
              </a:lnSpc>
              <a:buNone/>
            </a:pPr>
            <a:r>
              <a:rPr lang="en-US" sz="1250" i="1" dirty="0">
                <a:solidFill>
                  <a:srgbClr val="C4553B"/>
                </a:solidFill>
                <a:latin typeface="Calibri" pitchFamily="34" charset="0"/>
                <a:ea typeface="Calibri" pitchFamily="34" charset="-122"/>
                <a:cs typeface="Calibri" pitchFamily="34" charset="-120"/>
              </a:rPr>
              <a:t>Not a like-for-like race: Random Forest trains on 35 columns (17 selected features plus one-hot sector and asset type) while Linear, Ridge, and Gradient Boosting get the 17 alone. GARCH is SPY-only and sits outside the leaderboard entirely.</a:t>
            </a:r>
            <a:endParaRPr lang="en-US" sz="1250" dirty="0"/>
          </a:p>
        </p:txBody>
      </p:sp>
      <p:sp>
        <p:nvSpPr>
          <p:cNvPr id="17" name="Text 15"/>
          <p:cNvSpPr/>
          <p:nvPr/>
        </p:nvSpPr>
        <p:spPr>
          <a:xfrm>
            <a:off x="685800" y="6355080"/>
            <a:ext cx="5486400" cy="274320"/>
          </a:xfrm>
          <a:prstGeom prst="rect">
            <a:avLst/>
          </a:prstGeom>
          <a:noFill/>
          <a:ln/>
        </p:spPr>
        <p:txBody>
          <a:bodyPr wrap="square" lIns="0" tIns="0" rIns="0" bIns="0" rtlCol="0" anchor="ctr"/>
          <a:lstStyle/>
          <a:p>
            <a:pPr marL="0" indent="0">
              <a:buNone/>
            </a:pPr>
            <a:r>
              <a:rPr lang="en-US" sz="950" dirty="0">
                <a:solidFill>
                  <a:srgbClr val="9AA7B8"/>
                </a:solidFill>
                <a:latin typeface="Calibri" pitchFamily="34" charset="0"/>
                <a:ea typeface="Calibri" pitchFamily="34" charset="-122"/>
                <a:cs typeface="Calibri" pitchFamily="34" charset="-120"/>
              </a:rPr>
              <a:t>FinSight Analytics  ·  INFO 442 Group 2</a:t>
            </a:r>
            <a:endParaRPr lang="en-US" sz="950" dirty="0"/>
          </a:p>
        </p:txBody>
      </p:sp>
      <p:sp>
        <p:nvSpPr>
          <p:cNvPr id="18" name="Text 16"/>
          <p:cNvSpPr/>
          <p:nvPr/>
        </p:nvSpPr>
        <p:spPr>
          <a:xfrm>
            <a:off x="10591495" y="6355080"/>
            <a:ext cx="914400" cy="274320"/>
          </a:xfrm>
          <a:prstGeom prst="rect">
            <a:avLst/>
          </a:prstGeom>
          <a:noFill/>
          <a:ln/>
        </p:spPr>
        <p:txBody>
          <a:bodyPr wrap="square" lIns="0" tIns="0" rIns="0" bIns="0" rtlCol="0" anchor="ctr"/>
          <a:lstStyle/>
          <a:p>
            <a:pPr marL="0" indent="0" algn="r">
              <a:buNone/>
            </a:pPr>
            <a:r>
              <a:rPr lang="en-US" sz="950" dirty="0">
                <a:solidFill>
                  <a:srgbClr val="9AA7B8"/>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384048"/>
            <a:ext cx="8229600" cy="256032"/>
          </a:xfrm>
          <a:prstGeom prst="rect">
            <a:avLst/>
          </a:prstGeom>
          <a:noFill/>
          <a:ln/>
        </p:spPr>
        <p:txBody>
          <a:bodyPr wrap="square" lIns="0" tIns="0" rIns="0" bIns="0" rtlCol="0" anchor="ctr"/>
          <a:lstStyle/>
          <a:p>
            <a:pPr marL="0" indent="0">
              <a:buNone/>
            </a:pPr>
            <a:r>
              <a:rPr lang="en-US" sz="1200" b="1" kern="0" spc="200" dirty="0">
                <a:solidFill>
                  <a:srgbClr val="00A896"/>
                </a:solidFill>
                <a:latin typeface="Calibri" pitchFamily="34" charset="0"/>
                <a:ea typeface="Calibri" pitchFamily="34" charset="-122"/>
                <a:cs typeface="Calibri" pitchFamily="34" charset="-120"/>
              </a:rPr>
              <a:t>PORTFOLIO CONSTRUCTION</a:t>
            </a:r>
            <a:endParaRPr lang="en-US" sz="1200" dirty="0"/>
          </a:p>
        </p:txBody>
      </p:sp>
      <p:sp>
        <p:nvSpPr>
          <p:cNvPr id="3" name="Text 1"/>
          <p:cNvSpPr/>
          <p:nvPr/>
        </p:nvSpPr>
        <p:spPr>
          <a:xfrm>
            <a:off x="685800" y="658368"/>
            <a:ext cx="10820095" cy="640080"/>
          </a:xfrm>
          <a:prstGeom prst="rect">
            <a:avLst/>
          </a:prstGeom>
          <a:noFill/>
          <a:ln/>
        </p:spPr>
        <p:txBody>
          <a:bodyPr wrap="square" lIns="0" tIns="0" rIns="0" bIns="0" rtlCol="0" anchor="ctr"/>
          <a:lstStyle/>
          <a:p>
            <a:pPr marL="0" indent="0">
              <a:buNone/>
            </a:pPr>
            <a:r>
              <a:rPr lang="en-US" sz="3400" b="1" dirty="0">
                <a:solidFill>
                  <a:srgbClr val="16202F"/>
                </a:solidFill>
                <a:latin typeface="Cambria" pitchFamily="34" charset="0"/>
                <a:ea typeface="Cambria" pitchFamily="34" charset="-122"/>
                <a:cs typeface="Cambria" pitchFamily="34" charset="-120"/>
              </a:rPr>
              <a:t>Five strategies, one benchmark</a:t>
            </a:r>
            <a:endParaRPr lang="en-US" sz="3400" dirty="0"/>
          </a:p>
        </p:txBody>
      </p:sp>
      <p:sp>
        <p:nvSpPr>
          <p:cNvPr id="4" name="Shape 2"/>
          <p:cNvSpPr/>
          <p:nvPr/>
        </p:nvSpPr>
        <p:spPr>
          <a:xfrm>
            <a:off x="685800" y="1691640"/>
            <a:ext cx="3423818" cy="1371600"/>
          </a:xfrm>
          <a:prstGeom prst="roundRect">
            <a:avLst>
              <a:gd name="adj" fmla="val 5333"/>
            </a:avLst>
          </a:prstGeom>
          <a:solidFill>
            <a:srgbClr val="F2F5F9"/>
          </a:solidFill>
          <a:ln w="12700">
            <a:solidFill>
              <a:srgbClr val="333333"/>
            </a:solidFill>
            <a:prstDash val="solid"/>
          </a:ln>
        </p:spPr>
        <p:txBody>
          <a:bodyPr/>
          <a:lstStyle/>
          <a:p>
            <a:endParaRPr lang="en-US"/>
          </a:p>
        </p:txBody>
      </p:sp>
      <p:sp>
        <p:nvSpPr>
          <p:cNvPr id="5" name="Shape 3"/>
          <p:cNvSpPr/>
          <p:nvPr/>
        </p:nvSpPr>
        <p:spPr>
          <a:xfrm>
            <a:off x="1005840" y="2011680"/>
            <a:ext cx="182880" cy="182880"/>
          </a:xfrm>
          <a:prstGeom prst="ellipse">
            <a:avLst/>
          </a:prstGeom>
          <a:solidFill>
            <a:srgbClr val="5D6E85"/>
          </a:solidFill>
          <a:ln w="12700">
            <a:solidFill>
              <a:srgbClr val="333333"/>
            </a:solidFill>
            <a:prstDash val="solid"/>
          </a:ln>
        </p:spPr>
        <p:txBody>
          <a:bodyPr/>
          <a:lstStyle/>
          <a:p>
            <a:endParaRPr lang="en-US"/>
          </a:p>
        </p:txBody>
      </p:sp>
      <p:sp>
        <p:nvSpPr>
          <p:cNvPr id="6" name="Text 4"/>
          <p:cNvSpPr/>
          <p:nvPr/>
        </p:nvSpPr>
        <p:spPr>
          <a:xfrm>
            <a:off x="1280160" y="1947672"/>
            <a:ext cx="2600858" cy="320040"/>
          </a:xfrm>
          <a:prstGeom prst="rect">
            <a:avLst/>
          </a:prstGeom>
          <a:noFill/>
          <a:ln/>
        </p:spPr>
        <p:txBody>
          <a:bodyPr wrap="square" lIns="0" tIns="0" rIns="0" bIns="0" rtlCol="0" anchor="ctr"/>
          <a:lstStyle/>
          <a:p>
            <a:pPr marL="0" indent="0">
              <a:buNone/>
            </a:pPr>
            <a:r>
              <a:rPr lang="en-US" sz="1550" b="1" dirty="0">
                <a:solidFill>
                  <a:srgbClr val="16202F"/>
                </a:solidFill>
                <a:latin typeface="Cambria" pitchFamily="34" charset="0"/>
                <a:ea typeface="Cambria" pitchFamily="34" charset="-122"/>
                <a:cs typeface="Cambria" pitchFamily="34" charset="-120"/>
              </a:rPr>
              <a:t>Equal Weight</a:t>
            </a:r>
            <a:endParaRPr lang="en-US" sz="1550" dirty="0"/>
          </a:p>
        </p:txBody>
      </p:sp>
      <p:sp>
        <p:nvSpPr>
          <p:cNvPr id="7" name="Text 5"/>
          <p:cNvSpPr/>
          <p:nvPr/>
        </p:nvSpPr>
        <p:spPr>
          <a:xfrm>
            <a:off x="1005840" y="2350008"/>
            <a:ext cx="2783738" cy="548640"/>
          </a:xfrm>
          <a:prstGeom prst="rect">
            <a:avLst/>
          </a:prstGeom>
          <a:noFill/>
          <a:ln/>
        </p:spPr>
        <p:txBody>
          <a:bodyPr wrap="square" lIns="0" tIns="0" rIns="0" bIns="0" rtlCol="0" anchor="ctr"/>
          <a:lstStyle/>
          <a:p>
            <a:pPr marL="0" indent="0">
              <a:lnSpc>
                <a:spcPts val="1800"/>
              </a:lnSpc>
              <a:buNone/>
            </a:pPr>
            <a:r>
              <a:rPr lang="en-US" sz="1250" dirty="0">
                <a:solidFill>
                  <a:srgbClr val="5D6E85"/>
                </a:solidFill>
                <a:latin typeface="Calibri" pitchFamily="34" charset="0"/>
                <a:ea typeface="Calibri" pitchFamily="34" charset="-122"/>
                <a:cs typeface="Calibri" pitchFamily="34" charset="-120"/>
              </a:rPr>
              <a:t>5% to each of 20 assets. The naive baseline.</a:t>
            </a:r>
            <a:endParaRPr lang="en-US" sz="1250" dirty="0"/>
          </a:p>
        </p:txBody>
      </p:sp>
      <p:sp>
        <p:nvSpPr>
          <p:cNvPr id="8" name="Shape 6"/>
          <p:cNvSpPr/>
          <p:nvPr/>
        </p:nvSpPr>
        <p:spPr>
          <a:xfrm>
            <a:off x="4383938" y="1691640"/>
            <a:ext cx="3423818" cy="1371600"/>
          </a:xfrm>
          <a:prstGeom prst="roundRect">
            <a:avLst>
              <a:gd name="adj" fmla="val 5333"/>
            </a:avLst>
          </a:prstGeom>
          <a:solidFill>
            <a:srgbClr val="F2F5F9"/>
          </a:solidFill>
          <a:ln w="12700">
            <a:solidFill>
              <a:srgbClr val="333333"/>
            </a:solidFill>
            <a:prstDash val="solid"/>
          </a:ln>
        </p:spPr>
        <p:txBody>
          <a:bodyPr/>
          <a:lstStyle/>
          <a:p>
            <a:endParaRPr lang="en-US"/>
          </a:p>
        </p:txBody>
      </p:sp>
      <p:sp>
        <p:nvSpPr>
          <p:cNvPr id="9" name="Shape 7"/>
          <p:cNvSpPr/>
          <p:nvPr/>
        </p:nvSpPr>
        <p:spPr>
          <a:xfrm>
            <a:off x="4703978" y="2011680"/>
            <a:ext cx="182880" cy="182880"/>
          </a:xfrm>
          <a:prstGeom prst="ellipse">
            <a:avLst/>
          </a:prstGeom>
          <a:solidFill>
            <a:srgbClr val="1B3358"/>
          </a:solidFill>
          <a:ln w="12700">
            <a:solidFill>
              <a:srgbClr val="333333"/>
            </a:solidFill>
            <a:prstDash val="solid"/>
          </a:ln>
        </p:spPr>
        <p:txBody>
          <a:bodyPr/>
          <a:lstStyle/>
          <a:p>
            <a:endParaRPr lang="en-US"/>
          </a:p>
        </p:txBody>
      </p:sp>
      <p:sp>
        <p:nvSpPr>
          <p:cNvPr id="10" name="Text 8"/>
          <p:cNvSpPr/>
          <p:nvPr/>
        </p:nvSpPr>
        <p:spPr>
          <a:xfrm>
            <a:off x="4978298" y="1947672"/>
            <a:ext cx="2600858" cy="320040"/>
          </a:xfrm>
          <a:prstGeom prst="rect">
            <a:avLst/>
          </a:prstGeom>
          <a:noFill/>
          <a:ln/>
        </p:spPr>
        <p:txBody>
          <a:bodyPr wrap="square" lIns="0" tIns="0" rIns="0" bIns="0" rtlCol="0" anchor="ctr"/>
          <a:lstStyle/>
          <a:p>
            <a:pPr marL="0" indent="0">
              <a:buNone/>
            </a:pPr>
            <a:r>
              <a:rPr lang="en-US" sz="1550" b="1" dirty="0">
                <a:solidFill>
                  <a:srgbClr val="16202F"/>
                </a:solidFill>
                <a:latin typeface="Cambria" pitchFamily="34" charset="0"/>
                <a:ea typeface="Cambria" pitchFamily="34" charset="-122"/>
                <a:cs typeface="Cambria" pitchFamily="34" charset="-120"/>
              </a:rPr>
              <a:t>Historical Min Vol</a:t>
            </a:r>
            <a:endParaRPr lang="en-US" sz="1550" dirty="0"/>
          </a:p>
        </p:txBody>
      </p:sp>
      <p:sp>
        <p:nvSpPr>
          <p:cNvPr id="11" name="Text 9"/>
          <p:cNvSpPr/>
          <p:nvPr/>
        </p:nvSpPr>
        <p:spPr>
          <a:xfrm>
            <a:off x="4703978" y="2350008"/>
            <a:ext cx="2783738" cy="548640"/>
          </a:xfrm>
          <a:prstGeom prst="rect">
            <a:avLst/>
          </a:prstGeom>
          <a:noFill/>
          <a:ln/>
        </p:spPr>
        <p:txBody>
          <a:bodyPr wrap="square" lIns="0" tIns="0" rIns="0" bIns="0" rtlCol="0" anchor="ctr"/>
          <a:lstStyle/>
          <a:p>
            <a:pPr marL="0" indent="0">
              <a:lnSpc>
                <a:spcPts val="1800"/>
              </a:lnSpc>
              <a:buNone/>
            </a:pPr>
            <a:r>
              <a:rPr lang="en-US" sz="1250" dirty="0">
                <a:solidFill>
                  <a:srgbClr val="5D6E85"/>
                </a:solidFill>
                <a:latin typeface="Calibri" pitchFamily="34" charset="0"/>
                <a:ea typeface="Calibri" pitchFamily="34" charset="-122"/>
                <a:cs typeface="Calibri" pitchFamily="34" charset="-120"/>
              </a:rPr>
              <a:t>Minimize variance using the historical covariance matrix.</a:t>
            </a:r>
            <a:endParaRPr lang="en-US" sz="1250" dirty="0"/>
          </a:p>
        </p:txBody>
      </p:sp>
      <p:sp>
        <p:nvSpPr>
          <p:cNvPr id="12" name="Shape 10"/>
          <p:cNvSpPr/>
          <p:nvPr/>
        </p:nvSpPr>
        <p:spPr>
          <a:xfrm>
            <a:off x="8082077" y="1691640"/>
            <a:ext cx="3423818" cy="1371600"/>
          </a:xfrm>
          <a:prstGeom prst="roundRect">
            <a:avLst>
              <a:gd name="adj" fmla="val 5333"/>
            </a:avLst>
          </a:prstGeom>
          <a:solidFill>
            <a:srgbClr val="F2F5F9"/>
          </a:solidFill>
          <a:ln w="12700">
            <a:solidFill>
              <a:srgbClr val="333333"/>
            </a:solidFill>
            <a:prstDash val="solid"/>
          </a:ln>
        </p:spPr>
        <p:txBody>
          <a:bodyPr/>
          <a:lstStyle/>
          <a:p>
            <a:endParaRPr lang="en-US"/>
          </a:p>
        </p:txBody>
      </p:sp>
      <p:sp>
        <p:nvSpPr>
          <p:cNvPr id="13" name="Shape 11"/>
          <p:cNvSpPr/>
          <p:nvPr/>
        </p:nvSpPr>
        <p:spPr>
          <a:xfrm>
            <a:off x="8402117" y="2011680"/>
            <a:ext cx="182880" cy="182880"/>
          </a:xfrm>
          <a:prstGeom prst="ellipse">
            <a:avLst/>
          </a:prstGeom>
          <a:solidFill>
            <a:srgbClr val="1B3358"/>
          </a:solidFill>
          <a:ln w="12700">
            <a:solidFill>
              <a:srgbClr val="333333"/>
            </a:solidFill>
            <a:prstDash val="solid"/>
          </a:ln>
        </p:spPr>
        <p:txBody>
          <a:bodyPr/>
          <a:lstStyle/>
          <a:p>
            <a:endParaRPr lang="en-US"/>
          </a:p>
        </p:txBody>
      </p:sp>
      <p:sp>
        <p:nvSpPr>
          <p:cNvPr id="14" name="Text 12"/>
          <p:cNvSpPr/>
          <p:nvPr/>
        </p:nvSpPr>
        <p:spPr>
          <a:xfrm>
            <a:off x="8676437" y="1947672"/>
            <a:ext cx="2600858" cy="320040"/>
          </a:xfrm>
          <a:prstGeom prst="rect">
            <a:avLst/>
          </a:prstGeom>
          <a:noFill/>
          <a:ln/>
        </p:spPr>
        <p:txBody>
          <a:bodyPr wrap="square" lIns="0" tIns="0" rIns="0" bIns="0" rtlCol="0" anchor="ctr"/>
          <a:lstStyle/>
          <a:p>
            <a:pPr marL="0" indent="0">
              <a:buNone/>
            </a:pPr>
            <a:r>
              <a:rPr lang="en-US" sz="1550" b="1" dirty="0">
                <a:solidFill>
                  <a:srgbClr val="16202F"/>
                </a:solidFill>
                <a:latin typeface="Cambria" pitchFamily="34" charset="0"/>
                <a:ea typeface="Cambria" pitchFamily="34" charset="-122"/>
                <a:cs typeface="Cambria" pitchFamily="34" charset="-120"/>
              </a:rPr>
              <a:t>Historical Max Sharpe</a:t>
            </a:r>
            <a:endParaRPr lang="en-US" sz="1550" dirty="0"/>
          </a:p>
        </p:txBody>
      </p:sp>
      <p:sp>
        <p:nvSpPr>
          <p:cNvPr id="15" name="Text 13"/>
          <p:cNvSpPr/>
          <p:nvPr/>
        </p:nvSpPr>
        <p:spPr>
          <a:xfrm>
            <a:off x="8402117" y="2350008"/>
            <a:ext cx="2783738" cy="548640"/>
          </a:xfrm>
          <a:prstGeom prst="rect">
            <a:avLst/>
          </a:prstGeom>
          <a:noFill/>
          <a:ln/>
        </p:spPr>
        <p:txBody>
          <a:bodyPr wrap="square" lIns="0" tIns="0" rIns="0" bIns="0" rtlCol="0" anchor="ctr"/>
          <a:lstStyle/>
          <a:p>
            <a:pPr marL="0" indent="0">
              <a:lnSpc>
                <a:spcPts val="1800"/>
              </a:lnSpc>
              <a:buNone/>
            </a:pPr>
            <a:r>
              <a:rPr lang="en-US" sz="1250" dirty="0">
                <a:solidFill>
                  <a:srgbClr val="5D6E85"/>
                </a:solidFill>
                <a:latin typeface="Calibri" pitchFamily="34" charset="0"/>
                <a:ea typeface="Calibri" pitchFamily="34" charset="-122"/>
                <a:cs typeface="Calibri" pitchFamily="34" charset="-120"/>
              </a:rPr>
              <a:t>Maximize return per unit of historical risk.</a:t>
            </a:r>
            <a:endParaRPr lang="en-US" sz="1250" dirty="0"/>
          </a:p>
        </p:txBody>
      </p:sp>
      <p:sp>
        <p:nvSpPr>
          <p:cNvPr id="16" name="Shape 14"/>
          <p:cNvSpPr/>
          <p:nvPr/>
        </p:nvSpPr>
        <p:spPr>
          <a:xfrm>
            <a:off x="685800" y="3337560"/>
            <a:ext cx="3423818" cy="1371600"/>
          </a:xfrm>
          <a:prstGeom prst="roundRect">
            <a:avLst>
              <a:gd name="adj" fmla="val 5333"/>
            </a:avLst>
          </a:prstGeom>
          <a:solidFill>
            <a:srgbClr val="F2F5F9"/>
          </a:solidFill>
          <a:ln w="12700">
            <a:solidFill>
              <a:srgbClr val="333333"/>
            </a:solidFill>
            <a:prstDash val="solid"/>
          </a:ln>
        </p:spPr>
        <p:txBody>
          <a:bodyPr/>
          <a:lstStyle/>
          <a:p>
            <a:endParaRPr lang="en-US"/>
          </a:p>
        </p:txBody>
      </p:sp>
      <p:sp>
        <p:nvSpPr>
          <p:cNvPr id="17" name="Shape 15"/>
          <p:cNvSpPr/>
          <p:nvPr/>
        </p:nvSpPr>
        <p:spPr>
          <a:xfrm>
            <a:off x="1005840" y="3657600"/>
            <a:ext cx="182880" cy="182880"/>
          </a:xfrm>
          <a:prstGeom prst="ellipse">
            <a:avLst/>
          </a:prstGeom>
          <a:solidFill>
            <a:srgbClr val="00A896"/>
          </a:solidFill>
          <a:ln w="12700">
            <a:solidFill>
              <a:srgbClr val="333333"/>
            </a:solidFill>
            <a:prstDash val="solid"/>
          </a:ln>
        </p:spPr>
        <p:txBody>
          <a:bodyPr/>
          <a:lstStyle/>
          <a:p>
            <a:endParaRPr lang="en-US"/>
          </a:p>
        </p:txBody>
      </p:sp>
      <p:sp>
        <p:nvSpPr>
          <p:cNvPr id="18" name="Text 16"/>
          <p:cNvSpPr/>
          <p:nvPr/>
        </p:nvSpPr>
        <p:spPr>
          <a:xfrm>
            <a:off x="1280160" y="3593592"/>
            <a:ext cx="2600858" cy="320040"/>
          </a:xfrm>
          <a:prstGeom prst="rect">
            <a:avLst/>
          </a:prstGeom>
          <a:noFill/>
          <a:ln/>
        </p:spPr>
        <p:txBody>
          <a:bodyPr wrap="square" lIns="0" tIns="0" rIns="0" bIns="0" rtlCol="0" anchor="ctr"/>
          <a:lstStyle/>
          <a:p>
            <a:pPr marL="0" indent="0">
              <a:buNone/>
            </a:pPr>
            <a:r>
              <a:rPr lang="en-US" sz="1550" b="1" dirty="0">
                <a:solidFill>
                  <a:srgbClr val="16202F"/>
                </a:solidFill>
                <a:latin typeface="Cambria" pitchFamily="34" charset="0"/>
                <a:ea typeface="Cambria" pitchFamily="34" charset="-122"/>
                <a:cs typeface="Cambria" pitchFamily="34" charset="-120"/>
              </a:rPr>
              <a:t>RF Predictive Min Vol</a:t>
            </a:r>
            <a:endParaRPr lang="en-US" sz="1550" dirty="0"/>
          </a:p>
        </p:txBody>
      </p:sp>
      <p:sp>
        <p:nvSpPr>
          <p:cNvPr id="19" name="Text 17"/>
          <p:cNvSpPr/>
          <p:nvPr/>
        </p:nvSpPr>
        <p:spPr>
          <a:xfrm>
            <a:off x="1005840" y="3995928"/>
            <a:ext cx="2783738" cy="548640"/>
          </a:xfrm>
          <a:prstGeom prst="rect">
            <a:avLst/>
          </a:prstGeom>
          <a:noFill/>
          <a:ln/>
        </p:spPr>
        <p:txBody>
          <a:bodyPr wrap="square" lIns="0" tIns="0" rIns="0" bIns="0" rtlCol="0" anchor="ctr"/>
          <a:lstStyle/>
          <a:p>
            <a:pPr marL="0" indent="0">
              <a:lnSpc>
                <a:spcPts val="1800"/>
              </a:lnSpc>
              <a:buNone/>
            </a:pPr>
            <a:r>
              <a:rPr lang="en-US" sz="1250" dirty="0">
                <a:solidFill>
                  <a:srgbClr val="5D6E85"/>
                </a:solidFill>
                <a:latin typeface="Calibri" pitchFamily="34" charset="0"/>
                <a:ea typeface="Calibri" pitchFamily="34" charset="-122"/>
                <a:cs typeface="Calibri" pitchFamily="34" charset="-120"/>
              </a:rPr>
              <a:t>Same solver, but risk comes from RF-forecast volatility.</a:t>
            </a:r>
            <a:endParaRPr lang="en-US" sz="1250" dirty="0"/>
          </a:p>
        </p:txBody>
      </p:sp>
      <p:sp>
        <p:nvSpPr>
          <p:cNvPr id="20" name="Shape 18"/>
          <p:cNvSpPr/>
          <p:nvPr/>
        </p:nvSpPr>
        <p:spPr>
          <a:xfrm>
            <a:off x="4383938" y="3337560"/>
            <a:ext cx="3423818" cy="1371600"/>
          </a:xfrm>
          <a:prstGeom prst="roundRect">
            <a:avLst>
              <a:gd name="adj" fmla="val 5333"/>
            </a:avLst>
          </a:prstGeom>
          <a:solidFill>
            <a:srgbClr val="F2F5F9"/>
          </a:solidFill>
          <a:ln w="12700">
            <a:solidFill>
              <a:srgbClr val="333333"/>
            </a:solidFill>
            <a:prstDash val="solid"/>
          </a:ln>
        </p:spPr>
        <p:txBody>
          <a:bodyPr/>
          <a:lstStyle/>
          <a:p>
            <a:endParaRPr lang="en-US"/>
          </a:p>
        </p:txBody>
      </p:sp>
      <p:sp>
        <p:nvSpPr>
          <p:cNvPr id="21" name="Shape 19"/>
          <p:cNvSpPr/>
          <p:nvPr/>
        </p:nvSpPr>
        <p:spPr>
          <a:xfrm>
            <a:off x="4703978" y="3657600"/>
            <a:ext cx="182880" cy="182880"/>
          </a:xfrm>
          <a:prstGeom prst="ellipse">
            <a:avLst/>
          </a:prstGeom>
          <a:solidFill>
            <a:srgbClr val="00A896"/>
          </a:solidFill>
          <a:ln w="12700">
            <a:solidFill>
              <a:srgbClr val="333333"/>
            </a:solidFill>
            <a:prstDash val="solid"/>
          </a:ln>
        </p:spPr>
        <p:txBody>
          <a:bodyPr/>
          <a:lstStyle/>
          <a:p>
            <a:endParaRPr lang="en-US"/>
          </a:p>
        </p:txBody>
      </p:sp>
      <p:sp>
        <p:nvSpPr>
          <p:cNvPr id="22" name="Text 20"/>
          <p:cNvSpPr/>
          <p:nvPr/>
        </p:nvSpPr>
        <p:spPr>
          <a:xfrm>
            <a:off x="4978298" y="3593592"/>
            <a:ext cx="2600858" cy="320040"/>
          </a:xfrm>
          <a:prstGeom prst="rect">
            <a:avLst/>
          </a:prstGeom>
          <a:noFill/>
          <a:ln/>
        </p:spPr>
        <p:txBody>
          <a:bodyPr wrap="square" lIns="0" tIns="0" rIns="0" bIns="0" rtlCol="0" anchor="ctr"/>
          <a:lstStyle/>
          <a:p>
            <a:pPr marL="0" indent="0">
              <a:buNone/>
            </a:pPr>
            <a:r>
              <a:rPr lang="en-US" sz="1550" b="1" dirty="0">
                <a:solidFill>
                  <a:srgbClr val="16202F"/>
                </a:solidFill>
                <a:latin typeface="Cambria" pitchFamily="34" charset="0"/>
                <a:ea typeface="Cambria" pitchFamily="34" charset="-122"/>
                <a:cs typeface="Cambria" pitchFamily="34" charset="-120"/>
              </a:rPr>
              <a:t>RF Predictive Max Sharpe</a:t>
            </a:r>
            <a:endParaRPr lang="en-US" sz="1550" dirty="0"/>
          </a:p>
        </p:txBody>
      </p:sp>
      <p:sp>
        <p:nvSpPr>
          <p:cNvPr id="23" name="Text 21"/>
          <p:cNvSpPr/>
          <p:nvPr/>
        </p:nvSpPr>
        <p:spPr>
          <a:xfrm>
            <a:off x="4703978" y="3995928"/>
            <a:ext cx="2783738" cy="548640"/>
          </a:xfrm>
          <a:prstGeom prst="rect">
            <a:avLst/>
          </a:prstGeom>
          <a:noFill/>
          <a:ln/>
        </p:spPr>
        <p:txBody>
          <a:bodyPr wrap="square" lIns="0" tIns="0" rIns="0" bIns="0" rtlCol="0" anchor="ctr"/>
          <a:lstStyle/>
          <a:p>
            <a:pPr marL="0" indent="0">
              <a:lnSpc>
                <a:spcPts val="1800"/>
              </a:lnSpc>
              <a:buNone/>
            </a:pPr>
            <a:r>
              <a:rPr lang="en-US" sz="1250" dirty="0">
                <a:solidFill>
                  <a:srgbClr val="5D6E85"/>
                </a:solidFill>
                <a:latin typeface="Calibri" pitchFamily="34" charset="0"/>
                <a:ea typeface="Calibri" pitchFamily="34" charset="-122"/>
                <a:cs typeface="Calibri" pitchFamily="34" charset="-120"/>
              </a:rPr>
              <a:t>Max-Sharpe on the RF-predicted covariance matrix.</a:t>
            </a:r>
            <a:endParaRPr lang="en-US" sz="1250" dirty="0"/>
          </a:p>
        </p:txBody>
      </p:sp>
      <p:sp>
        <p:nvSpPr>
          <p:cNvPr id="24" name="Shape 22"/>
          <p:cNvSpPr/>
          <p:nvPr/>
        </p:nvSpPr>
        <p:spPr>
          <a:xfrm>
            <a:off x="8082077" y="3337560"/>
            <a:ext cx="3423818" cy="1371600"/>
          </a:xfrm>
          <a:prstGeom prst="roundRect">
            <a:avLst>
              <a:gd name="adj" fmla="val 5333"/>
            </a:avLst>
          </a:prstGeom>
          <a:solidFill>
            <a:srgbClr val="F2F5F9"/>
          </a:solidFill>
          <a:ln w="12700">
            <a:solidFill>
              <a:srgbClr val="333333"/>
            </a:solidFill>
            <a:prstDash val="solid"/>
          </a:ln>
        </p:spPr>
        <p:txBody>
          <a:bodyPr/>
          <a:lstStyle/>
          <a:p>
            <a:endParaRPr lang="en-US"/>
          </a:p>
        </p:txBody>
      </p:sp>
      <p:sp>
        <p:nvSpPr>
          <p:cNvPr id="25" name="Shape 23"/>
          <p:cNvSpPr/>
          <p:nvPr/>
        </p:nvSpPr>
        <p:spPr>
          <a:xfrm>
            <a:off x="8402117" y="3657600"/>
            <a:ext cx="182880" cy="182880"/>
          </a:xfrm>
          <a:prstGeom prst="ellipse">
            <a:avLst/>
          </a:prstGeom>
          <a:solidFill>
            <a:srgbClr val="E8A33D"/>
          </a:solidFill>
          <a:ln w="12700">
            <a:solidFill>
              <a:srgbClr val="333333"/>
            </a:solidFill>
            <a:prstDash val="solid"/>
          </a:ln>
        </p:spPr>
        <p:txBody>
          <a:bodyPr/>
          <a:lstStyle/>
          <a:p>
            <a:endParaRPr lang="en-US"/>
          </a:p>
        </p:txBody>
      </p:sp>
      <p:sp>
        <p:nvSpPr>
          <p:cNvPr id="26" name="Text 24"/>
          <p:cNvSpPr/>
          <p:nvPr/>
        </p:nvSpPr>
        <p:spPr>
          <a:xfrm>
            <a:off x="8676437" y="3593592"/>
            <a:ext cx="2600858" cy="320040"/>
          </a:xfrm>
          <a:prstGeom prst="rect">
            <a:avLst/>
          </a:prstGeom>
          <a:noFill/>
          <a:ln/>
        </p:spPr>
        <p:txBody>
          <a:bodyPr wrap="square" lIns="0" tIns="0" rIns="0" bIns="0" rtlCol="0" anchor="ctr"/>
          <a:lstStyle/>
          <a:p>
            <a:pPr marL="0" indent="0">
              <a:buNone/>
            </a:pPr>
            <a:r>
              <a:rPr lang="en-US" sz="1550" b="1" dirty="0">
                <a:solidFill>
                  <a:srgbClr val="16202F"/>
                </a:solidFill>
                <a:latin typeface="Cambria" pitchFamily="34" charset="0"/>
                <a:ea typeface="Cambria" pitchFamily="34" charset="-122"/>
                <a:cs typeface="Cambria" pitchFamily="34" charset="-120"/>
              </a:rPr>
              <a:t>SPY Benchmark</a:t>
            </a:r>
            <a:endParaRPr lang="en-US" sz="1550" dirty="0"/>
          </a:p>
        </p:txBody>
      </p:sp>
      <p:sp>
        <p:nvSpPr>
          <p:cNvPr id="27" name="Text 25"/>
          <p:cNvSpPr/>
          <p:nvPr/>
        </p:nvSpPr>
        <p:spPr>
          <a:xfrm>
            <a:off x="8402117" y="3995928"/>
            <a:ext cx="2783738" cy="548640"/>
          </a:xfrm>
          <a:prstGeom prst="rect">
            <a:avLst/>
          </a:prstGeom>
          <a:noFill/>
          <a:ln/>
        </p:spPr>
        <p:txBody>
          <a:bodyPr wrap="square" lIns="0" tIns="0" rIns="0" bIns="0" rtlCol="0" anchor="ctr"/>
          <a:lstStyle/>
          <a:p>
            <a:pPr marL="0" indent="0">
              <a:lnSpc>
                <a:spcPts val="1800"/>
              </a:lnSpc>
              <a:buNone/>
            </a:pPr>
            <a:r>
              <a:rPr lang="en-US" sz="1250" dirty="0">
                <a:solidFill>
                  <a:srgbClr val="5D6E85"/>
                </a:solidFill>
                <a:latin typeface="Calibri" pitchFamily="34" charset="0"/>
                <a:ea typeface="Calibri" pitchFamily="34" charset="-122"/>
                <a:cs typeface="Calibri" pitchFamily="34" charset="-120"/>
              </a:rPr>
              <a:t>Buy-and-hold the S&amp;P 500 ETF.</a:t>
            </a:r>
            <a:endParaRPr lang="en-US" sz="1250" dirty="0"/>
          </a:p>
        </p:txBody>
      </p:sp>
      <p:sp>
        <p:nvSpPr>
          <p:cNvPr id="28" name="Text 26"/>
          <p:cNvSpPr/>
          <p:nvPr/>
        </p:nvSpPr>
        <p:spPr>
          <a:xfrm>
            <a:off x="685800" y="4892040"/>
            <a:ext cx="10820095" cy="777240"/>
          </a:xfrm>
          <a:prstGeom prst="rect">
            <a:avLst/>
          </a:prstGeom>
          <a:noFill/>
          <a:ln/>
        </p:spPr>
        <p:txBody>
          <a:bodyPr wrap="square" lIns="0" tIns="0" rIns="0" bIns="0" rtlCol="0" anchor="ctr"/>
          <a:lstStyle/>
          <a:p>
            <a:pPr marL="0" indent="0">
              <a:lnSpc>
                <a:spcPts val="2100"/>
              </a:lnSpc>
              <a:buNone/>
            </a:pPr>
            <a:r>
              <a:rPr lang="en-US" sz="1350" dirty="0">
                <a:solidFill>
                  <a:srgbClr val="5D6E85"/>
                </a:solidFill>
                <a:latin typeface="Calibri" pitchFamily="34" charset="0"/>
                <a:ea typeface="Calibri" pitchFamily="34" charset="-122"/>
                <a:cs typeface="Calibri" pitchFamily="34" charset="-120"/>
              </a:rPr>
              <a:t>Constraints: long-only, fully invested, 25% cap per asset. Solved with SciPy SLSQP over expected returns and the covariance matrix — the only thing that changes between historical and predictive variants is where the risk estimate comes from.</a:t>
            </a:r>
            <a:endParaRPr lang="en-US" sz="1350" dirty="0"/>
          </a:p>
        </p:txBody>
      </p:sp>
      <p:sp>
        <p:nvSpPr>
          <p:cNvPr id="29" name="Text 27"/>
          <p:cNvSpPr/>
          <p:nvPr/>
        </p:nvSpPr>
        <p:spPr>
          <a:xfrm>
            <a:off x="685800" y="6355080"/>
            <a:ext cx="5486400" cy="274320"/>
          </a:xfrm>
          <a:prstGeom prst="rect">
            <a:avLst/>
          </a:prstGeom>
          <a:noFill/>
          <a:ln/>
        </p:spPr>
        <p:txBody>
          <a:bodyPr wrap="square" lIns="0" tIns="0" rIns="0" bIns="0" rtlCol="0" anchor="ctr"/>
          <a:lstStyle/>
          <a:p>
            <a:pPr marL="0" indent="0">
              <a:buNone/>
            </a:pPr>
            <a:r>
              <a:rPr lang="en-US" sz="950" dirty="0">
                <a:solidFill>
                  <a:srgbClr val="9AA7B8"/>
                </a:solidFill>
                <a:latin typeface="Calibri" pitchFamily="34" charset="0"/>
                <a:ea typeface="Calibri" pitchFamily="34" charset="-122"/>
                <a:cs typeface="Calibri" pitchFamily="34" charset="-120"/>
              </a:rPr>
              <a:t>FinSight Analytics  ·  INFO 442 Group 2</a:t>
            </a:r>
            <a:endParaRPr lang="en-US" sz="950" dirty="0"/>
          </a:p>
        </p:txBody>
      </p:sp>
      <p:sp>
        <p:nvSpPr>
          <p:cNvPr id="30" name="Text 28"/>
          <p:cNvSpPr/>
          <p:nvPr/>
        </p:nvSpPr>
        <p:spPr>
          <a:xfrm>
            <a:off x="10591495" y="6355080"/>
            <a:ext cx="914400" cy="274320"/>
          </a:xfrm>
          <a:prstGeom prst="rect">
            <a:avLst/>
          </a:prstGeom>
          <a:noFill/>
          <a:ln/>
        </p:spPr>
        <p:txBody>
          <a:bodyPr wrap="square" lIns="0" tIns="0" rIns="0" bIns="0" rtlCol="0" anchor="ctr"/>
          <a:lstStyle/>
          <a:p>
            <a:pPr marL="0" indent="0" algn="r">
              <a:buNone/>
            </a:pPr>
            <a:r>
              <a:rPr lang="en-US" sz="950" dirty="0">
                <a:solidFill>
                  <a:srgbClr val="9AA7B8"/>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384048"/>
            <a:ext cx="8229600" cy="256032"/>
          </a:xfrm>
          <a:prstGeom prst="rect">
            <a:avLst/>
          </a:prstGeom>
          <a:noFill/>
          <a:ln/>
        </p:spPr>
        <p:txBody>
          <a:bodyPr wrap="square" lIns="0" tIns="0" rIns="0" bIns="0" rtlCol="0" anchor="ctr"/>
          <a:lstStyle/>
          <a:p>
            <a:pPr marL="0" indent="0">
              <a:buNone/>
            </a:pPr>
            <a:r>
              <a:rPr lang="en-US" sz="1200" b="1" kern="0" spc="200" dirty="0">
                <a:solidFill>
                  <a:srgbClr val="00A896"/>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685800" y="658368"/>
            <a:ext cx="10820095" cy="640080"/>
          </a:xfrm>
          <a:prstGeom prst="rect">
            <a:avLst/>
          </a:prstGeom>
          <a:noFill/>
          <a:ln/>
        </p:spPr>
        <p:txBody>
          <a:bodyPr wrap="square" lIns="0" tIns="0" rIns="0" bIns="0" rtlCol="0" anchor="ctr"/>
          <a:lstStyle/>
          <a:p>
            <a:pPr marL="0" indent="0">
              <a:buNone/>
            </a:pPr>
            <a:r>
              <a:rPr lang="en-US" sz="3400" b="1" dirty="0">
                <a:solidFill>
                  <a:srgbClr val="16202F"/>
                </a:solidFill>
                <a:latin typeface="Cambria" pitchFamily="34" charset="0"/>
                <a:ea typeface="Cambria" pitchFamily="34" charset="-122"/>
                <a:cs typeface="Cambria" pitchFamily="34" charset="-120"/>
              </a:rPr>
              <a:t>Backtest results, 2024–2025 test window</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1691640"/>
          <a:ext cx="10820095" cy="914400"/>
        </p:xfrm>
        <a:graphic>
          <a:graphicData uri="http://schemas.openxmlformats.org/drawingml/2006/table">
            <a:tbl>
              <a:tblPr/>
              <a:tblGrid>
                <a:gridCol w="34747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536192">
                  <a:extLst>
                    <a:ext uri="{9D8B030D-6E8A-4147-A177-3AD203B41FA5}">
                      <a16:colId xmlns:a16="http://schemas.microsoft.com/office/drawing/2014/main" val="20005"/>
                    </a:ext>
                  </a:extLst>
                </a:gridCol>
              </a:tblGrid>
              <a:tr h="384048">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Strategy</a:t>
                      </a:r>
                      <a:endParaRPr lang="en-US" sz="125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E1F3C"/>
                    </a:solidFill>
                  </a:tcPr>
                </a:tc>
                <a:tc>
                  <a:txBody>
                    <a:bodyPr/>
                    <a:lstStyle/>
                    <a:p>
                      <a:pPr marL="0" indent="0" algn="r">
                        <a:buNone/>
                      </a:pPr>
                      <a:r>
                        <a:rPr lang="en-US" sz="1250" b="1" dirty="0">
                          <a:solidFill>
                            <a:srgbClr val="FFFFFF"/>
                          </a:solidFill>
                          <a:latin typeface="Calibri" pitchFamily="34" charset="0"/>
                          <a:ea typeface="Calibri" pitchFamily="34" charset="-122"/>
                          <a:cs typeface="Calibri" pitchFamily="34" charset="-120"/>
                        </a:rPr>
                        <a:t>Ann. return</a:t>
                      </a:r>
                      <a:endParaRPr lang="en-US" sz="125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E1F3C"/>
                    </a:solidFill>
                  </a:tcPr>
                </a:tc>
                <a:tc>
                  <a:txBody>
                    <a:bodyPr/>
                    <a:lstStyle/>
                    <a:p>
                      <a:pPr marL="0" indent="0" algn="r">
                        <a:buNone/>
                      </a:pPr>
                      <a:r>
                        <a:rPr lang="en-US" sz="1250" b="1" dirty="0">
                          <a:solidFill>
                            <a:srgbClr val="FFFFFF"/>
                          </a:solidFill>
                          <a:latin typeface="Calibri" pitchFamily="34" charset="0"/>
                          <a:ea typeface="Calibri" pitchFamily="34" charset="-122"/>
                          <a:cs typeface="Calibri" pitchFamily="34" charset="-120"/>
                        </a:rPr>
                        <a:t>Ann. vol</a:t>
                      </a:r>
                      <a:endParaRPr lang="en-US" sz="125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E1F3C"/>
                    </a:solidFill>
                  </a:tcPr>
                </a:tc>
                <a:tc>
                  <a:txBody>
                    <a:bodyPr/>
                    <a:lstStyle/>
                    <a:p>
                      <a:pPr marL="0" indent="0" algn="r">
                        <a:buNone/>
                      </a:pPr>
                      <a:r>
                        <a:rPr lang="en-US" sz="1250" b="1" dirty="0">
                          <a:solidFill>
                            <a:srgbClr val="FFFFFF"/>
                          </a:solidFill>
                          <a:latin typeface="Calibri" pitchFamily="34" charset="0"/>
                          <a:ea typeface="Calibri" pitchFamily="34" charset="-122"/>
                          <a:cs typeface="Calibri" pitchFamily="34" charset="-120"/>
                        </a:rPr>
                        <a:t>Sharpe</a:t>
                      </a:r>
                      <a:endParaRPr lang="en-US" sz="125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E1F3C"/>
                    </a:solidFill>
                  </a:tcPr>
                </a:tc>
                <a:tc>
                  <a:txBody>
                    <a:bodyPr/>
                    <a:lstStyle/>
                    <a:p>
                      <a:pPr marL="0" indent="0" algn="r">
                        <a:buNone/>
                      </a:pPr>
                      <a:r>
                        <a:rPr lang="en-US" sz="1250" b="1" dirty="0">
                          <a:solidFill>
                            <a:srgbClr val="FFFFFF"/>
                          </a:solidFill>
                          <a:latin typeface="Calibri" pitchFamily="34" charset="0"/>
                          <a:ea typeface="Calibri" pitchFamily="34" charset="-122"/>
                          <a:cs typeface="Calibri" pitchFamily="34" charset="-120"/>
                        </a:rPr>
                        <a:t>Max DD</a:t>
                      </a:r>
                      <a:endParaRPr lang="en-US" sz="125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E1F3C"/>
                    </a:solidFill>
                  </a:tcPr>
                </a:tc>
                <a:tc>
                  <a:txBody>
                    <a:bodyPr/>
                    <a:lstStyle/>
                    <a:p>
                      <a:pPr marL="0" indent="0" algn="r">
                        <a:buNone/>
                      </a:pPr>
                      <a:r>
                        <a:rPr lang="en-US" sz="1250" b="1" dirty="0">
                          <a:solidFill>
                            <a:srgbClr val="FFFFFF"/>
                          </a:solidFill>
                          <a:latin typeface="Calibri" pitchFamily="34" charset="0"/>
                          <a:ea typeface="Calibri" pitchFamily="34" charset="-122"/>
                          <a:cs typeface="Calibri" pitchFamily="34" charset="-120"/>
                        </a:rPr>
                        <a:t>Cumulative</a:t>
                      </a:r>
                      <a:endParaRPr lang="en-US" sz="125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E1F3C"/>
                    </a:solidFill>
                  </a:tcPr>
                </a:tc>
                <a:extLst>
                  <a:ext uri="{0D108BD9-81ED-4DB2-BD59-A6C34878D82A}">
                    <a16:rowId xmlns:a16="http://schemas.microsoft.com/office/drawing/2014/main" val="10000"/>
                  </a:ext>
                </a:extLst>
              </a:tr>
              <a:tr h="384048">
                <a:tc>
                  <a:txBody>
                    <a:bodyPr/>
                    <a:lstStyle/>
                    <a:p>
                      <a:pPr marL="0" indent="0" algn="l">
                        <a:buNone/>
                      </a:pPr>
                      <a:r>
                        <a:rPr lang="en-US" sz="1300" b="1" dirty="0">
                          <a:solidFill>
                            <a:srgbClr val="16202F"/>
                          </a:solidFill>
                          <a:latin typeface="Calibri" pitchFamily="34" charset="0"/>
                          <a:ea typeface="Calibri" pitchFamily="34" charset="-122"/>
                          <a:cs typeface="Calibri" pitchFamily="34" charset="-120"/>
                        </a:rPr>
                        <a:t>Historical Max Sharpe</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2F5F9"/>
                    </a:solidFill>
                  </a:tcPr>
                </a:tc>
                <a:tc>
                  <a:txBody>
                    <a:bodyPr/>
                    <a:lstStyle/>
                    <a:p>
                      <a:pPr marL="0" indent="0" algn="r">
                        <a:buNone/>
                      </a:pPr>
                      <a:r>
                        <a:rPr lang="en-US" sz="1300" b="1" dirty="0">
                          <a:solidFill>
                            <a:srgbClr val="16202F"/>
                          </a:solidFill>
                          <a:latin typeface="Calibri" pitchFamily="34" charset="0"/>
                          <a:ea typeface="Calibri" pitchFamily="34" charset="-122"/>
                          <a:cs typeface="Calibri" pitchFamily="34" charset="-120"/>
                        </a:rPr>
                        <a:t>26.7%</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2F5F9"/>
                    </a:solidFill>
                  </a:tcPr>
                </a:tc>
                <a:tc>
                  <a:txBody>
                    <a:bodyPr/>
                    <a:lstStyle/>
                    <a:p>
                      <a:pPr marL="0" indent="0" algn="r">
                        <a:buNone/>
                      </a:pPr>
                      <a:r>
                        <a:rPr lang="en-US" sz="1300" b="1" dirty="0">
                          <a:solidFill>
                            <a:srgbClr val="16202F"/>
                          </a:solidFill>
                          <a:latin typeface="Calibri" pitchFamily="34" charset="0"/>
                          <a:ea typeface="Calibri" pitchFamily="34" charset="-122"/>
                          <a:cs typeface="Calibri" pitchFamily="34" charset="-120"/>
                        </a:rPr>
                        <a:t>13.7%</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2F5F9"/>
                    </a:solidFill>
                  </a:tcPr>
                </a:tc>
                <a:tc>
                  <a:txBody>
                    <a:bodyPr/>
                    <a:lstStyle/>
                    <a:p>
                      <a:pPr marL="0" indent="0" algn="r">
                        <a:buNone/>
                      </a:pPr>
                      <a:r>
                        <a:rPr lang="en-US" sz="1300" b="1" dirty="0">
                          <a:solidFill>
                            <a:srgbClr val="16202F"/>
                          </a:solidFill>
                          <a:latin typeface="Calibri" pitchFamily="34" charset="0"/>
                          <a:ea typeface="Calibri" pitchFamily="34" charset="-122"/>
                          <a:cs typeface="Calibri" pitchFamily="34" charset="-120"/>
                        </a:rPr>
                        <a:t>1.60</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2F5F9"/>
                    </a:solidFill>
                  </a:tcPr>
                </a:tc>
                <a:tc>
                  <a:txBody>
                    <a:bodyPr/>
                    <a:lstStyle/>
                    <a:p>
                      <a:pPr marL="0" indent="0" algn="r">
                        <a:buNone/>
                      </a:pPr>
                      <a:r>
                        <a:rPr lang="en-US" sz="1300" b="1" dirty="0">
                          <a:solidFill>
                            <a:srgbClr val="16202F"/>
                          </a:solidFill>
                          <a:latin typeface="Calibri" pitchFamily="34" charset="0"/>
                          <a:ea typeface="Calibri" pitchFamily="34" charset="-122"/>
                          <a:cs typeface="Calibri" pitchFamily="34" charset="-120"/>
                        </a:rPr>
                        <a:t>-12.2%</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2F5F9"/>
                    </a:solidFill>
                  </a:tcPr>
                </a:tc>
                <a:tc>
                  <a:txBody>
                    <a:bodyPr/>
                    <a:lstStyle/>
                    <a:p>
                      <a:pPr marL="0" indent="0" algn="r">
                        <a:buNone/>
                      </a:pPr>
                      <a:r>
                        <a:rPr lang="en-US" sz="1300" b="1" dirty="0">
                          <a:solidFill>
                            <a:srgbClr val="16202F"/>
                          </a:solidFill>
                          <a:latin typeface="Calibri" pitchFamily="34" charset="0"/>
                          <a:ea typeface="Calibri" pitchFamily="34" charset="-122"/>
                          <a:cs typeface="Calibri" pitchFamily="34" charset="-120"/>
                        </a:rPr>
                        <a:t>66.8%</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2F5F9"/>
                    </a:solidFill>
                  </a:tcPr>
                </a:tc>
                <a:extLst>
                  <a:ext uri="{0D108BD9-81ED-4DB2-BD59-A6C34878D82A}">
                    <a16:rowId xmlns:a16="http://schemas.microsoft.com/office/drawing/2014/main" val="10001"/>
                  </a:ext>
                </a:extLst>
              </a:tr>
              <a:tr h="384048">
                <a:tc>
                  <a:txBody>
                    <a:bodyPr/>
                    <a:lstStyle/>
                    <a:p>
                      <a:pPr marL="0" indent="0" algn="l">
                        <a:buNone/>
                      </a:pPr>
                      <a:r>
                        <a:rPr lang="en-US" sz="1300" b="1" dirty="0">
                          <a:solidFill>
                            <a:srgbClr val="16202F"/>
                          </a:solidFill>
                          <a:latin typeface="Calibri" pitchFamily="34" charset="0"/>
                          <a:ea typeface="Calibri" pitchFamily="34" charset="-122"/>
                          <a:cs typeface="Calibri" pitchFamily="34" charset="-120"/>
                        </a:rPr>
                        <a:t>RF Predictive Max Sharpe</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300" b="1" dirty="0">
                          <a:solidFill>
                            <a:srgbClr val="16202F"/>
                          </a:solidFill>
                          <a:latin typeface="Calibri" pitchFamily="34" charset="0"/>
                          <a:ea typeface="Calibri" pitchFamily="34" charset="-122"/>
                          <a:cs typeface="Calibri" pitchFamily="34" charset="-120"/>
                        </a:rPr>
                        <a:t>27.1%</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300" b="1" dirty="0">
                          <a:solidFill>
                            <a:srgbClr val="16202F"/>
                          </a:solidFill>
                          <a:latin typeface="Calibri" pitchFamily="34" charset="0"/>
                          <a:ea typeface="Calibri" pitchFamily="34" charset="-122"/>
                          <a:cs typeface="Calibri" pitchFamily="34" charset="-120"/>
                        </a:rPr>
                        <a:t>15.3%</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300" b="1" dirty="0">
                          <a:solidFill>
                            <a:srgbClr val="16202F"/>
                          </a:solidFill>
                          <a:latin typeface="Calibri" pitchFamily="34" charset="0"/>
                          <a:ea typeface="Calibri" pitchFamily="34" charset="-122"/>
                          <a:cs typeface="Calibri" pitchFamily="34" charset="-120"/>
                        </a:rPr>
                        <a:t>1.47</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300" b="1" dirty="0">
                          <a:solidFill>
                            <a:srgbClr val="16202F"/>
                          </a:solidFill>
                          <a:latin typeface="Calibri" pitchFamily="34" charset="0"/>
                          <a:ea typeface="Calibri" pitchFamily="34" charset="-122"/>
                          <a:cs typeface="Calibri" pitchFamily="34" charset="-120"/>
                        </a:rPr>
                        <a:t>-15.4%</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300" b="1" dirty="0">
                          <a:solidFill>
                            <a:srgbClr val="16202F"/>
                          </a:solidFill>
                          <a:latin typeface="Calibri" pitchFamily="34" charset="0"/>
                          <a:ea typeface="Calibri" pitchFamily="34" charset="-122"/>
                          <a:cs typeface="Calibri" pitchFamily="34" charset="-120"/>
                        </a:rPr>
                        <a:t>67.5%</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lgn="l">
                        <a:buNone/>
                      </a:pPr>
                      <a:r>
                        <a:rPr lang="en-US" sz="1300" dirty="0">
                          <a:solidFill>
                            <a:srgbClr val="5D6E85"/>
                          </a:solidFill>
                          <a:latin typeface="Calibri" pitchFamily="34" charset="0"/>
                          <a:ea typeface="Calibri" pitchFamily="34" charset="-122"/>
                          <a:cs typeface="Calibri" pitchFamily="34" charset="-120"/>
                        </a:rPr>
                        <a:t>Historical Min Vol</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2F5F9"/>
                    </a:solidFill>
                  </a:tcPr>
                </a:tc>
                <a:tc>
                  <a:txBody>
                    <a:bodyPr/>
                    <a:lstStyle/>
                    <a:p>
                      <a:pPr marL="0" indent="0" algn="r">
                        <a:buNone/>
                      </a:pPr>
                      <a:r>
                        <a:rPr lang="en-US" sz="1300" dirty="0">
                          <a:solidFill>
                            <a:srgbClr val="5D6E85"/>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2F5F9"/>
                    </a:solidFill>
                  </a:tcPr>
                </a:tc>
                <a:tc>
                  <a:txBody>
                    <a:bodyPr/>
                    <a:lstStyle/>
                    <a:p>
                      <a:pPr marL="0" indent="0" algn="r">
                        <a:buNone/>
                      </a:pPr>
                      <a:r>
                        <a:rPr lang="en-US" sz="1300" dirty="0">
                          <a:solidFill>
                            <a:srgbClr val="5D6E85"/>
                          </a:solidFill>
                          <a:latin typeface="Calibri" pitchFamily="34" charset="0"/>
                          <a:ea typeface="Calibri" pitchFamily="34" charset="-122"/>
                          <a:cs typeface="Calibri" pitchFamily="34" charset="-120"/>
                        </a:rPr>
                        <a:t>7.6%</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2F5F9"/>
                    </a:solidFill>
                  </a:tcPr>
                </a:tc>
                <a:tc>
                  <a:txBody>
                    <a:bodyPr/>
                    <a:lstStyle/>
                    <a:p>
                      <a:pPr marL="0" indent="0" algn="r">
                        <a:buNone/>
                      </a:pPr>
                      <a:r>
                        <a:rPr lang="en-US" sz="1300" dirty="0">
                          <a:solidFill>
                            <a:srgbClr val="5D6E85"/>
                          </a:solidFill>
                          <a:latin typeface="Calibri" pitchFamily="34" charset="0"/>
                          <a:ea typeface="Calibri" pitchFamily="34" charset="-122"/>
                          <a:cs typeface="Calibri" pitchFamily="34" charset="-120"/>
                        </a:rPr>
                        <a:t>1.38</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2F5F9"/>
                    </a:solidFill>
                  </a:tcPr>
                </a:tc>
                <a:tc>
                  <a:txBody>
                    <a:bodyPr/>
                    <a:lstStyle/>
                    <a:p>
                      <a:pPr marL="0" indent="0" algn="r">
                        <a:buNone/>
                      </a:pPr>
                      <a:r>
                        <a:rPr lang="en-US" sz="1300" dirty="0">
                          <a:solidFill>
                            <a:srgbClr val="5D6E85"/>
                          </a:solidFill>
                          <a:latin typeface="Calibri" pitchFamily="34" charset="0"/>
                          <a:ea typeface="Calibri" pitchFamily="34" charset="-122"/>
                          <a:cs typeface="Calibri" pitchFamily="34" charset="-120"/>
                        </a:rPr>
                        <a:t>-6.2%</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2F5F9"/>
                    </a:solidFill>
                  </a:tcPr>
                </a:tc>
                <a:tc>
                  <a:txBody>
                    <a:bodyPr/>
                    <a:lstStyle/>
                    <a:p>
                      <a:pPr marL="0" indent="0" algn="r">
                        <a:buNone/>
                      </a:pPr>
                      <a:r>
                        <a:rPr lang="en-US" sz="1300" dirty="0">
                          <a:solidFill>
                            <a:srgbClr val="5D6E85"/>
                          </a:solidFill>
                          <a:latin typeface="Calibri" pitchFamily="34" charset="0"/>
                          <a:ea typeface="Calibri" pitchFamily="34" charset="-122"/>
                          <a:cs typeface="Calibri" pitchFamily="34" charset="-120"/>
                        </a:rPr>
                        <a:t>34.5%</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2F5F9"/>
                    </a:solidFill>
                  </a:tcPr>
                </a:tc>
                <a:extLst>
                  <a:ext uri="{0D108BD9-81ED-4DB2-BD59-A6C34878D82A}">
                    <a16:rowId xmlns:a16="http://schemas.microsoft.com/office/drawing/2014/main" val="10003"/>
                  </a:ext>
                </a:extLst>
              </a:tr>
              <a:tr h="384048">
                <a:tc>
                  <a:txBody>
                    <a:bodyPr/>
                    <a:lstStyle/>
                    <a:p>
                      <a:pPr marL="0" indent="0" algn="l">
                        <a:buNone/>
                      </a:pPr>
                      <a:r>
                        <a:rPr lang="en-US" sz="1300" dirty="0">
                          <a:solidFill>
                            <a:srgbClr val="5D6E85"/>
                          </a:solidFill>
                          <a:latin typeface="Calibri" pitchFamily="34" charset="0"/>
                          <a:ea typeface="Calibri" pitchFamily="34" charset="-122"/>
                          <a:cs typeface="Calibri" pitchFamily="34" charset="-120"/>
                        </a:rPr>
                        <a:t>Equal Weight</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300" dirty="0">
                          <a:solidFill>
                            <a:srgbClr val="5D6E85"/>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300" dirty="0">
                          <a:solidFill>
                            <a:srgbClr val="5D6E85"/>
                          </a:solidFill>
                          <a:latin typeface="Calibri" pitchFamily="34" charset="0"/>
                          <a:ea typeface="Calibri" pitchFamily="34" charset="-122"/>
                          <a:cs typeface="Calibri" pitchFamily="34" charset="-120"/>
                        </a:rPr>
                        <a:t>10.5%</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300" dirty="0">
                          <a:solidFill>
                            <a:srgbClr val="5D6E85"/>
                          </a:solidFill>
                          <a:latin typeface="Calibri" pitchFamily="34" charset="0"/>
                          <a:ea typeface="Calibri" pitchFamily="34" charset="-122"/>
                          <a:cs typeface="Calibri" pitchFamily="34" charset="-120"/>
                        </a:rPr>
                        <a:t>1.20</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300" dirty="0">
                          <a:solidFill>
                            <a:srgbClr val="5D6E85"/>
                          </a:solidFill>
                          <a:latin typeface="Calibri" pitchFamily="34" charset="0"/>
                          <a:ea typeface="Calibri" pitchFamily="34" charset="-122"/>
                          <a:cs typeface="Calibri" pitchFamily="34" charset="-120"/>
                        </a:rPr>
                        <a:t>-10.6%</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300" dirty="0">
                          <a:solidFill>
                            <a:srgbClr val="5D6E85"/>
                          </a:solidFill>
                          <a:latin typeface="Calibri" pitchFamily="34" charset="0"/>
                          <a:ea typeface="Calibri" pitchFamily="34" charset="-122"/>
                          <a:cs typeface="Calibri" pitchFamily="34" charset="-120"/>
                        </a:rPr>
                        <a:t>39.7%</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lgn="l">
                        <a:buNone/>
                      </a:pPr>
                      <a:r>
                        <a:rPr lang="en-US" sz="1300" dirty="0">
                          <a:solidFill>
                            <a:srgbClr val="5D6E85"/>
                          </a:solidFill>
                          <a:latin typeface="Calibri" pitchFamily="34" charset="0"/>
                          <a:ea typeface="Calibri" pitchFamily="34" charset="-122"/>
                          <a:cs typeface="Calibri" pitchFamily="34" charset="-120"/>
                        </a:rPr>
                        <a:t>RF Predictive Min Vol</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2F5F9"/>
                    </a:solidFill>
                  </a:tcPr>
                </a:tc>
                <a:tc>
                  <a:txBody>
                    <a:bodyPr/>
                    <a:lstStyle/>
                    <a:p>
                      <a:pPr marL="0" indent="0" algn="r">
                        <a:buNone/>
                      </a:pPr>
                      <a:r>
                        <a:rPr lang="en-US" sz="1300" dirty="0">
                          <a:solidFill>
                            <a:srgbClr val="5D6E85"/>
                          </a:solidFill>
                          <a:latin typeface="Calibri" pitchFamily="34" charset="0"/>
                          <a:ea typeface="Calibri" pitchFamily="34" charset="-122"/>
                          <a:cs typeface="Calibri" pitchFamily="34" charset="-120"/>
                        </a:rPr>
                        <a:t>13.0%</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2F5F9"/>
                    </a:solidFill>
                  </a:tcPr>
                </a:tc>
                <a:tc>
                  <a:txBody>
                    <a:bodyPr/>
                    <a:lstStyle/>
                    <a:p>
                      <a:pPr marL="0" indent="0" algn="r">
                        <a:buNone/>
                      </a:pPr>
                      <a:r>
                        <a:rPr lang="en-US" sz="1300" dirty="0">
                          <a:solidFill>
                            <a:srgbClr val="5D6E85"/>
                          </a:solidFill>
                          <a:latin typeface="Calibri" pitchFamily="34" charset="0"/>
                          <a:ea typeface="Calibri" pitchFamily="34" charset="-122"/>
                          <a:cs typeface="Calibri" pitchFamily="34" charset="-120"/>
                        </a:rPr>
                        <a:t>7.5%</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2F5F9"/>
                    </a:solidFill>
                  </a:tcPr>
                </a:tc>
                <a:tc>
                  <a:txBody>
                    <a:bodyPr/>
                    <a:lstStyle/>
                    <a:p>
                      <a:pPr marL="0" indent="0" algn="r">
                        <a:buNone/>
                      </a:pPr>
                      <a:r>
                        <a:rPr lang="en-US" sz="1300" dirty="0">
                          <a:solidFill>
                            <a:srgbClr val="5D6E85"/>
                          </a:solidFill>
                          <a:latin typeface="Calibri" pitchFamily="34" charset="0"/>
                          <a:ea typeface="Calibri" pitchFamily="34" charset="-122"/>
                          <a:cs typeface="Calibri" pitchFamily="34" charset="-120"/>
                        </a:rPr>
                        <a:t>1.10</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2F5F9"/>
                    </a:solidFill>
                  </a:tcPr>
                </a:tc>
                <a:tc>
                  <a:txBody>
                    <a:bodyPr/>
                    <a:lstStyle/>
                    <a:p>
                      <a:pPr marL="0" indent="0" algn="r">
                        <a:buNone/>
                      </a:pPr>
                      <a:r>
                        <a:rPr lang="en-US" sz="1300" dirty="0">
                          <a:solidFill>
                            <a:srgbClr val="5D6E85"/>
                          </a:solidFill>
                          <a:latin typeface="Calibri" pitchFamily="34" charset="0"/>
                          <a:ea typeface="Calibri" pitchFamily="34" charset="-122"/>
                          <a:cs typeface="Calibri" pitchFamily="34" charset="-120"/>
                        </a:rPr>
                        <a:t>-6.3%</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2F5F9"/>
                    </a:solidFill>
                  </a:tcPr>
                </a:tc>
                <a:tc>
                  <a:txBody>
                    <a:bodyPr/>
                    <a:lstStyle/>
                    <a:p>
                      <a:pPr marL="0" indent="0" algn="r">
                        <a:buNone/>
                      </a:pPr>
                      <a:r>
                        <a:rPr lang="en-US" sz="1300" dirty="0">
                          <a:solidFill>
                            <a:srgbClr val="5D6E85"/>
                          </a:solidFill>
                          <a:latin typeface="Calibri" pitchFamily="34" charset="0"/>
                          <a:ea typeface="Calibri" pitchFamily="34" charset="-122"/>
                          <a:cs typeface="Calibri" pitchFamily="34" charset="-120"/>
                        </a:rPr>
                        <a:t>28.7%</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2F5F9"/>
                    </a:solidFill>
                  </a:tcPr>
                </a:tc>
                <a:extLst>
                  <a:ext uri="{0D108BD9-81ED-4DB2-BD59-A6C34878D82A}">
                    <a16:rowId xmlns:a16="http://schemas.microsoft.com/office/drawing/2014/main" val="10005"/>
                  </a:ext>
                </a:extLst>
              </a:tr>
              <a:tr h="384048">
                <a:tc>
                  <a:txBody>
                    <a:bodyPr/>
                    <a:lstStyle/>
                    <a:p>
                      <a:pPr marL="0" indent="0" algn="l">
                        <a:buNone/>
                      </a:pPr>
                      <a:r>
                        <a:rPr lang="en-US" sz="1300" dirty="0">
                          <a:solidFill>
                            <a:srgbClr val="5D6E85"/>
                          </a:solidFill>
                          <a:latin typeface="Calibri" pitchFamily="34" charset="0"/>
                          <a:ea typeface="Calibri" pitchFamily="34" charset="-122"/>
                          <a:cs typeface="Calibri" pitchFamily="34" charset="-120"/>
                        </a:rPr>
                        <a:t>SPY Benchmark</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300" dirty="0">
                          <a:solidFill>
                            <a:srgbClr val="5D6E85"/>
                          </a:solidFill>
                          <a:latin typeface="Calibri" pitchFamily="34" charset="0"/>
                          <a:ea typeface="Calibri" pitchFamily="34" charset="-122"/>
                          <a:cs typeface="Calibri" pitchFamily="34" charset="-120"/>
                        </a:rPr>
                        <a:t>21.1%</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300" dirty="0">
                          <a:solidFill>
                            <a:srgbClr val="5D6E85"/>
                          </a:solidFill>
                          <a:latin typeface="Calibri" pitchFamily="34" charset="0"/>
                          <a:ea typeface="Calibri" pitchFamily="34" charset="-122"/>
                          <a:cs typeface="Calibri" pitchFamily="34" charset="-120"/>
                        </a:rPr>
                        <a:t>16.4%</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300" dirty="0">
                          <a:solidFill>
                            <a:srgbClr val="5D6E85"/>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300" dirty="0">
                          <a:solidFill>
                            <a:srgbClr val="5D6E85"/>
                          </a:solidFill>
                          <a:latin typeface="Calibri" pitchFamily="34" charset="0"/>
                          <a:ea typeface="Calibri" pitchFamily="34" charset="-122"/>
                          <a:cs typeface="Calibri" pitchFamily="34" charset="-120"/>
                        </a:rPr>
                        <a:t>-18.8%</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300" dirty="0">
                          <a:solidFill>
                            <a:srgbClr val="5D6E85"/>
                          </a:solidFill>
                          <a:latin typeface="Calibri" pitchFamily="34" charset="0"/>
                          <a:ea typeface="Calibri" pitchFamily="34" charset="-122"/>
                          <a:cs typeface="Calibri" pitchFamily="34" charset="-120"/>
                        </a:rPr>
                        <a:t>48.1%</a:t>
                      </a:r>
                      <a:endParaRPr lang="en-US" sz="1300" dirty="0">
                        <a:latin typeface="Calibri" charset="0"/>
                        <a:ea typeface="Calibri" charset="0"/>
                        <a:cs typeface="Calibri" charset="0"/>
                      </a:endParaRPr>
                    </a:p>
                  </a:txBody>
                  <a:tcPr marL="127000" marR="127000" marT="50800" marB="508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Shape 2"/>
          <p:cNvSpPr/>
          <p:nvPr/>
        </p:nvSpPr>
        <p:spPr>
          <a:xfrm>
            <a:off x="685800" y="4754880"/>
            <a:ext cx="5212080" cy="1234440"/>
          </a:xfrm>
          <a:prstGeom prst="roundRect">
            <a:avLst>
              <a:gd name="adj" fmla="val 5926"/>
            </a:avLst>
          </a:prstGeom>
          <a:solidFill>
            <a:srgbClr val="F2F5F9"/>
          </a:solidFill>
          <a:ln w="12700">
            <a:solidFill>
              <a:srgbClr val="F2F5F9"/>
            </a:solidFill>
            <a:prstDash val="solid"/>
          </a:ln>
        </p:spPr>
        <p:txBody>
          <a:bodyPr/>
          <a:lstStyle/>
          <a:p>
            <a:endParaRPr lang="en-US"/>
          </a:p>
        </p:txBody>
      </p:sp>
      <p:sp>
        <p:nvSpPr>
          <p:cNvPr id="6" name="Text 3"/>
          <p:cNvSpPr/>
          <p:nvPr/>
        </p:nvSpPr>
        <p:spPr>
          <a:xfrm>
            <a:off x="1005840" y="4956048"/>
            <a:ext cx="4572000" cy="256032"/>
          </a:xfrm>
          <a:prstGeom prst="rect">
            <a:avLst/>
          </a:prstGeom>
          <a:noFill/>
          <a:ln/>
        </p:spPr>
        <p:txBody>
          <a:bodyPr wrap="square" lIns="0" tIns="0" rIns="0" bIns="0" rtlCol="0" anchor="ctr"/>
          <a:lstStyle/>
          <a:p>
            <a:pPr marL="0" indent="0">
              <a:buNone/>
            </a:pPr>
            <a:r>
              <a:rPr lang="en-US" sz="1150" b="1" kern="0" spc="150" dirty="0">
                <a:solidFill>
                  <a:srgbClr val="00A896"/>
                </a:solidFill>
                <a:latin typeface="Calibri" pitchFamily="34" charset="0"/>
                <a:ea typeface="Calibri" pitchFamily="34" charset="-122"/>
                <a:cs typeface="Calibri" pitchFamily="34" charset="-120"/>
              </a:rPr>
              <a:t>Best risk-adjusted</a:t>
            </a:r>
            <a:endParaRPr lang="en-US" sz="1150" dirty="0"/>
          </a:p>
        </p:txBody>
      </p:sp>
      <p:sp>
        <p:nvSpPr>
          <p:cNvPr id="7" name="Text 4"/>
          <p:cNvSpPr/>
          <p:nvPr/>
        </p:nvSpPr>
        <p:spPr>
          <a:xfrm>
            <a:off x="1005840" y="5230368"/>
            <a:ext cx="4663440" cy="548640"/>
          </a:xfrm>
          <a:prstGeom prst="rect">
            <a:avLst/>
          </a:prstGeom>
          <a:noFill/>
          <a:ln/>
        </p:spPr>
        <p:txBody>
          <a:bodyPr wrap="square" lIns="0" tIns="0" rIns="0" bIns="0" rtlCol="0" anchor="ctr"/>
          <a:lstStyle/>
          <a:p>
            <a:pPr marL="0" indent="0">
              <a:lnSpc>
                <a:spcPts val="2100"/>
              </a:lnSpc>
              <a:buNone/>
            </a:pPr>
            <a:r>
              <a:rPr lang="en-US" sz="1400" b="1" dirty="0">
                <a:solidFill>
                  <a:srgbClr val="16202F"/>
                </a:solidFill>
                <a:latin typeface="Calibri" pitchFamily="34" charset="0"/>
                <a:ea typeface="Calibri" pitchFamily="34" charset="-122"/>
                <a:cs typeface="Calibri" pitchFamily="34" charset="-120"/>
              </a:rPr>
              <a:t>Historical Max Sharpe — 1.60 Sharpe vs. 1.00 for SPY</a:t>
            </a:r>
            <a:endParaRPr lang="en-US" sz="1400" dirty="0"/>
          </a:p>
        </p:txBody>
      </p:sp>
      <p:sp>
        <p:nvSpPr>
          <p:cNvPr id="8" name="Shape 5"/>
          <p:cNvSpPr/>
          <p:nvPr/>
        </p:nvSpPr>
        <p:spPr>
          <a:xfrm>
            <a:off x="6446520" y="4754880"/>
            <a:ext cx="5056632" cy="1234440"/>
          </a:xfrm>
          <a:prstGeom prst="roundRect">
            <a:avLst>
              <a:gd name="adj" fmla="val 5926"/>
            </a:avLst>
          </a:prstGeom>
          <a:solidFill>
            <a:srgbClr val="0E1F3C"/>
          </a:solidFill>
          <a:ln w="12700">
            <a:solidFill>
              <a:srgbClr val="0E1F3C"/>
            </a:solidFill>
            <a:prstDash val="solid"/>
          </a:ln>
        </p:spPr>
        <p:txBody>
          <a:bodyPr/>
          <a:lstStyle/>
          <a:p>
            <a:endParaRPr lang="en-US"/>
          </a:p>
        </p:txBody>
      </p:sp>
      <p:sp>
        <p:nvSpPr>
          <p:cNvPr id="9" name="Text 6"/>
          <p:cNvSpPr/>
          <p:nvPr/>
        </p:nvSpPr>
        <p:spPr>
          <a:xfrm>
            <a:off x="6766560" y="4956048"/>
            <a:ext cx="4572000" cy="256032"/>
          </a:xfrm>
          <a:prstGeom prst="rect">
            <a:avLst/>
          </a:prstGeom>
          <a:noFill/>
          <a:ln/>
        </p:spPr>
        <p:txBody>
          <a:bodyPr wrap="square" lIns="0" tIns="0" rIns="0" bIns="0" rtlCol="0" anchor="ctr"/>
          <a:lstStyle/>
          <a:p>
            <a:pPr marL="0" indent="0">
              <a:buNone/>
            </a:pPr>
            <a:r>
              <a:rPr lang="en-US" sz="1150" b="1" kern="0" spc="150" dirty="0">
                <a:solidFill>
                  <a:srgbClr val="6FD3C4"/>
                </a:solidFill>
                <a:latin typeface="Calibri" pitchFamily="34" charset="0"/>
                <a:ea typeface="Calibri" pitchFamily="34" charset="-122"/>
                <a:cs typeface="Calibri" pitchFamily="34" charset="-120"/>
              </a:rPr>
              <a:t>Best raw return</a:t>
            </a:r>
            <a:endParaRPr lang="en-US" sz="1150" dirty="0"/>
          </a:p>
        </p:txBody>
      </p:sp>
      <p:sp>
        <p:nvSpPr>
          <p:cNvPr id="10" name="Text 7"/>
          <p:cNvSpPr/>
          <p:nvPr/>
        </p:nvSpPr>
        <p:spPr>
          <a:xfrm>
            <a:off x="6766560" y="5230368"/>
            <a:ext cx="4480560" cy="548640"/>
          </a:xfrm>
          <a:prstGeom prst="rect">
            <a:avLst/>
          </a:prstGeom>
          <a:noFill/>
          <a:ln/>
        </p:spPr>
        <p:txBody>
          <a:bodyPr wrap="square" lIns="0" tIns="0" rIns="0" bIns="0" rtlCol="0" anchor="ctr"/>
          <a:lstStyle/>
          <a:p>
            <a:pPr marL="0" indent="0">
              <a:lnSpc>
                <a:spcPts val="2100"/>
              </a:lnSpc>
              <a:buNone/>
            </a:pPr>
            <a:r>
              <a:rPr lang="en-US" sz="1400" b="1" dirty="0">
                <a:solidFill>
                  <a:srgbClr val="FFFFFF"/>
                </a:solidFill>
                <a:latin typeface="Calibri" pitchFamily="34" charset="0"/>
                <a:ea typeface="Calibri" pitchFamily="34" charset="-122"/>
                <a:cs typeface="Calibri" pitchFamily="34" charset="-120"/>
              </a:rPr>
              <a:t>RF Predictive Max Sharpe — 27.1% annualized, 67.5% cumulative</a:t>
            </a:r>
            <a:endParaRPr lang="en-US" sz="1400" dirty="0"/>
          </a:p>
        </p:txBody>
      </p:sp>
      <p:sp>
        <p:nvSpPr>
          <p:cNvPr id="11" name="Text 8"/>
          <p:cNvSpPr/>
          <p:nvPr/>
        </p:nvSpPr>
        <p:spPr>
          <a:xfrm>
            <a:off x="685800" y="6355080"/>
            <a:ext cx="5486400" cy="274320"/>
          </a:xfrm>
          <a:prstGeom prst="rect">
            <a:avLst/>
          </a:prstGeom>
          <a:noFill/>
          <a:ln/>
        </p:spPr>
        <p:txBody>
          <a:bodyPr wrap="square" lIns="0" tIns="0" rIns="0" bIns="0" rtlCol="0" anchor="ctr"/>
          <a:lstStyle/>
          <a:p>
            <a:pPr marL="0" indent="0">
              <a:buNone/>
            </a:pPr>
            <a:r>
              <a:rPr lang="en-US" sz="950" dirty="0">
                <a:solidFill>
                  <a:srgbClr val="9AA7B8"/>
                </a:solidFill>
                <a:latin typeface="Calibri" pitchFamily="34" charset="0"/>
                <a:ea typeface="Calibri" pitchFamily="34" charset="-122"/>
                <a:cs typeface="Calibri" pitchFamily="34" charset="-120"/>
              </a:rPr>
              <a:t>FinSight Analytics  ·  INFO 442 Group 2</a:t>
            </a:r>
            <a:endParaRPr lang="en-US" sz="950" dirty="0"/>
          </a:p>
        </p:txBody>
      </p:sp>
      <p:sp>
        <p:nvSpPr>
          <p:cNvPr id="4" name="Text 9"/>
          <p:cNvSpPr/>
          <p:nvPr/>
        </p:nvSpPr>
        <p:spPr>
          <a:xfrm>
            <a:off x="10591495" y="6355080"/>
            <a:ext cx="914400" cy="274320"/>
          </a:xfrm>
          <a:prstGeom prst="rect">
            <a:avLst/>
          </a:prstGeom>
          <a:noFill/>
          <a:ln/>
        </p:spPr>
        <p:txBody>
          <a:bodyPr wrap="square" lIns="0" tIns="0" rIns="0" bIns="0" rtlCol="0" anchor="ctr"/>
          <a:lstStyle/>
          <a:p>
            <a:pPr marL="0" indent="0" algn="r">
              <a:buNone/>
            </a:pPr>
            <a:r>
              <a:rPr lang="en-US" sz="950" dirty="0">
                <a:solidFill>
                  <a:srgbClr val="9AA7B8"/>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384048"/>
            <a:ext cx="8229600" cy="256032"/>
          </a:xfrm>
          <a:prstGeom prst="rect">
            <a:avLst/>
          </a:prstGeom>
          <a:noFill/>
          <a:ln/>
        </p:spPr>
        <p:txBody>
          <a:bodyPr wrap="square" lIns="0" tIns="0" rIns="0" bIns="0" rtlCol="0" anchor="ctr"/>
          <a:lstStyle/>
          <a:p>
            <a:pPr marL="0" indent="0">
              <a:buNone/>
            </a:pPr>
            <a:r>
              <a:rPr lang="en-US" sz="1200" b="1" kern="0" spc="200" dirty="0">
                <a:solidFill>
                  <a:srgbClr val="00A896"/>
                </a:solidFill>
                <a:latin typeface="Calibri" pitchFamily="34" charset="0"/>
                <a:ea typeface="Calibri" pitchFamily="34" charset="-122"/>
                <a:cs typeface="Calibri" pitchFamily="34" charset="-120"/>
              </a:rPr>
              <a:t>BACKTEST</a:t>
            </a:r>
            <a:endParaRPr lang="en-US" sz="1200" dirty="0"/>
          </a:p>
        </p:txBody>
      </p:sp>
      <p:sp>
        <p:nvSpPr>
          <p:cNvPr id="3" name="Text 1"/>
          <p:cNvSpPr/>
          <p:nvPr/>
        </p:nvSpPr>
        <p:spPr>
          <a:xfrm>
            <a:off x="685800" y="658368"/>
            <a:ext cx="10820095" cy="640080"/>
          </a:xfrm>
          <a:prstGeom prst="rect">
            <a:avLst/>
          </a:prstGeom>
          <a:noFill/>
          <a:ln/>
        </p:spPr>
        <p:txBody>
          <a:bodyPr wrap="square" lIns="0" tIns="0" rIns="0" bIns="0" rtlCol="0" anchor="ctr"/>
          <a:lstStyle/>
          <a:p>
            <a:pPr marL="0" indent="0">
              <a:buNone/>
            </a:pPr>
            <a:r>
              <a:rPr lang="en-US" sz="3400" b="1" dirty="0">
                <a:solidFill>
                  <a:srgbClr val="16202F"/>
                </a:solidFill>
                <a:latin typeface="Cambria" pitchFamily="34" charset="0"/>
                <a:ea typeface="Cambria" pitchFamily="34" charset="-122"/>
                <a:cs typeface="Cambria" pitchFamily="34" charset="-120"/>
              </a:rPr>
              <a:t>Growth of the portfolios over the test window</a:t>
            </a:r>
            <a:endParaRPr lang="en-US" sz="3400" dirty="0"/>
          </a:p>
        </p:txBody>
      </p:sp>
      <p:graphicFrame>
        <p:nvGraphicFramePr>
          <p:cNvPr id="4" name="Chart 0"/>
          <p:cNvGraphicFramePr/>
          <p:nvPr/>
        </p:nvGraphicFramePr>
        <p:xfrm>
          <a:off x="685800" y="1691640"/>
          <a:ext cx="10820095" cy="397764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685800" y="6355080"/>
            <a:ext cx="5486400" cy="274320"/>
          </a:xfrm>
          <a:prstGeom prst="rect">
            <a:avLst/>
          </a:prstGeom>
          <a:noFill/>
          <a:ln/>
        </p:spPr>
        <p:txBody>
          <a:bodyPr wrap="square" lIns="0" tIns="0" rIns="0" bIns="0" rtlCol="0" anchor="ctr"/>
          <a:lstStyle/>
          <a:p>
            <a:pPr marL="0" indent="0">
              <a:buNone/>
            </a:pPr>
            <a:r>
              <a:rPr lang="en-US" sz="950" dirty="0">
                <a:solidFill>
                  <a:srgbClr val="9AA7B8"/>
                </a:solidFill>
                <a:latin typeface="Calibri" pitchFamily="34" charset="0"/>
                <a:ea typeface="Calibri" pitchFamily="34" charset="-122"/>
                <a:cs typeface="Calibri" pitchFamily="34" charset="-120"/>
              </a:rPr>
              <a:t>FinSight Analytics  ·  INFO 442 Group 2</a:t>
            </a:r>
            <a:endParaRPr lang="en-US" sz="950" dirty="0"/>
          </a:p>
        </p:txBody>
      </p:sp>
      <p:sp>
        <p:nvSpPr>
          <p:cNvPr id="6" name="Text 3"/>
          <p:cNvSpPr/>
          <p:nvPr/>
        </p:nvSpPr>
        <p:spPr>
          <a:xfrm>
            <a:off x="10591495" y="6355080"/>
            <a:ext cx="914400" cy="274320"/>
          </a:xfrm>
          <a:prstGeom prst="rect">
            <a:avLst/>
          </a:prstGeom>
          <a:noFill/>
          <a:ln/>
        </p:spPr>
        <p:txBody>
          <a:bodyPr wrap="square" lIns="0" tIns="0" rIns="0" bIns="0" rtlCol="0" anchor="ctr"/>
          <a:lstStyle/>
          <a:p>
            <a:pPr marL="0" indent="0" algn="r">
              <a:buNone/>
            </a:pPr>
            <a:r>
              <a:rPr lang="en-US" sz="950" dirty="0">
                <a:solidFill>
                  <a:srgbClr val="9AA7B8"/>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384048"/>
            <a:ext cx="8229600" cy="256032"/>
          </a:xfrm>
          <a:prstGeom prst="rect">
            <a:avLst/>
          </a:prstGeom>
          <a:noFill/>
          <a:ln/>
        </p:spPr>
        <p:txBody>
          <a:bodyPr wrap="square" lIns="0" tIns="0" rIns="0" bIns="0" rtlCol="0" anchor="ctr"/>
          <a:lstStyle/>
          <a:p>
            <a:pPr marL="0" indent="0">
              <a:buNone/>
            </a:pPr>
            <a:r>
              <a:rPr lang="en-US" sz="1200" b="1" kern="0" spc="200" dirty="0">
                <a:solidFill>
                  <a:srgbClr val="00A896"/>
                </a:solidFill>
                <a:latin typeface="Calibri" pitchFamily="34" charset="0"/>
                <a:ea typeface="Calibri" pitchFamily="34" charset="-122"/>
                <a:cs typeface="Calibri" pitchFamily="34" charset="-120"/>
              </a:rPr>
              <a:t>ALLOCATIONS</a:t>
            </a:r>
            <a:endParaRPr lang="en-US" sz="1200" dirty="0"/>
          </a:p>
        </p:txBody>
      </p:sp>
      <p:sp>
        <p:nvSpPr>
          <p:cNvPr id="3" name="Text 1"/>
          <p:cNvSpPr/>
          <p:nvPr/>
        </p:nvSpPr>
        <p:spPr>
          <a:xfrm>
            <a:off x="685800" y="658368"/>
            <a:ext cx="10820095" cy="640080"/>
          </a:xfrm>
          <a:prstGeom prst="rect">
            <a:avLst/>
          </a:prstGeom>
          <a:noFill/>
          <a:ln/>
        </p:spPr>
        <p:txBody>
          <a:bodyPr wrap="square" lIns="0" tIns="0" rIns="0" bIns="0" rtlCol="0" anchor="ctr"/>
          <a:lstStyle/>
          <a:p>
            <a:pPr marL="0" indent="0">
              <a:buNone/>
            </a:pPr>
            <a:r>
              <a:rPr lang="en-US" sz="3400" b="1" dirty="0">
                <a:solidFill>
                  <a:srgbClr val="16202F"/>
                </a:solidFill>
                <a:latin typeface="Cambria" pitchFamily="34" charset="0"/>
                <a:ea typeface="Cambria" pitchFamily="34" charset="-122"/>
                <a:cs typeface="Cambria" pitchFamily="34" charset="-120"/>
              </a:rPr>
              <a:t>What the optimizer actually allocates</a:t>
            </a:r>
            <a:endParaRPr lang="en-US" sz="3400" dirty="0"/>
          </a:p>
        </p:txBody>
      </p:sp>
      <p:graphicFrame>
        <p:nvGraphicFramePr>
          <p:cNvPr id="4" name="Chart 0"/>
          <p:cNvGraphicFramePr/>
          <p:nvPr/>
        </p:nvGraphicFramePr>
        <p:xfrm>
          <a:off x="685800" y="1737360"/>
          <a:ext cx="6858000" cy="38404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7818120" y="1783080"/>
            <a:ext cx="3703320" cy="292608"/>
          </a:xfrm>
          <a:prstGeom prst="rect">
            <a:avLst/>
          </a:prstGeom>
          <a:noFill/>
          <a:ln/>
        </p:spPr>
        <p:txBody>
          <a:bodyPr wrap="square" lIns="0" tIns="0" rIns="0" bIns="0" rtlCol="0" anchor="ctr"/>
          <a:lstStyle/>
          <a:p>
            <a:pPr marL="0" indent="0">
              <a:buNone/>
            </a:pPr>
            <a:r>
              <a:rPr lang="en-US" sz="1450" b="1" dirty="0">
                <a:solidFill>
                  <a:srgbClr val="16202F"/>
                </a:solidFill>
                <a:latin typeface="Calibri" pitchFamily="34" charset="0"/>
                <a:ea typeface="Calibri" pitchFamily="34" charset="-122"/>
                <a:cs typeface="Calibri" pitchFamily="34" charset="-120"/>
              </a:rPr>
              <a:t>Concentration is real</a:t>
            </a:r>
            <a:endParaRPr lang="en-US" sz="1450" dirty="0"/>
          </a:p>
        </p:txBody>
      </p:sp>
      <p:sp>
        <p:nvSpPr>
          <p:cNvPr id="6" name="Text 3"/>
          <p:cNvSpPr/>
          <p:nvPr/>
        </p:nvSpPr>
        <p:spPr>
          <a:xfrm>
            <a:off x="7818120" y="2112264"/>
            <a:ext cx="3703320" cy="914400"/>
          </a:xfrm>
          <a:prstGeom prst="rect">
            <a:avLst/>
          </a:prstGeom>
          <a:noFill/>
          <a:ln/>
        </p:spPr>
        <p:txBody>
          <a:bodyPr wrap="square" lIns="0" tIns="0" rIns="0" bIns="0" rtlCol="0" anchor="ctr"/>
          <a:lstStyle/>
          <a:p>
            <a:pPr marL="0" indent="0">
              <a:lnSpc>
                <a:spcPts val="1900"/>
              </a:lnSpc>
              <a:buNone/>
            </a:pPr>
            <a:r>
              <a:rPr lang="en-US" sz="1250" dirty="0">
                <a:solidFill>
                  <a:srgbClr val="5D6E85"/>
                </a:solidFill>
                <a:latin typeface="Calibri" pitchFamily="34" charset="0"/>
                <a:ea typeface="Calibri" pitchFamily="34" charset="-122"/>
                <a:cs typeface="Calibri" pitchFamily="34" charset="-120"/>
              </a:rPr>
              <a:t>Both max-Sharpe portfolios push straight to the 25% cap on their favourite names. The cap is doing a lot of work.</a:t>
            </a:r>
            <a:endParaRPr lang="en-US" sz="1250" dirty="0"/>
          </a:p>
        </p:txBody>
      </p:sp>
      <p:sp>
        <p:nvSpPr>
          <p:cNvPr id="7" name="Text 4"/>
          <p:cNvSpPr/>
          <p:nvPr/>
        </p:nvSpPr>
        <p:spPr>
          <a:xfrm>
            <a:off x="7818120" y="3081528"/>
            <a:ext cx="3703320" cy="292608"/>
          </a:xfrm>
          <a:prstGeom prst="rect">
            <a:avLst/>
          </a:prstGeom>
          <a:noFill/>
          <a:ln/>
        </p:spPr>
        <p:txBody>
          <a:bodyPr wrap="square" lIns="0" tIns="0" rIns="0" bIns="0" rtlCol="0" anchor="ctr"/>
          <a:lstStyle/>
          <a:p>
            <a:pPr marL="0" indent="0">
              <a:buNone/>
            </a:pPr>
            <a:r>
              <a:rPr lang="en-US" sz="1450" b="1" dirty="0">
                <a:solidFill>
                  <a:srgbClr val="16202F"/>
                </a:solidFill>
                <a:latin typeface="Calibri" pitchFamily="34" charset="0"/>
                <a:ea typeface="Calibri" pitchFamily="34" charset="-122"/>
                <a:cs typeface="Calibri" pitchFamily="34" charset="-120"/>
              </a:rPr>
              <a:t>Predictive tilts equity</a:t>
            </a:r>
            <a:endParaRPr lang="en-US" sz="1450" dirty="0"/>
          </a:p>
        </p:txBody>
      </p:sp>
      <p:sp>
        <p:nvSpPr>
          <p:cNvPr id="8" name="Text 5"/>
          <p:cNvSpPr/>
          <p:nvPr/>
        </p:nvSpPr>
        <p:spPr>
          <a:xfrm>
            <a:off x="7818120" y="3410712"/>
            <a:ext cx="3703320" cy="914400"/>
          </a:xfrm>
          <a:prstGeom prst="rect">
            <a:avLst/>
          </a:prstGeom>
          <a:noFill/>
          <a:ln/>
        </p:spPr>
        <p:txBody>
          <a:bodyPr wrap="square" lIns="0" tIns="0" rIns="0" bIns="0" rtlCol="0" anchor="ctr"/>
          <a:lstStyle/>
          <a:p>
            <a:pPr marL="0" indent="0">
              <a:lnSpc>
                <a:spcPts val="1900"/>
              </a:lnSpc>
              <a:buNone/>
            </a:pPr>
            <a:r>
              <a:rPr lang="en-US" sz="1250" dirty="0">
                <a:solidFill>
                  <a:srgbClr val="5D6E85"/>
                </a:solidFill>
                <a:latin typeface="Calibri" pitchFamily="34" charset="0"/>
                <a:ea typeface="Calibri" pitchFamily="34" charset="-122"/>
                <a:cs typeface="Calibri" pitchFamily="34" charset="-120"/>
              </a:rPr>
              <a:t>Swapping in RF-forecast risk moves weight out of gold and bonds and into AAPL — which is exactly why it earns more return and more volatility.</a:t>
            </a:r>
            <a:endParaRPr lang="en-US" sz="1250" dirty="0"/>
          </a:p>
        </p:txBody>
      </p:sp>
      <p:sp>
        <p:nvSpPr>
          <p:cNvPr id="9" name="Text 6"/>
          <p:cNvSpPr/>
          <p:nvPr/>
        </p:nvSpPr>
        <p:spPr>
          <a:xfrm>
            <a:off x="7818120" y="4379976"/>
            <a:ext cx="3703320" cy="292608"/>
          </a:xfrm>
          <a:prstGeom prst="rect">
            <a:avLst/>
          </a:prstGeom>
          <a:noFill/>
          <a:ln/>
        </p:spPr>
        <p:txBody>
          <a:bodyPr wrap="square" lIns="0" tIns="0" rIns="0" bIns="0" rtlCol="0" anchor="ctr"/>
          <a:lstStyle/>
          <a:p>
            <a:pPr marL="0" indent="0">
              <a:buNone/>
            </a:pPr>
            <a:r>
              <a:rPr lang="en-US" sz="1450" b="1" dirty="0">
                <a:solidFill>
                  <a:srgbClr val="16202F"/>
                </a:solidFill>
                <a:latin typeface="Calibri" pitchFamily="34" charset="0"/>
                <a:ea typeface="Calibri" pitchFamily="34" charset="-122"/>
                <a:cs typeface="Calibri" pitchFamily="34" charset="-120"/>
              </a:rPr>
              <a:t>Min-vol looks different</a:t>
            </a:r>
            <a:endParaRPr lang="en-US" sz="1450" dirty="0"/>
          </a:p>
        </p:txBody>
      </p:sp>
      <p:sp>
        <p:nvSpPr>
          <p:cNvPr id="10" name="Text 7"/>
          <p:cNvSpPr/>
          <p:nvPr/>
        </p:nvSpPr>
        <p:spPr>
          <a:xfrm>
            <a:off x="7818120" y="4709160"/>
            <a:ext cx="3703320" cy="914400"/>
          </a:xfrm>
          <a:prstGeom prst="rect">
            <a:avLst/>
          </a:prstGeom>
          <a:noFill/>
          <a:ln/>
        </p:spPr>
        <p:txBody>
          <a:bodyPr wrap="square" lIns="0" tIns="0" rIns="0" bIns="0" rtlCol="0" anchor="ctr"/>
          <a:lstStyle/>
          <a:p>
            <a:pPr marL="0" indent="0">
              <a:lnSpc>
                <a:spcPts val="1900"/>
              </a:lnSpc>
              <a:buNone/>
            </a:pPr>
            <a:r>
              <a:rPr lang="en-US" sz="1250" dirty="0">
                <a:solidFill>
                  <a:srgbClr val="5D6E85"/>
                </a:solidFill>
                <a:latin typeface="Calibri" pitchFamily="34" charset="0"/>
                <a:ea typeface="Calibri" pitchFamily="34" charset="-122"/>
                <a:cs typeface="Calibri" pitchFamily="34" charset="-120"/>
              </a:rPr>
              <a:t>The minimum-volatility portfolios sit mostly in AGG, TLT, and GLD, with single-digit equity positions.</a:t>
            </a:r>
            <a:endParaRPr lang="en-US" sz="1250" dirty="0"/>
          </a:p>
        </p:txBody>
      </p:sp>
      <p:sp>
        <p:nvSpPr>
          <p:cNvPr id="11" name="Text 8"/>
          <p:cNvSpPr/>
          <p:nvPr/>
        </p:nvSpPr>
        <p:spPr>
          <a:xfrm>
            <a:off x="685800" y="6355080"/>
            <a:ext cx="5486400" cy="274320"/>
          </a:xfrm>
          <a:prstGeom prst="rect">
            <a:avLst/>
          </a:prstGeom>
          <a:noFill/>
          <a:ln/>
        </p:spPr>
        <p:txBody>
          <a:bodyPr wrap="square" lIns="0" tIns="0" rIns="0" bIns="0" rtlCol="0" anchor="ctr"/>
          <a:lstStyle/>
          <a:p>
            <a:pPr marL="0" indent="0">
              <a:buNone/>
            </a:pPr>
            <a:r>
              <a:rPr lang="en-US" sz="950" dirty="0">
                <a:solidFill>
                  <a:srgbClr val="9AA7B8"/>
                </a:solidFill>
                <a:latin typeface="Calibri" pitchFamily="34" charset="0"/>
                <a:ea typeface="Calibri" pitchFamily="34" charset="-122"/>
                <a:cs typeface="Calibri" pitchFamily="34" charset="-120"/>
              </a:rPr>
              <a:t>FinSight Analytics  ·  INFO 442 Group 2</a:t>
            </a:r>
            <a:endParaRPr lang="en-US" sz="950" dirty="0"/>
          </a:p>
        </p:txBody>
      </p:sp>
      <p:sp>
        <p:nvSpPr>
          <p:cNvPr id="12" name="Text 9"/>
          <p:cNvSpPr/>
          <p:nvPr/>
        </p:nvSpPr>
        <p:spPr>
          <a:xfrm>
            <a:off x="10591495" y="6355080"/>
            <a:ext cx="914400" cy="274320"/>
          </a:xfrm>
          <a:prstGeom prst="rect">
            <a:avLst/>
          </a:prstGeom>
          <a:noFill/>
          <a:ln/>
        </p:spPr>
        <p:txBody>
          <a:bodyPr wrap="square" lIns="0" tIns="0" rIns="0" bIns="0" rtlCol="0" anchor="ctr"/>
          <a:lstStyle/>
          <a:p>
            <a:pPr marL="0" indent="0" algn="r">
              <a:buNone/>
            </a:pPr>
            <a:r>
              <a:rPr lang="en-US" sz="950" dirty="0">
                <a:solidFill>
                  <a:srgbClr val="9AA7B8"/>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384048"/>
            <a:ext cx="8229600" cy="256032"/>
          </a:xfrm>
          <a:prstGeom prst="rect">
            <a:avLst/>
          </a:prstGeom>
          <a:noFill/>
          <a:ln/>
        </p:spPr>
        <p:txBody>
          <a:bodyPr wrap="square" lIns="0" tIns="0" rIns="0" bIns="0" rtlCol="0" anchor="ctr"/>
          <a:lstStyle/>
          <a:p>
            <a:pPr marL="0" indent="0">
              <a:buNone/>
            </a:pPr>
            <a:r>
              <a:rPr lang="en-US" sz="1200" b="1" kern="0" spc="200" dirty="0">
                <a:solidFill>
                  <a:srgbClr val="00A896"/>
                </a:solidFill>
                <a:latin typeface="Calibri" pitchFamily="34" charset="0"/>
                <a:ea typeface="Calibri" pitchFamily="34" charset="-122"/>
                <a:cs typeface="Calibri" pitchFamily="34" charset="-120"/>
              </a:rPr>
              <a:t>DELIVERABLE</a:t>
            </a:r>
            <a:endParaRPr lang="en-US" sz="1200" dirty="0"/>
          </a:p>
        </p:txBody>
      </p:sp>
      <p:sp>
        <p:nvSpPr>
          <p:cNvPr id="3" name="Text 1"/>
          <p:cNvSpPr/>
          <p:nvPr/>
        </p:nvSpPr>
        <p:spPr>
          <a:xfrm>
            <a:off x="685800" y="658368"/>
            <a:ext cx="10820095" cy="640080"/>
          </a:xfrm>
          <a:prstGeom prst="rect">
            <a:avLst/>
          </a:prstGeom>
          <a:noFill/>
          <a:ln/>
        </p:spPr>
        <p:txBody>
          <a:bodyPr wrap="square" lIns="0" tIns="0" rIns="0" bIns="0" rtlCol="0" anchor="ctr"/>
          <a:lstStyle/>
          <a:p>
            <a:pPr marL="0" indent="0">
              <a:buNone/>
            </a:pPr>
            <a:r>
              <a:rPr lang="en-US" sz="3400" b="1" dirty="0">
                <a:solidFill>
                  <a:srgbClr val="16202F"/>
                </a:solidFill>
                <a:latin typeface="Cambria" pitchFamily="34" charset="0"/>
                <a:ea typeface="Cambria" pitchFamily="34" charset="-122"/>
                <a:cs typeface="Cambria" pitchFamily="34" charset="-120"/>
              </a:rPr>
              <a:t>The Streamlit dashboard, five pages live</a:t>
            </a:r>
            <a:endParaRPr lang="en-US" sz="3400" dirty="0"/>
          </a:p>
        </p:txBody>
      </p:sp>
      <p:sp>
        <p:nvSpPr>
          <p:cNvPr id="4" name="Shape 2"/>
          <p:cNvSpPr/>
          <p:nvPr/>
        </p:nvSpPr>
        <p:spPr>
          <a:xfrm>
            <a:off x="685800" y="1691640"/>
            <a:ext cx="6766560" cy="749808"/>
          </a:xfrm>
          <a:prstGeom prst="roundRect">
            <a:avLst>
              <a:gd name="adj" fmla="val 7317"/>
            </a:avLst>
          </a:prstGeom>
          <a:solidFill>
            <a:srgbClr val="F2F5F9"/>
          </a:solidFill>
          <a:ln w="12700">
            <a:solidFill>
              <a:srgbClr val="333333"/>
            </a:solidFill>
            <a:prstDash val="solid"/>
          </a:ln>
        </p:spPr>
        <p:txBody>
          <a:bodyPr/>
          <a:lstStyle/>
          <a:p>
            <a:endParaRPr lang="en-US"/>
          </a:p>
        </p:txBody>
      </p:sp>
      <p:sp>
        <p:nvSpPr>
          <p:cNvPr id="5" name="Shape 3"/>
          <p:cNvSpPr/>
          <p:nvPr/>
        </p:nvSpPr>
        <p:spPr>
          <a:xfrm>
            <a:off x="941832" y="1865376"/>
            <a:ext cx="402336" cy="402336"/>
          </a:xfrm>
          <a:prstGeom prst="ellipse">
            <a:avLst/>
          </a:prstGeom>
          <a:solidFill>
            <a:srgbClr val="D4DCE6"/>
          </a:solidFill>
          <a:ln w="12700">
            <a:solidFill>
              <a:srgbClr val="D4DCE6"/>
            </a:solidFill>
            <a:prstDash val="solid"/>
          </a:ln>
        </p:spPr>
        <p:txBody>
          <a:bodyPr/>
          <a:lstStyle/>
          <a:p>
            <a:endParaRPr lang="en-US"/>
          </a:p>
        </p:txBody>
      </p:sp>
      <p:sp>
        <p:nvSpPr>
          <p:cNvPr id="6" name="Text 4"/>
          <p:cNvSpPr/>
          <p:nvPr/>
        </p:nvSpPr>
        <p:spPr>
          <a:xfrm>
            <a:off x="941832" y="1865376"/>
            <a:ext cx="402336" cy="402336"/>
          </a:xfrm>
          <a:prstGeom prst="rect">
            <a:avLst/>
          </a:prstGeom>
          <a:noFill/>
          <a:ln/>
        </p:spPr>
        <p:txBody>
          <a:bodyPr wrap="square" lIns="0" tIns="0" rIns="0" bIns="0" rtlCol="0" anchor="ctr"/>
          <a:lstStyle/>
          <a:p>
            <a:pPr marL="0" indent="0" algn="ctr">
              <a:buNone/>
            </a:pPr>
            <a:r>
              <a:rPr lang="en-US" sz="1300" b="1" dirty="0">
                <a:solidFill>
                  <a:srgbClr val="16202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490472" y="1783080"/>
            <a:ext cx="2103120" cy="292608"/>
          </a:xfrm>
          <a:prstGeom prst="rect">
            <a:avLst/>
          </a:prstGeom>
          <a:noFill/>
          <a:ln/>
        </p:spPr>
        <p:txBody>
          <a:bodyPr wrap="square" lIns="0" tIns="0" rIns="0" bIns="0" rtlCol="0" anchor="ctr"/>
          <a:lstStyle/>
          <a:p>
            <a:pPr marL="0" indent="0">
              <a:buNone/>
            </a:pPr>
            <a:r>
              <a:rPr lang="en-US" sz="1450" b="1" dirty="0">
                <a:solidFill>
                  <a:srgbClr val="16202F"/>
                </a:solidFill>
                <a:latin typeface="Calibri" pitchFamily="34" charset="0"/>
                <a:ea typeface="Calibri" pitchFamily="34" charset="-122"/>
                <a:cs typeface="Calibri" pitchFamily="34" charset="-120"/>
              </a:rPr>
              <a:t>Overview</a:t>
            </a:r>
            <a:endParaRPr lang="en-US" sz="1450" dirty="0"/>
          </a:p>
        </p:txBody>
      </p:sp>
      <p:sp>
        <p:nvSpPr>
          <p:cNvPr id="8" name="Text 6"/>
          <p:cNvSpPr/>
          <p:nvPr/>
        </p:nvSpPr>
        <p:spPr>
          <a:xfrm>
            <a:off x="1490472" y="2084832"/>
            <a:ext cx="5760720" cy="274320"/>
          </a:xfrm>
          <a:prstGeom prst="rect">
            <a:avLst/>
          </a:prstGeom>
          <a:noFill/>
          <a:ln/>
        </p:spPr>
        <p:txBody>
          <a:bodyPr wrap="square" lIns="0" tIns="0" rIns="0" bIns="0" rtlCol="0" anchor="ctr"/>
          <a:lstStyle/>
          <a:p>
            <a:pPr marL="0" indent="0">
              <a:buNone/>
            </a:pPr>
            <a:r>
              <a:rPr lang="en-US" sz="1200" dirty="0">
                <a:solidFill>
                  <a:srgbClr val="5D6E85"/>
                </a:solidFill>
                <a:latin typeface="Calibri" pitchFamily="34" charset="0"/>
                <a:ea typeface="Calibri" pitchFamily="34" charset="-122"/>
                <a:cs typeface="Calibri" pitchFamily="34" charset="-120"/>
              </a:rPr>
              <a:t>Project framing, asset universe, and the headline metrics.</a:t>
            </a:r>
            <a:endParaRPr lang="en-US" sz="1200" dirty="0"/>
          </a:p>
        </p:txBody>
      </p:sp>
      <p:sp>
        <p:nvSpPr>
          <p:cNvPr id="9" name="Shape 7"/>
          <p:cNvSpPr/>
          <p:nvPr/>
        </p:nvSpPr>
        <p:spPr>
          <a:xfrm>
            <a:off x="685800" y="2532888"/>
            <a:ext cx="6766560" cy="749808"/>
          </a:xfrm>
          <a:prstGeom prst="roundRect">
            <a:avLst>
              <a:gd name="adj" fmla="val 7317"/>
            </a:avLst>
          </a:prstGeom>
          <a:solidFill>
            <a:srgbClr val="F2F5F9"/>
          </a:solidFill>
          <a:ln w="12700">
            <a:solidFill>
              <a:srgbClr val="333333"/>
            </a:solidFill>
            <a:prstDash val="solid"/>
          </a:ln>
        </p:spPr>
        <p:txBody>
          <a:bodyPr/>
          <a:lstStyle/>
          <a:p>
            <a:endParaRPr lang="en-US"/>
          </a:p>
        </p:txBody>
      </p:sp>
      <p:sp>
        <p:nvSpPr>
          <p:cNvPr id="10" name="Shape 8"/>
          <p:cNvSpPr/>
          <p:nvPr/>
        </p:nvSpPr>
        <p:spPr>
          <a:xfrm>
            <a:off x="941832" y="2706624"/>
            <a:ext cx="402336" cy="402336"/>
          </a:xfrm>
          <a:prstGeom prst="ellipse">
            <a:avLst/>
          </a:prstGeom>
          <a:solidFill>
            <a:srgbClr val="D4DCE6"/>
          </a:solidFill>
          <a:ln w="12700">
            <a:solidFill>
              <a:srgbClr val="D4DCE6"/>
            </a:solidFill>
            <a:prstDash val="solid"/>
          </a:ln>
        </p:spPr>
        <p:txBody>
          <a:bodyPr/>
          <a:lstStyle/>
          <a:p>
            <a:endParaRPr lang="en-US"/>
          </a:p>
        </p:txBody>
      </p:sp>
      <p:sp>
        <p:nvSpPr>
          <p:cNvPr id="11" name="Text 9"/>
          <p:cNvSpPr/>
          <p:nvPr/>
        </p:nvSpPr>
        <p:spPr>
          <a:xfrm>
            <a:off x="941832" y="2706624"/>
            <a:ext cx="402336" cy="402336"/>
          </a:xfrm>
          <a:prstGeom prst="rect">
            <a:avLst/>
          </a:prstGeom>
          <a:noFill/>
          <a:ln/>
        </p:spPr>
        <p:txBody>
          <a:bodyPr wrap="square" lIns="0" tIns="0" rIns="0" bIns="0" rtlCol="0" anchor="ctr"/>
          <a:lstStyle/>
          <a:p>
            <a:pPr marL="0" indent="0" algn="ctr">
              <a:buNone/>
            </a:pPr>
            <a:r>
              <a:rPr lang="en-US" sz="1300" b="1" dirty="0">
                <a:solidFill>
                  <a:srgbClr val="16202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490472" y="2624328"/>
            <a:ext cx="2103120" cy="292608"/>
          </a:xfrm>
          <a:prstGeom prst="rect">
            <a:avLst/>
          </a:prstGeom>
          <a:noFill/>
          <a:ln/>
        </p:spPr>
        <p:txBody>
          <a:bodyPr wrap="square" lIns="0" tIns="0" rIns="0" bIns="0" rtlCol="0" anchor="ctr"/>
          <a:lstStyle/>
          <a:p>
            <a:pPr marL="0" indent="0">
              <a:buNone/>
            </a:pPr>
            <a:r>
              <a:rPr lang="en-US" sz="1450" b="1" dirty="0">
                <a:solidFill>
                  <a:srgbClr val="16202F"/>
                </a:solidFill>
                <a:latin typeface="Calibri" pitchFamily="34" charset="0"/>
                <a:ea typeface="Calibri" pitchFamily="34" charset="-122"/>
                <a:cs typeface="Calibri" pitchFamily="34" charset="-120"/>
              </a:rPr>
              <a:t>Model Comparison</a:t>
            </a:r>
            <a:endParaRPr lang="en-US" sz="1450" dirty="0"/>
          </a:p>
        </p:txBody>
      </p:sp>
      <p:sp>
        <p:nvSpPr>
          <p:cNvPr id="13" name="Text 11"/>
          <p:cNvSpPr/>
          <p:nvPr/>
        </p:nvSpPr>
        <p:spPr>
          <a:xfrm>
            <a:off x="1490472" y="2926080"/>
            <a:ext cx="5760720" cy="274320"/>
          </a:xfrm>
          <a:prstGeom prst="rect">
            <a:avLst/>
          </a:prstGeom>
          <a:noFill/>
          <a:ln/>
        </p:spPr>
        <p:txBody>
          <a:bodyPr wrap="square" lIns="0" tIns="0" rIns="0" bIns="0" rtlCol="0" anchor="ctr"/>
          <a:lstStyle/>
          <a:p>
            <a:pPr marL="0" indent="0">
              <a:buNone/>
            </a:pPr>
            <a:r>
              <a:rPr lang="en-US" sz="1200" dirty="0">
                <a:solidFill>
                  <a:srgbClr val="5D6E85"/>
                </a:solidFill>
                <a:latin typeface="Calibri" pitchFamily="34" charset="0"/>
                <a:ea typeface="Calibri" pitchFamily="34" charset="-122"/>
                <a:cs typeface="Calibri" pitchFamily="34" charset="-120"/>
              </a:rPr>
              <a:t>Switch between RMSE, MAE, and R²; GARCH shown separately.</a:t>
            </a:r>
            <a:endParaRPr lang="en-US" sz="1200" dirty="0"/>
          </a:p>
        </p:txBody>
      </p:sp>
      <p:sp>
        <p:nvSpPr>
          <p:cNvPr id="14" name="Shape 12"/>
          <p:cNvSpPr/>
          <p:nvPr/>
        </p:nvSpPr>
        <p:spPr>
          <a:xfrm>
            <a:off x="685800" y="3374136"/>
            <a:ext cx="6766560" cy="749808"/>
          </a:xfrm>
          <a:prstGeom prst="roundRect">
            <a:avLst>
              <a:gd name="adj" fmla="val 7317"/>
            </a:avLst>
          </a:prstGeom>
          <a:solidFill>
            <a:srgbClr val="F2F5F9"/>
          </a:solidFill>
          <a:ln w="12700">
            <a:solidFill>
              <a:srgbClr val="333333"/>
            </a:solidFill>
            <a:prstDash val="solid"/>
          </a:ln>
        </p:spPr>
        <p:txBody>
          <a:bodyPr/>
          <a:lstStyle/>
          <a:p>
            <a:endParaRPr lang="en-US"/>
          </a:p>
        </p:txBody>
      </p:sp>
      <p:sp>
        <p:nvSpPr>
          <p:cNvPr id="15" name="Shape 13"/>
          <p:cNvSpPr/>
          <p:nvPr/>
        </p:nvSpPr>
        <p:spPr>
          <a:xfrm>
            <a:off x="941832" y="3547872"/>
            <a:ext cx="402336" cy="402336"/>
          </a:xfrm>
          <a:prstGeom prst="ellipse">
            <a:avLst/>
          </a:prstGeom>
          <a:solidFill>
            <a:srgbClr val="D4DCE6"/>
          </a:solidFill>
          <a:ln w="12700">
            <a:solidFill>
              <a:srgbClr val="D4DCE6"/>
            </a:solidFill>
            <a:prstDash val="solid"/>
          </a:ln>
        </p:spPr>
        <p:txBody>
          <a:bodyPr/>
          <a:lstStyle/>
          <a:p>
            <a:endParaRPr lang="en-US"/>
          </a:p>
        </p:txBody>
      </p:sp>
      <p:sp>
        <p:nvSpPr>
          <p:cNvPr id="16" name="Text 14"/>
          <p:cNvSpPr/>
          <p:nvPr/>
        </p:nvSpPr>
        <p:spPr>
          <a:xfrm>
            <a:off x="941832" y="3547872"/>
            <a:ext cx="402336" cy="402336"/>
          </a:xfrm>
          <a:prstGeom prst="rect">
            <a:avLst/>
          </a:prstGeom>
          <a:noFill/>
          <a:ln/>
        </p:spPr>
        <p:txBody>
          <a:bodyPr wrap="square" lIns="0" tIns="0" rIns="0" bIns="0" rtlCol="0" anchor="ctr"/>
          <a:lstStyle/>
          <a:p>
            <a:pPr marL="0" indent="0" algn="ctr">
              <a:buNone/>
            </a:pPr>
            <a:r>
              <a:rPr lang="en-US" sz="1300" b="1" dirty="0">
                <a:solidFill>
                  <a:srgbClr val="16202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490472" y="3465576"/>
            <a:ext cx="2103120" cy="292608"/>
          </a:xfrm>
          <a:prstGeom prst="rect">
            <a:avLst/>
          </a:prstGeom>
          <a:noFill/>
          <a:ln/>
        </p:spPr>
        <p:txBody>
          <a:bodyPr wrap="square" lIns="0" tIns="0" rIns="0" bIns="0" rtlCol="0" anchor="ctr"/>
          <a:lstStyle/>
          <a:p>
            <a:pPr marL="0" indent="0">
              <a:buNone/>
            </a:pPr>
            <a:r>
              <a:rPr lang="en-US" sz="1450" b="1" dirty="0">
                <a:solidFill>
                  <a:srgbClr val="16202F"/>
                </a:solidFill>
                <a:latin typeface="Calibri" pitchFamily="34" charset="0"/>
                <a:ea typeface="Calibri" pitchFamily="34" charset="-122"/>
                <a:cs typeface="Calibri" pitchFamily="34" charset="-120"/>
              </a:rPr>
              <a:t>Prediction Explorer</a:t>
            </a:r>
            <a:endParaRPr lang="en-US" sz="1450" dirty="0"/>
          </a:p>
        </p:txBody>
      </p:sp>
      <p:sp>
        <p:nvSpPr>
          <p:cNvPr id="18" name="Text 16"/>
          <p:cNvSpPr/>
          <p:nvPr/>
        </p:nvSpPr>
        <p:spPr>
          <a:xfrm>
            <a:off x="1490472" y="3767328"/>
            <a:ext cx="5760720" cy="274320"/>
          </a:xfrm>
          <a:prstGeom prst="rect">
            <a:avLst/>
          </a:prstGeom>
          <a:noFill/>
          <a:ln/>
        </p:spPr>
        <p:txBody>
          <a:bodyPr wrap="square" lIns="0" tIns="0" rIns="0" bIns="0" rtlCol="0" anchor="ctr"/>
          <a:lstStyle/>
          <a:p>
            <a:pPr marL="0" indent="0">
              <a:buNone/>
            </a:pPr>
            <a:r>
              <a:rPr lang="en-US" sz="1200" dirty="0">
                <a:solidFill>
                  <a:srgbClr val="5D6E85"/>
                </a:solidFill>
                <a:latin typeface="Calibri" pitchFamily="34" charset="0"/>
                <a:ea typeface="Calibri" pitchFamily="34" charset="-122"/>
                <a:cs typeface="Calibri" pitchFamily="34" charset="-120"/>
              </a:rPr>
              <a:t>Pick a model and a ticker, see predicted vs. actual volatility.</a:t>
            </a:r>
            <a:endParaRPr lang="en-US" sz="1200" dirty="0"/>
          </a:p>
        </p:txBody>
      </p:sp>
      <p:sp>
        <p:nvSpPr>
          <p:cNvPr id="19" name="Shape 17"/>
          <p:cNvSpPr/>
          <p:nvPr/>
        </p:nvSpPr>
        <p:spPr>
          <a:xfrm>
            <a:off x="685800" y="4215384"/>
            <a:ext cx="6766560" cy="749808"/>
          </a:xfrm>
          <a:prstGeom prst="roundRect">
            <a:avLst>
              <a:gd name="adj" fmla="val 7317"/>
            </a:avLst>
          </a:prstGeom>
          <a:solidFill>
            <a:srgbClr val="F2F5F9"/>
          </a:solidFill>
          <a:ln w="12700">
            <a:solidFill>
              <a:srgbClr val="333333"/>
            </a:solidFill>
            <a:prstDash val="solid"/>
          </a:ln>
        </p:spPr>
        <p:txBody>
          <a:bodyPr/>
          <a:lstStyle/>
          <a:p>
            <a:endParaRPr lang="en-US"/>
          </a:p>
        </p:txBody>
      </p:sp>
      <p:sp>
        <p:nvSpPr>
          <p:cNvPr id="20" name="Shape 18"/>
          <p:cNvSpPr/>
          <p:nvPr/>
        </p:nvSpPr>
        <p:spPr>
          <a:xfrm>
            <a:off x="941832" y="4389120"/>
            <a:ext cx="402336" cy="402336"/>
          </a:xfrm>
          <a:prstGeom prst="ellipse">
            <a:avLst/>
          </a:prstGeom>
          <a:solidFill>
            <a:srgbClr val="D4DCE6"/>
          </a:solidFill>
          <a:ln w="12700">
            <a:solidFill>
              <a:srgbClr val="D4DCE6"/>
            </a:solidFill>
            <a:prstDash val="solid"/>
          </a:ln>
        </p:spPr>
        <p:txBody>
          <a:bodyPr/>
          <a:lstStyle/>
          <a:p>
            <a:endParaRPr lang="en-US"/>
          </a:p>
        </p:txBody>
      </p:sp>
      <p:sp>
        <p:nvSpPr>
          <p:cNvPr id="21" name="Text 19"/>
          <p:cNvSpPr/>
          <p:nvPr/>
        </p:nvSpPr>
        <p:spPr>
          <a:xfrm>
            <a:off x="941832" y="4389120"/>
            <a:ext cx="402336" cy="402336"/>
          </a:xfrm>
          <a:prstGeom prst="rect">
            <a:avLst/>
          </a:prstGeom>
          <a:noFill/>
          <a:ln/>
        </p:spPr>
        <p:txBody>
          <a:bodyPr wrap="square" lIns="0" tIns="0" rIns="0" bIns="0" rtlCol="0" anchor="ctr"/>
          <a:lstStyle/>
          <a:p>
            <a:pPr marL="0" indent="0" algn="ctr">
              <a:buNone/>
            </a:pPr>
            <a:r>
              <a:rPr lang="en-US" sz="1300" b="1" dirty="0">
                <a:solidFill>
                  <a:srgbClr val="16202F"/>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1490472" y="4306824"/>
            <a:ext cx="2103120" cy="292608"/>
          </a:xfrm>
          <a:prstGeom prst="rect">
            <a:avLst/>
          </a:prstGeom>
          <a:noFill/>
          <a:ln/>
        </p:spPr>
        <p:txBody>
          <a:bodyPr wrap="square" lIns="0" tIns="0" rIns="0" bIns="0" rtlCol="0" anchor="ctr"/>
          <a:lstStyle/>
          <a:p>
            <a:pPr marL="0" indent="0">
              <a:buNone/>
            </a:pPr>
            <a:r>
              <a:rPr lang="en-US" sz="1450" b="1" dirty="0">
                <a:solidFill>
                  <a:srgbClr val="16202F"/>
                </a:solidFill>
                <a:latin typeface="Calibri" pitchFamily="34" charset="0"/>
                <a:ea typeface="Calibri" pitchFamily="34" charset="-122"/>
                <a:cs typeface="Calibri" pitchFamily="34" charset="-120"/>
              </a:rPr>
              <a:t>Portfolio Strategies</a:t>
            </a:r>
            <a:endParaRPr lang="en-US" sz="1450" dirty="0"/>
          </a:p>
        </p:txBody>
      </p:sp>
      <p:sp>
        <p:nvSpPr>
          <p:cNvPr id="23" name="Text 21"/>
          <p:cNvSpPr/>
          <p:nvPr/>
        </p:nvSpPr>
        <p:spPr>
          <a:xfrm>
            <a:off x="1490472" y="4608576"/>
            <a:ext cx="5760720" cy="274320"/>
          </a:xfrm>
          <a:prstGeom prst="rect">
            <a:avLst/>
          </a:prstGeom>
          <a:noFill/>
          <a:ln/>
        </p:spPr>
        <p:txBody>
          <a:bodyPr wrap="square" lIns="0" tIns="0" rIns="0" bIns="0" rtlCol="0" anchor="ctr"/>
          <a:lstStyle/>
          <a:p>
            <a:pPr marL="0" indent="0">
              <a:buNone/>
            </a:pPr>
            <a:r>
              <a:rPr lang="en-US" sz="1200" dirty="0">
                <a:solidFill>
                  <a:srgbClr val="5D6E85"/>
                </a:solidFill>
                <a:latin typeface="Calibri" pitchFamily="34" charset="0"/>
                <a:ea typeface="Calibri" pitchFamily="34" charset="-122"/>
                <a:cs typeface="Calibri" pitchFamily="34" charset="-120"/>
              </a:rPr>
              <a:t>Precomputed weights, performance table, cumulative return curves.</a:t>
            </a:r>
            <a:endParaRPr lang="en-US" sz="1200" dirty="0"/>
          </a:p>
        </p:txBody>
      </p:sp>
      <p:sp>
        <p:nvSpPr>
          <p:cNvPr id="24" name="Shape 22"/>
          <p:cNvSpPr/>
          <p:nvPr/>
        </p:nvSpPr>
        <p:spPr>
          <a:xfrm>
            <a:off x="685800" y="5056632"/>
            <a:ext cx="6766560" cy="749808"/>
          </a:xfrm>
          <a:prstGeom prst="roundRect">
            <a:avLst>
              <a:gd name="adj" fmla="val 7317"/>
            </a:avLst>
          </a:prstGeom>
          <a:solidFill>
            <a:srgbClr val="0E1F3C"/>
          </a:solidFill>
          <a:ln w="12700">
            <a:solidFill>
              <a:srgbClr val="333333"/>
            </a:solidFill>
            <a:prstDash val="solid"/>
          </a:ln>
        </p:spPr>
        <p:txBody>
          <a:bodyPr/>
          <a:lstStyle/>
          <a:p>
            <a:endParaRPr lang="en-US"/>
          </a:p>
        </p:txBody>
      </p:sp>
      <p:sp>
        <p:nvSpPr>
          <p:cNvPr id="25" name="Shape 23"/>
          <p:cNvSpPr/>
          <p:nvPr/>
        </p:nvSpPr>
        <p:spPr>
          <a:xfrm>
            <a:off x="941832" y="5230368"/>
            <a:ext cx="402336" cy="402336"/>
          </a:xfrm>
          <a:prstGeom prst="ellipse">
            <a:avLst/>
          </a:prstGeom>
          <a:solidFill>
            <a:srgbClr val="00A896"/>
          </a:solidFill>
          <a:ln w="12700">
            <a:solidFill>
              <a:srgbClr val="00A896"/>
            </a:solidFill>
            <a:prstDash val="solid"/>
          </a:ln>
        </p:spPr>
        <p:txBody>
          <a:bodyPr/>
          <a:lstStyle/>
          <a:p>
            <a:endParaRPr lang="en-US"/>
          </a:p>
        </p:txBody>
      </p:sp>
      <p:sp>
        <p:nvSpPr>
          <p:cNvPr id="26" name="Text 24"/>
          <p:cNvSpPr/>
          <p:nvPr/>
        </p:nvSpPr>
        <p:spPr>
          <a:xfrm>
            <a:off x="941832" y="5230368"/>
            <a:ext cx="402336"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p:nvPr/>
        </p:nvSpPr>
        <p:spPr>
          <a:xfrm>
            <a:off x="1490472" y="5148072"/>
            <a:ext cx="2103120" cy="292608"/>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Live Optimizer</a:t>
            </a:r>
            <a:endParaRPr lang="en-US" sz="1450" dirty="0"/>
          </a:p>
        </p:txBody>
      </p:sp>
      <p:sp>
        <p:nvSpPr>
          <p:cNvPr id="28" name="Text 26"/>
          <p:cNvSpPr/>
          <p:nvPr/>
        </p:nvSpPr>
        <p:spPr>
          <a:xfrm>
            <a:off x="1490472" y="5449824"/>
            <a:ext cx="5760720" cy="274320"/>
          </a:xfrm>
          <a:prstGeom prst="rect">
            <a:avLst/>
          </a:prstGeom>
          <a:noFill/>
          <a:ln/>
        </p:spPr>
        <p:txBody>
          <a:bodyPr wrap="square" lIns="0" tIns="0" rIns="0" bIns="0" rtlCol="0" anchor="ctr"/>
          <a:lstStyle/>
          <a:p>
            <a:pPr marL="0" indent="0">
              <a:buNone/>
            </a:pPr>
            <a:r>
              <a:rPr lang="en-US" sz="1200" dirty="0">
                <a:solidFill>
                  <a:srgbClr val="AFC0D4"/>
                </a:solidFill>
                <a:latin typeface="Calibri" pitchFamily="34" charset="0"/>
                <a:ea typeface="Calibri" pitchFamily="34" charset="-122"/>
                <a:cs typeface="Calibri" pitchFamily="34" charset="-120"/>
              </a:rPr>
              <a:t>Risk presets, efficient frontier, and on-demand solve plus backtest.</a:t>
            </a:r>
            <a:endParaRPr lang="en-US" sz="1200" dirty="0"/>
          </a:p>
        </p:txBody>
      </p:sp>
      <p:sp>
        <p:nvSpPr>
          <p:cNvPr id="29" name="Shape 27"/>
          <p:cNvSpPr/>
          <p:nvPr/>
        </p:nvSpPr>
        <p:spPr>
          <a:xfrm>
            <a:off x="7818120" y="1691640"/>
            <a:ext cx="3703320" cy="4023360"/>
          </a:xfrm>
          <a:prstGeom prst="roundRect">
            <a:avLst>
              <a:gd name="adj" fmla="val 1975"/>
            </a:avLst>
          </a:prstGeom>
          <a:solidFill>
            <a:srgbClr val="F2F5F9"/>
          </a:solidFill>
          <a:ln w="12700">
            <a:solidFill>
              <a:srgbClr val="F2F5F9"/>
            </a:solidFill>
            <a:prstDash val="solid"/>
          </a:ln>
        </p:spPr>
        <p:txBody>
          <a:bodyPr/>
          <a:lstStyle/>
          <a:p>
            <a:endParaRPr lang="en-US"/>
          </a:p>
        </p:txBody>
      </p:sp>
      <p:sp>
        <p:nvSpPr>
          <p:cNvPr id="30" name="Text 28"/>
          <p:cNvSpPr/>
          <p:nvPr/>
        </p:nvSpPr>
        <p:spPr>
          <a:xfrm>
            <a:off x="8138160" y="1965960"/>
            <a:ext cx="3108960" cy="365760"/>
          </a:xfrm>
          <a:prstGeom prst="rect">
            <a:avLst/>
          </a:prstGeom>
          <a:noFill/>
          <a:ln/>
        </p:spPr>
        <p:txBody>
          <a:bodyPr wrap="square" lIns="0" tIns="0" rIns="0" bIns="0" rtlCol="0" anchor="ctr"/>
          <a:lstStyle/>
          <a:p>
            <a:pPr marL="0" indent="0">
              <a:buNone/>
            </a:pPr>
            <a:r>
              <a:rPr lang="en-US" sz="2000" b="1" dirty="0">
                <a:solidFill>
                  <a:srgbClr val="16202F"/>
                </a:solidFill>
                <a:latin typeface="Cambria" pitchFamily="34" charset="0"/>
                <a:ea typeface="Cambria" pitchFamily="34" charset="-122"/>
                <a:cs typeface="Cambria" pitchFamily="34" charset="-120"/>
              </a:rPr>
              <a:t>Live Optimizer</a:t>
            </a:r>
            <a:endParaRPr lang="en-US" sz="2000" dirty="0"/>
          </a:p>
        </p:txBody>
      </p:sp>
      <p:sp>
        <p:nvSpPr>
          <p:cNvPr id="31" name="Text 29"/>
          <p:cNvSpPr/>
          <p:nvPr/>
        </p:nvSpPr>
        <p:spPr>
          <a:xfrm>
            <a:off x="8138160" y="2395728"/>
            <a:ext cx="3108960" cy="1737360"/>
          </a:xfrm>
          <a:prstGeom prst="rect">
            <a:avLst/>
          </a:prstGeom>
          <a:noFill/>
          <a:ln/>
        </p:spPr>
        <p:txBody>
          <a:bodyPr wrap="square" lIns="0" tIns="0" rIns="0" bIns="0" rtlCol="0" anchor="ctr"/>
          <a:lstStyle/>
          <a:p>
            <a:pPr marL="0" indent="0">
              <a:lnSpc>
                <a:spcPts val="1800"/>
              </a:lnSpc>
              <a:buNone/>
            </a:pPr>
            <a:r>
              <a:rPr lang="en-US" sz="1200" dirty="0">
                <a:solidFill>
                  <a:srgbClr val="5D6E85"/>
                </a:solidFill>
                <a:latin typeface="Calibri" pitchFamily="34" charset="0"/>
                <a:ea typeface="Calibri" pitchFamily="34" charset="-122"/>
                <a:cs typeface="Calibri" pitchFamily="34" charset="-120"/>
              </a:rPr>
              <a:t>Builds weights on demand from the random forest's predicted volatility plus historical correlations. Conservative / Balanced / Aggressive presets set the objective and weight cap in one click, and the efficient frontier plots where the result sits against every achievable portfolio.</a:t>
            </a:r>
            <a:endParaRPr lang="en-US" sz="1200" dirty="0"/>
          </a:p>
        </p:txBody>
      </p:sp>
      <p:sp>
        <p:nvSpPr>
          <p:cNvPr id="32" name="Text 30"/>
          <p:cNvSpPr/>
          <p:nvPr/>
        </p:nvSpPr>
        <p:spPr>
          <a:xfrm>
            <a:off x="8138160" y="4224528"/>
            <a:ext cx="3108960" cy="1005840"/>
          </a:xfrm>
          <a:prstGeom prst="rect">
            <a:avLst/>
          </a:prstGeom>
          <a:noFill/>
          <a:ln/>
        </p:spPr>
        <p:txBody>
          <a:bodyPr wrap="square" lIns="0" tIns="0" rIns="0" bIns="0" rtlCol="0" anchor="ctr"/>
          <a:lstStyle/>
          <a:p>
            <a:pPr marL="0" indent="0">
              <a:lnSpc>
                <a:spcPts val="1700"/>
              </a:lnSpc>
              <a:buNone/>
            </a:pPr>
            <a:r>
              <a:rPr lang="en-US" sz="1150" dirty="0">
                <a:solidFill>
                  <a:srgbClr val="5D6E85"/>
                </a:solidFill>
                <a:latin typeface="Calibri" pitchFamily="34" charset="0"/>
                <a:ea typeface="Calibri" pitchFamily="34" charset="-122"/>
                <a:cs typeface="Calibri" pitchFamily="34" charset="-120"/>
              </a:rPr>
              <a:t>The optimization math lives in src/portfolio_optimizer.py — shared by the dashboard and the notebooks, so there's one implementation to trust.</a:t>
            </a:r>
            <a:endParaRPr lang="en-US" sz="1150" dirty="0"/>
          </a:p>
        </p:txBody>
      </p:sp>
      <p:sp>
        <p:nvSpPr>
          <p:cNvPr id="33" name="Text 31"/>
          <p:cNvSpPr/>
          <p:nvPr/>
        </p:nvSpPr>
        <p:spPr>
          <a:xfrm>
            <a:off x="8138160" y="5285232"/>
            <a:ext cx="3108960" cy="320040"/>
          </a:xfrm>
          <a:prstGeom prst="rect">
            <a:avLst/>
          </a:prstGeom>
          <a:noFill/>
          <a:ln/>
        </p:spPr>
        <p:txBody>
          <a:bodyPr wrap="square" lIns="0" tIns="0" rIns="0" bIns="0" rtlCol="0" anchor="ctr"/>
          <a:lstStyle/>
          <a:p>
            <a:pPr marL="0" indent="0">
              <a:buNone/>
            </a:pPr>
            <a:r>
              <a:rPr lang="en-US" sz="1200" b="1" i="1" dirty="0">
                <a:solidFill>
                  <a:srgbClr val="00A896"/>
                </a:solidFill>
                <a:latin typeface="Calibri" pitchFamily="34" charset="0"/>
                <a:ea typeface="Calibri" pitchFamily="34" charset="-122"/>
                <a:cs typeface="Calibri" pitchFamily="34" charset="-120"/>
              </a:rPr>
              <a:t>Verified end-to-end in browser</a:t>
            </a:r>
            <a:endParaRPr lang="en-US" sz="1200" dirty="0"/>
          </a:p>
        </p:txBody>
      </p:sp>
      <p:sp>
        <p:nvSpPr>
          <p:cNvPr id="34" name="Text 32"/>
          <p:cNvSpPr/>
          <p:nvPr/>
        </p:nvSpPr>
        <p:spPr>
          <a:xfrm>
            <a:off x="685800" y="6355080"/>
            <a:ext cx="5486400" cy="274320"/>
          </a:xfrm>
          <a:prstGeom prst="rect">
            <a:avLst/>
          </a:prstGeom>
          <a:noFill/>
          <a:ln/>
        </p:spPr>
        <p:txBody>
          <a:bodyPr wrap="square" lIns="0" tIns="0" rIns="0" bIns="0" rtlCol="0" anchor="ctr"/>
          <a:lstStyle/>
          <a:p>
            <a:pPr marL="0" indent="0">
              <a:buNone/>
            </a:pPr>
            <a:r>
              <a:rPr lang="en-US" sz="950" dirty="0">
                <a:solidFill>
                  <a:srgbClr val="9AA7B8"/>
                </a:solidFill>
                <a:latin typeface="Calibri" pitchFamily="34" charset="0"/>
                <a:ea typeface="Calibri" pitchFamily="34" charset="-122"/>
                <a:cs typeface="Calibri" pitchFamily="34" charset="-120"/>
              </a:rPr>
              <a:t>FinSight Analytics  ·  INFO 442 Group 2</a:t>
            </a:r>
            <a:endParaRPr lang="en-US" sz="950" dirty="0"/>
          </a:p>
        </p:txBody>
      </p:sp>
      <p:sp>
        <p:nvSpPr>
          <p:cNvPr id="35" name="Text 33"/>
          <p:cNvSpPr/>
          <p:nvPr/>
        </p:nvSpPr>
        <p:spPr>
          <a:xfrm>
            <a:off x="10591495" y="6355080"/>
            <a:ext cx="914400" cy="274320"/>
          </a:xfrm>
          <a:prstGeom prst="rect">
            <a:avLst/>
          </a:prstGeom>
          <a:noFill/>
          <a:ln/>
        </p:spPr>
        <p:txBody>
          <a:bodyPr wrap="square" lIns="0" tIns="0" rIns="0" bIns="0" rtlCol="0" anchor="ctr"/>
          <a:lstStyle/>
          <a:p>
            <a:pPr marL="0" indent="0" algn="r">
              <a:buNone/>
            </a:pPr>
            <a:r>
              <a:rPr lang="en-US" sz="950" dirty="0">
                <a:solidFill>
                  <a:srgbClr val="9AA7B8"/>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F3C"/>
        </a:solidFill>
        <a:effectLst/>
      </p:bgPr>
    </p:bg>
    <p:spTree>
      <p:nvGrpSpPr>
        <p:cNvPr id="1" name=""/>
        <p:cNvGrpSpPr/>
        <p:nvPr/>
      </p:nvGrpSpPr>
      <p:grpSpPr>
        <a:xfrm>
          <a:off x="0" y="0"/>
          <a:ext cx="0" cy="0"/>
          <a:chOff x="0" y="0"/>
          <a:chExt cx="0" cy="0"/>
        </a:xfrm>
      </p:grpSpPr>
      <p:sp>
        <p:nvSpPr>
          <p:cNvPr id="2" name="Shape 0"/>
          <p:cNvSpPr/>
          <p:nvPr/>
        </p:nvSpPr>
        <p:spPr>
          <a:xfrm>
            <a:off x="9509760" y="-1645920"/>
            <a:ext cx="4937760" cy="4937760"/>
          </a:xfrm>
          <a:prstGeom prst="ellipse">
            <a:avLst/>
          </a:prstGeom>
          <a:solidFill>
            <a:srgbClr val="00A896">
              <a:alpha val="10000"/>
            </a:srgbClr>
          </a:solidFill>
          <a:ln w="12700">
            <a:solidFill>
              <a:srgbClr val="333333"/>
            </a:solidFill>
            <a:prstDash val="solid"/>
          </a:ln>
        </p:spPr>
        <p:txBody>
          <a:bodyPr/>
          <a:lstStyle/>
          <a:p>
            <a:endParaRPr lang="en-US"/>
          </a:p>
        </p:txBody>
      </p:sp>
      <p:sp>
        <p:nvSpPr>
          <p:cNvPr id="3" name="Text 1"/>
          <p:cNvSpPr/>
          <p:nvPr/>
        </p:nvSpPr>
        <p:spPr>
          <a:xfrm>
            <a:off x="685800" y="640080"/>
            <a:ext cx="8229600" cy="274320"/>
          </a:xfrm>
          <a:prstGeom prst="rect">
            <a:avLst/>
          </a:prstGeom>
          <a:noFill/>
          <a:ln/>
        </p:spPr>
        <p:txBody>
          <a:bodyPr wrap="square" lIns="0" tIns="0" rIns="0" bIns="0" rtlCol="0" anchor="ctr"/>
          <a:lstStyle/>
          <a:p>
            <a:pPr marL="0" indent="0">
              <a:buNone/>
            </a:pPr>
            <a:r>
              <a:rPr lang="en-US" sz="1200" b="1" kern="0" spc="250" dirty="0">
                <a:solidFill>
                  <a:srgbClr val="6FD3C4"/>
                </a:solidFill>
                <a:latin typeface="Calibri" pitchFamily="34" charset="0"/>
                <a:ea typeface="Calibri" pitchFamily="34" charset="-122"/>
                <a:cs typeface="Calibri" pitchFamily="34" charset="-120"/>
              </a:rPr>
              <a:t>ANSWERING THE RESEARCH QUESTION</a:t>
            </a:r>
            <a:endParaRPr lang="en-US" sz="1200" dirty="0"/>
          </a:p>
        </p:txBody>
      </p:sp>
      <p:sp>
        <p:nvSpPr>
          <p:cNvPr id="4" name="Text 2"/>
          <p:cNvSpPr/>
          <p:nvPr/>
        </p:nvSpPr>
        <p:spPr>
          <a:xfrm>
            <a:off x="685800" y="1024128"/>
            <a:ext cx="10515600" cy="1280160"/>
          </a:xfrm>
          <a:prstGeom prst="rect">
            <a:avLst/>
          </a:prstGeom>
          <a:noFill/>
          <a:ln/>
        </p:spPr>
        <p:txBody>
          <a:bodyPr wrap="square" lIns="0" tIns="0" rIns="0" bIns="0" rtlCol="0" anchor="ctr"/>
          <a:lstStyle/>
          <a:p>
            <a:pPr marL="0" indent="0">
              <a:lnSpc>
                <a:spcPts val="3800"/>
              </a:lnSpc>
              <a:buNone/>
            </a:pPr>
            <a:r>
              <a:rPr lang="en-US" sz="3200" b="1" dirty="0">
                <a:solidFill>
                  <a:srgbClr val="FFFFFF"/>
                </a:solidFill>
                <a:latin typeface="Cambria" pitchFamily="34" charset="0"/>
                <a:ea typeface="Cambria" pitchFamily="34" charset="-122"/>
                <a:cs typeface="Cambria" pitchFamily="34" charset="-120"/>
              </a:rPr>
              <a:t>Yes in this window — but the result</a:t>
            </a:r>
            <a:endParaRPr lang="en-US" sz="3200" dirty="0"/>
          </a:p>
          <a:p>
            <a:pPr marL="0" indent="0">
              <a:lnSpc>
                <a:spcPts val="3800"/>
              </a:lnSpc>
              <a:buNone/>
            </a:pPr>
            <a:r>
              <a:rPr lang="en-US" sz="3200" b="1" dirty="0">
                <a:solidFill>
                  <a:srgbClr val="FFFFFF"/>
                </a:solidFill>
                <a:latin typeface="Cambria" pitchFamily="34" charset="0"/>
                <a:ea typeface="Cambria" pitchFamily="34" charset="-122"/>
                <a:cs typeface="Cambria" pitchFamily="34" charset="-120"/>
              </a:rPr>
              <a:t>rests on two positions.</a:t>
            </a:r>
            <a:endParaRPr lang="en-US" sz="3200" dirty="0"/>
          </a:p>
        </p:txBody>
      </p:sp>
      <p:sp>
        <p:nvSpPr>
          <p:cNvPr id="5" name="Text 3"/>
          <p:cNvSpPr/>
          <p:nvPr/>
        </p:nvSpPr>
        <p:spPr>
          <a:xfrm>
            <a:off x="685800" y="2395728"/>
            <a:ext cx="9509760" cy="777240"/>
          </a:xfrm>
          <a:prstGeom prst="rect">
            <a:avLst/>
          </a:prstGeom>
          <a:noFill/>
          <a:ln/>
        </p:spPr>
        <p:txBody>
          <a:bodyPr wrap="square" lIns="0" tIns="0" rIns="0" bIns="0" rtlCol="0" anchor="ctr"/>
          <a:lstStyle/>
          <a:p>
            <a:pPr marL="0" indent="0">
              <a:lnSpc>
                <a:spcPts val="2200"/>
              </a:lnSpc>
              <a:buNone/>
            </a:pPr>
            <a:r>
              <a:rPr lang="en-US" sz="1450" dirty="0">
                <a:solidFill>
                  <a:srgbClr val="C6D2E2"/>
                </a:solidFill>
                <a:latin typeface="Calibri" pitchFamily="34" charset="0"/>
                <a:ea typeface="Calibri" pitchFamily="34" charset="-122"/>
                <a:cs typeface="Calibri" pitchFamily="34" charset="-120"/>
              </a:rPr>
              <a:t>The optimized portfolio beat SPY on return, volatility, and drawdown at once. So we stress-tested it: rebuild the same max-Sharpe portfolio with assets removed, and the advantage disappears.</a:t>
            </a:r>
            <a:endParaRPr lang="en-US" sz="14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85800" y="3401568"/>
          <a:ext cx="685800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tblGrid>
              <a:tr h="365760">
                <a:tc>
                  <a:txBody>
                    <a:bodyPr/>
                    <a:lstStyle/>
                    <a:p>
                      <a:pPr marL="0" indent="0" algn="l">
                        <a:buNone/>
                      </a:pPr>
                      <a:r>
                        <a:rPr lang="en-US" sz="1200" b="1" dirty="0">
                          <a:solidFill>
                            <a:srgbClr val="6FD3C4"/>
                          </a:solidFill>
                          <a:latin typeface="Calibri" pitchFamily="34" charset="0"/>
                          <a:ea typeface="Calibri" pitchFamily="34" charset="-122"/>
                          <a:cs typeface="Calibri" pitchFamily="34" charset="-120"/>
                        </a:rPr>
                        <a:t>Universe given to the optimizer</a:t>
                      </a:r>
                      <a:endParaRPr lang="en-US" sz="1200" dirty="0">
                        <a:latin typeface="Calibri" charset="0"/>
                        <a:ea typeface="Calibri" charset="0"/>
                        <a:cs typeface="Calibri" charset="0"/>
                      </a:endParaRPr>
                    </a:p>
                  </a:txBody>
                  <a:tcPr marL="114300" marR="114300" marT="38100" marB="38100" anchor="ctr">
                    <a:lnL w="12700" cap="flat" cmpd="sng" algn="ctr">
                      <a:solidFill>
                        <a:srgbClr val="2C4568"/>
                      </a:solidFill>
                      <a:prstDash val="solid"/>
                      <a:round/>
                      <a:headEnd type="none" w="med" len="med"/>
                      <a:tailEnd type="none" w="med" len="med"/>
                    </a:lnL>
                    <a:lnR w="12700" cap="flat" cmpd="sng" algn="ctr">
                      <a:solidFill>
                        <a:srgbClr val="2C4568"/>
                      </a:solidFill>
                      <a:prstDash val="solid"/>
                      <a:round/>
                      <a:headEnd type="none" w="med" len="med"/>
                      <a:tailEnd type="none" w="med" len="med"/>
                    </a:lnR>
                    <a:lnT w="12700" cap="flat" cmpd="sng" algn="ctr">
                      <a:solidFill>
                        <a:srgbClr val="2C4568"/>
                      </a:solidFill>
                      <a:prstDash val="solid"/>
                      <a:round/>
                      <a:headEnd type="none" w="med" len="med"/>
                      <a:tailEnd type="none" w="med" len="med"/>
                    </a:lnT>
                    <a:lnB w="12700" cap="flat" cmpd="sng" algn="ctr">
                      <a:solidFill>
                        <a:srgbClr val="2C4568"/>
                      </a:solidFill>
                      <a:prstDash val="solid"/>
                      <a:round/>
                      <a:headEnd type="none" w="med" len="med"/>
                      <a:tailEnd type="none" w="med" len="med"/>
                    </a:lnB>
                    <a:solidFill>
                      <a:srgbClr val="1B3358"/>
                    </a:solidFill>
                  </a:tcPr>
                </a:tc>
                <a:tc>
                  <a:txBody>
                    <a:bodyPr/>
                    <a:lstStyle/>
                    <a:p>
                      <a:pPr marL="0" indent="0" algn="r">
                        <a:buNone/>
                      </a:pPr>
                      <a:r>
                        <a:rPr lang="en-US" sz="1200" b="1" dirty="0">
                          <a:solidFill>
                            <a:srgbClr val="6FD3C4"/>
                          </a:solidFill>
                          <a:latin typeface="Calibri" pitchFamily="34" charset="0"/>
                          <a:ea typeface="Calibri" pitchFamily="34" charset="-122"/>
                          <a:cs typeface="Calibri" pitchFamily="34" charset="-120"/>
                        </a:rPr>
                        <a:t>Ann. return</a:t>
                      </a:r>
                      <a:endParaRPr lang="en-US" sz="1200" dirty="0">
                        <a:latin typeface="Calibri" charset="0"/>
                        <a:ea typeface="Calibri" charset="0"/>
                        <a:cs typeface="Calibri" charset="0"/>
                      </a:endParaRPr>
                    </a:p>
                  </a:txBody>
                  <a:tcPr marL="114300" marR="114300" marT="38100" marB="38100" anchor="ctr">
                    <a:lnL w="12700" cap="flat" cmpd="sng" algn="ctr">
                      <a:solidFill>
                        <a:srgbClr val="2C4568"/>
                      </a:solidFill>
                      <a:prstDash val="solid"/>
                      <a:round/>
                      <a:headEnd type="none" w="med" len="med"/>
                      <a:tailEnd type="none" w="med" len="med"/>
                    </a:lnL>
                    <a:lnR w="12700" cap="flat" cmpd="sng" algn="ctr">
                      <a:solidFill>
                        <a:srgbClr val="2C4568"/>
                      </a:solidFill>
                      <a:prstDash val="solid"/>
                      <a:round/>
                      <a:headEnd type="none" w="med" len="med"/>
                      <a:tailEnd type="none" w="med" len="med"/>
                    </a:lnR>
                    <a:lnT w="12700" cap="flat" cmpd="sng" algn="ctr">
                      <a:solidFill>
                        <a:srgbClr val="2C4568"/>
                      </a:solidFill>
                      <a:prstDash val="solid"/>
                      <a:round/>
                      <a:headEnd type="none" w="med" len="med"/>
                      <a:tailEnd type="none" w="med" len="med"/>
                    </a:lnT>
                    <a:lnB w="12700" cap="flat" cmpd="sng" algn="ctr">
                      <a:solidFill>
                        <a:srgbClr val="2C4568"/>
                      </a:solidFill>
                      <a:prstDash val="solid"/>
                      <a:round/>
                      <a:headEnd type="none" w="med" len="med"/>
                      <a:tailEnd type="none" w="med" len="med"/>
                    </a:lnB>
                    <a:solidFill>
                      <a:srgbClr val="1B3358"/>
                    </a:solidFill>
                  </a:tcPr>
                </a:tc>
                <a:tc>
                  <a:txBody>
                    <a:bodyPr/>
                    <a:lstStyle/>
                    <a:p>
                      <a:pPr marL="0" indent="0" algn="r">
                        <a:buNone/>
                      </a:pPr>
                      <a:r>
                        <a:rPr lang="en-US" sz="1200" b="1" dirty="0">
                          <a:solidFill>
                            <a:srgbClr val="6FD3C4"/>
                          </a:solidFill>
                          <a:latin typeface="Calibri" pitchFamily="34" charset="0"/>
                          <a:ea typeface="Calibri" pitchFamily="34" charset="-122"/>
                          <a:cs typeface="Calibri" pitchFamily="34" charset="-120"/>
                        </a:rPr>
                        <a:t>Sharpe</a:t>
                      </a:r>
                      <a:endParaRPr lang="en-US" sz="1200" dirty="0">
                        <a:latin typeface="Calibri" charset="0"/>
                        <a:ea typeface="Calibri" charset="0"/>
                        <a:cs typeface="Calibri" charset="0"/>
                      </a:endParaRPr>
                    </a:p>
                  </a:txBody>
                  <a:tcPr marL="114300" marR="114300" marT="38100" marB="38100" anchor="ctr">
                    <a:lnL w="12700" cap="flat" cmpd="sng" algn="ctr">
                      <a:solidFill>
                        <a:srgbClr val="2C4568"/>
                      </a:solidFill>
                      <a:prstDash val="solid"/>
                      <a:round/>
                      <a:headEnd type="none" w="med" len="med"/>
                      <a:tailEnd type="none" w="med" len="med"/>
                    </a:lnL>
                    <a:lnR w="12700" cap="flat" cmpd="sng" algn="ctr">
                      <a:solidFill>
                        <a:srgbClr val="2C4568"/>
                      </a:solidFill>
                      <a:prstDash val="solid"/>
                      <a:round/>
                      <a:headEnd type="none" w="med" len="med"/>
                      <a:tailEnd type="none" w="med" len="med"/>
                    </a:lnR>
                    <a:lnT w="12700" cap="flat" cmpd="sng" algn="ctr">
                      <a:solidFill>
                        <a:srgbClr val="2C4568"/>
                      </a:solidFill>
                      <a:prstDash val="solid"/>
                      <a:round/>
                      <a:headEnd type="none" w="med" len="med"/>
                      <a:tailEnd type="none" w="med" len="med"/>
                    </a:lnT>
                    <a:lnB w="12700" cap="flat" cmpd="sng" algn="ctr">
                      <a:solidFill>
                        <a:srgbClr val="2C4568"/>
                      </a:solidFill>
                      <a:prstDash val="solid"/>
                      <a:round/>
                      <a:headEnd type="none" w="med" len="med"/>
                      <a:tailEnd type="none" w="med" len="med"/>
                    </a:lnB>
                    <a:solidFill>
                      <a:srgbClr val="1B3358"/>
                    </a:solidFill>
                  </a:tcPr>
                </a:tc>
                <a:tc>
                  <a:txBody>
                    <a:bodyPr/>
                    <a:lstStyle/>
                    <a:p>
                      <a:pPr marL="0" indent="0" algn="r">
                        <a:buNone/>
                      </a:pPr>
                      <a:r>
                        <a:rPr lang="en-US" sz="1200" b="1" dirty="0">
                          <a:solidFill>
                            <a:srgbClr val="6FD3C4"/>
                          </a:solidFill>
                          <a:latin typeface="Calibri" pitchFamily="34" charset="0"/>
                          <a:ea typeface="Calibri" pitchFamily="34" charset="-122"/>
                          <a:cs typeface="Calibri" pitchFamily="34" charset="-120"/>
                        </a:rPr>
                        <a:t>vs. SPY</a:t>
                      </a:r>
                      <a:endParaRPr lang="en-US" sz="1200" dirty="0">
                        <a:latin typeface="Calibri" charset="0"/>
                        <a:ea typeface="Calibri" charset="0"/>
                        <a:cs typeface="Calibri" charset="0"/>
                      </a:endParaRPr>
                    </a:p>
                  </a:txBody>
                  <a:tcPr marL="114300" marR="114300" marT="38100" marB="38100" anchor="ctr">
                    <a:lnL w="12700" cap="flat" cmpd="sng" algn="ctr">
                      <a:solidFill>
                        <a:srgbClr val="2C4568"/>
                      </a:solidFill>
                      <a:prstDash val="solid"/>
                      <a:round/>
                      <a:headEnd type="none" w="med" len="med"/>
                      <a:tailEnd type="none" w="med" len="med"/>
                    </a:lnL>
                    <a:lnR w="12700" cap="flat" cmpd="sng" algn="ctr">
                      <a:solidFill>
                        <a:srgbClr val="2C4568"/>
                      </a:solidFill>
                      <a:prstDash val="solid"/>
                      <a:round/>
                      <a:headEnd type="none" w="med" len="med"/>
                      <a:tailEnd type="none" w="med" len="med"/>
                    </a:lnR>
                    <a:lnT w="12700" cap="flat" cmpd="sng" algn="ctr">
                      <a:solidFill>
                        <a:srgbClr val="2C4568"/>
                      </a:solidFill>
                      <a:prstDash val="solid"/>
                      <a:round/>
                      <a:headEnd type="none" w="med" len="med"/>
                      <a:tailEnd type="none" w="med" len="med"/>
                    </a:lnT>
                    <a:lnB w="12700" cap="flat" cmpd="sng" algn="ctr">
                      <a:solidFill>
                        <a:srgbClr val="2C4568"/>
                      </a:solidFill>
                      <a:prstDash val="solid"/>
                      <a:round/>
                      <a:headEnd type="none" w="med" len="med"/>
                      <a:tailEnd type="none" w="med" len="med"/>
                    </a:lnB>
                    <a:solidFill>
                      <a:srgbClr val="1B3358"/>
                    </a:solidFill>
                  </a:tcPr>
                </a:tc>
                <a:extLst>
                  <a:ext uri="{0D108BD9-81ED-4DB2-BD59-A6C34878D82A}">
                    <a16:rowId xmlns:a16="http://schemas.microsoft.com/office/drawing/2014/main" val="10000"/>
                  </a:ext>
                </a:extLst>
              </a:tr>
              <a:tr h="365760">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All 20 assets</a:t>
                      </a:r>
                      <a:endParaRPr lang="en-US" sz="1300" dirty="0">
                        <a:latin typeface="Calibri" charset="0"/>
                        <a:ea typeface="Calibri" charset="0"/>
                        <a:cs typeface="Calibri" charset="0"/>
                      </a:endParaRPr>
                    </a:p>
                  </a:txBody>
                  <a:tcPr marL="114300" marR="114300" marT="38100" marB="38100" anchor="ctr">
                    <a:lnL w="12700" cap="flat" cmpd="sng" algn="ctr">
                      <a:solidFill>
                        <a:srgbClr val="2C4568"/>
                      </a:solidFill>
                      <a:prstDash val="solid"/>
                      <a:round/>
                      <a:headEnd type="none" w="med" len="med"/>
                      <a:tailEnd type="none" w="med" len="med"/>
                    </a:lnL>
                    <a:lnR w="12700" cap="flat" cmpd="sng" algn="ctr">
                      <a:solidFill>
                        <a:srgbClr val="2C4568"/>
                      </a:solidFill>
                      <a:prstDash val="solid"/>
                      <a:round/>
                      <a:headEnd type="none" w="med" len="med"/>
                      <a:tailEnd type="none" w="med" len="med"/>
                    </a:lnR>
                    <a:lnT w="12700" cap="flat" cmpd="sng" algn="ctr">
                      <a:solidFill>
                        <a:srgbClr val="2C4568"/>
                      </a:solidFill>
                      <a:prstDash val="solid"/>
                      <a:round/>
                      <a:headEnd type="none" w="med" len="med"/>
                      <a:tailEnd type="none" w="med" len="med"/>
                    </a:lnT>
                    <a:lnB w="12700" cap="flat" cmpd="sng" algn="ctr">
                      <a:solidFill>
                        <a:srgbClr val="2C4568"/>
                      </a:solidFill>
                      <a:prstDash val="solid"/>
                      <a:round/>
                      <a:headEnd type="none" w="med" len="med"/>
                      <a:tailEnd type="none" w="med" len="med"/>
                    </a:lnB>
                    <a:solidFill>
                      <a:srgbClr val="1B3358"/>
                    </a:solidFill>
                  </a:tcPr>
                </a:tc>
                <a:tc>
                  <a:txBody>
                    <a:bodyPr/>
                    <a:lstStyle/>
                    <a:p>
                      <a:pPr marL="0" indent="0" algn="r">
                        <a:buNone/>
                      </a:pPr>
                      <a:r>
                        <a:rPr lang="en-US" sz="1300" b="1" dirty="0">
                          <a:solidFill>
                            <a:srgbClr val="FFFFFF"/>
                          </a:solidFill>
                          <a:latin typeface="Calibri" pitchFamily="34" charset="0"/>
                          <a:ea typeface="Calibri" pitchFamily="34" charset="-122"/>
                          <a:cs typeface="Calibri" pitchFamily="34" charset="-120"/>
                        </a:rPr>
                        <a:t>26.7%</a:t>
                      </a:r>
                      <a:endParaRPr lang="en-US" sz="1300" dirty="0">
                        <a:latin typeface="Calibri" charset="0"/>
                        <a:ea typeface="Calibri" charset="0"/>
                        <a:cs typeface="Calibri" charset="0"/>
                      </a:endParaRPr>
                    </a:p>
                  </a:txBody>
                  <a:tcPr marL="114300" marR="114300" marT="38100" marB="38100" anchor="ctr">
                    <a:lnL w="12700" cap="flat" cmpd="sng" algn="ctr">
                      <a:solidFill>
                        <a:srgbClr val="2C4568"/>
                      </a:solidFill>
                      <a:prstDash val="solid"/>
                      <a:round/>
                      <a:headEnd type="none" w="med" len="med"/>
                      <a:tailEnd type="none" w="med" len="med"/>
                    </a:lnL>
                    <a:lnR w="12700" cap="flat" cmpd="sng" algn="ctr">
                      <a:solidFill>
                        <a:srgbClr val="2C4568"/>
                      </a:solidFill>
                      <a:prstDash val="solid"/>
                      <a:round/>
                      <a:headEnd type="none" w="med" len="med"/>
                      <a:tailEnd type="none" w="med" len="med"/>
                    </a:lnR>
                    <a:lnT w="12700" cap="flat" cmpd="sng" algn="ctr">
                      <a:solidFill>
                        <a:srgbClr val="2C4568"/>
                      </a:solidFill>
                      <a:prstDash val="solid"/>
                      <a:round/>
                      <a:headEnd type="none" w="med" len="med"/>
                      <a:tailEnd type="none" w="med" len="med"/>
                    </a:lnT>
                    <a:lnB w="12700" cap="flat" cmpd="sng" algn="ctr">
                      <a:solidFill>
                        <a:srgbClr val="2C4568"/>
                      </a:solidFill>
                      <a:prstDash val="solid"/>
                      <a:round/>
                      <a:headEnd type="none" w="med" len="med"/>
                      <a:tailEnd type="none" w="med" len="med"/>
                    </a:lnB>
                    <a:solidFill>
                      <a:srgbClr val="1B3358"/>
                    </a:solidFill>
                  </a:tcPr>
                </a:tc>
                <a:tc>
                  <a:txBody>
                    <a:bodyPr/>
                    <a:lstStyle/>
                    <a:p>
                      <a:pPr marL="0" indent="0" algn="r">
                        <a:buNone/>
                      </a:pPr>
                      <a:r>
                        <a:rPr lang="en-US" sz="1300" b="1" dirty="0">
                          <a:solidFill>
                            <a:srgbClr val="FFFFFF"/>
                          </a:solidFill>
                          <a:latin typeface="Calibri" pitchFamily="34" charset="0"/>
                          <a:ea typeface="Calibri" pitchFamily="34" charset="-122"/>
                          <a:cs typeface="Calibri" pitchFamily="34" charset="-120"/>
                        </a:rPr>
                        <a:t>1.60</a:t>
                      </a:r>
                      <a:endParaRPr lang="en-US" sz="1300" dirty="0">
                        <a:latin typeface="Calibri" charset="0"/>
                        <a:ea typeface="Calibri" charset="0"/>
                        <a:cs typeface="Calibri" charset="0"/>
                      </a:endParaRPr>
                    </a:p>
                  </a:txBody>
                  <a:tcPr marL="114300" marR="114300" marT="38100" marB="38100" anchor="ctr">
                    <a:lnL w="12700" cap="flat" cmpd="sng" algn="ctr">
                      <a:solidFill>
                        <a:srgbClr val="2C4568"/>
                      </a:solidFill>
                      <a:prstDash val="solid"/>
                      <a:round/>
                      <a:headEnd type="none" w="med" len="med"/>
                      <a:tailEnd type="none" w="med" len="med"/>
                    </a:lnL>
                    <a:lnR w="12700" cap="flat" cmpd="sng" algn="ctr">
                      <a:solidFill>
                        <a:srgbClr val="2C4568"/>
                      </a:solidFill>
                      <a:prstDash val="solid"/>
                      <a:round/>
                      <a:headEnd type="none" w="med" len="med"/>
                      <a:tailEnd type="none" w="med" len="med"/>
                    </a:lnR>
                    <a:lnT w="12700" cap="flat" cmpd="sng" algn="ctr">
                      <a:solidFill>
                        <a:srgbClr val="2C4568"/>
                      </a:solidFill>
                      <a:prstDash val="solid"/>
                      <a:round/>
                      <a:headEnd type="none" w="med" len="med"/>
                      <a:tailEnd type="none" w="med" len="med"/>
                    </a:lnT>
                    <a:lnB w="12700" cap="flat" cmpd="sng" algn="ctr">
                      <a:solidFill>
                        <a:srgbClr val="2C4568"/>
                      </a:solidFill>
                      <a:prstDash val="solid"/>
                      <a:round/>
                      <a:headEnd type="none" w="med" len="med"/>
                      <a:tailEnd type="none" w="med" len="med"/>
                    </a:lnB>
                    <a:solidFill>
                      <a:srgbClr val="1B3358"/>
                    </a:solidFill>
                  </a:tcPr>
                </a:tc>
                <a:tc>
                  <a:txBody>
                    <a:bodyPr/>
                    <a:lstStyle/>
                    <a:p>
                      <a:pPr marL="0" indent="0" algn="r">
                        <a:buNone/>
                      </a:pPr>
                      <a:r>
                        <a:rPr lang="en-US" sz="1300" b="1" dirty="0">
                          <a:solidFill>
                            <a:srgbClr val="FFFFFF"/>
                          </a:solidFill>
                          <a:latin typeface="Calibri" pitchFamily="34" charset="0"/>
                          <a:ea typeface="Calibri" pitchFamily="34" charset="-122"/>
                          <a:cs typeface="Calibri" pitchFamily="34" charset="-120"/>
                        </a:rPr>
                        <a:t>wins</a:t>
                      </a:r>
                      <a:endParaRPr lang="en-US" sz="1300" dirty="0">
                        <a:latin typeface="Calibri" charset="0"/>
                        <a:ea typeface="Calibri" charset="0"/>
                        <a:cs typeface="Calibri" charset="0"/>
                      </a:endParaRPr>
                    </a:p>
                  </a:txBody>
                  <a:tcPr marL="114300" marR="114300" marT="38100" marB="38100" anchor="ctr">
                    <a:lnL w="12700" cap="flat" cmpd="sng" algn="ctr">
                      <a:solidFill>
                        <a:srgbClr val="2C4568"/>
                      </a:solidFill>
                      <a:prstDash val="solid"/>
                      <a:round/>
                      <a:headEnd type="none" w="med" len="med"/>
                      <a:tailEnd type="none" w="med" len="med"/>
                    </a:lnL>
                    <a:lnR w="12700" cap="flat" cmpd="sng" algn="ctr">
                      <a:solidFill>
                        <a:srgbClr val="2C4568"/>
                      </a:solidFill>
                      <a:prstDash val="solid"/>
                      <a:round/>
                      <a:headEnd type="none" w="med" len="med"/>
                      <a:tailEnd type="none" w="med" len="med"/>
                    </a:lnR>
                    <a:lnT w="12700" cap="flat" cmpd="sng" algn="ctr">
                      <a:solidFill>
                        <a:srgbClr val="2C4568"/>
                      </a:solidFill>
                      <a:prstDash val="solid"/>
                      <a:round/>
                      <a:headEnd type="none" w="med" len="med"/>
                      <a:tailEnd type="none" w="med" len="med"/>
                    </a:lnT>
                    <a:lnB w="12700" cap="flat" cmpd="sng" algn="ctr">
                      <a:solidFill>
                        <a:srgbClr val="2C4568"/>
                      </a:solidFill>
                      <a:prstDash val="solid"/>
                      <a:round/>
                      <a:headEnd type="none" w="med" len="med"/>
                      <a:tailEnd type="none" w="med" len="med"/>
                    </a:lnB>
                    <a:solidFill>
                      <a:srgbClr val="1B3358"/>
                    </a:solidFill>
                  </a:tcPr>
                </a:tc>
                <a:extLst>
                  <a:ext uri="{0D108BD9-81ED-4DB2-BD59-A6C34878D82A}">
                    <a16:rowId xmlns:a16="http://schemas.microsoft.com/office/drawing/2014/main" val="10001"/>
                  </a:ext>
                </a:extLst>
              </a:tr>
              <a:tr h="365760">
                <a:tc>
                  <a:txBody>
                    <a:bodyPr/>
                    <a:lstStyle/>
                    <a:p>
                      <a:pPr marL="0" indent="0" algn="l">
                        <a:buNone/>
                      </a:pPr>
                      <a:r>
                        <a:rPr lang="en-US" sz="1300" dirty="0">
                          <a:solidFill>
                            <a:srgbClr val="AFC0D4"/>
                          </a:solidFill>
                          <a:latin typeface="Calibri" pitchFamily="34" charset="0"/>
                          <a:ea typeface="Calibri" pitchFamily="34" charset="-122"/>
                          <a:cs typeface="Calibri" pitchFamily="34" charset="-120"/>
                        </a:rPr>
                        <a:t>Without GLD</a:t>
                      </a:r>
                      <a:endParaRPr lang="en-US" sz="1300" dirty="0">
                        <a:latin typeface="Calibri" charset="0"/>
                        <a:ea typeface="Calibri" charset="0"/>
                        <a:cs typeface="Calibri" charset="0"/>
                      </a:endParaRPr>
                    </a:p>
                  </a:txBody>
                  <a:tcPr marL="114300" marR="114300" marT="38100" marB="38100" anchor="ctr">
                    <a:lnL w="12700" cap="flat" cmpd="sng" algn="ctr">
                      <a:solidFill>
                        <a:srgbClr val="2C4568"/>
                      </a:solidFill>
                      <a:prstDash val="solid"/>
                      <a:round/>
                      <a:headEnd type="none" w="med" len="med"/>
                      <a:tailEnd type="none" w="med" len="med"/>
                    </a:lnL>
                    <a:lnR w="12700" cap="flat" cmpd="sng" algn="ctr">
                      <a:solidFill>
                        <a:srgbClr val="2C4568"/>
                      </a:solidFill>
                      <a:prstDash val="solid"/>
                      <a:round/>
                      <a:headEnd type="none" w="med" len="med"/>
                      <a:tailEnd type="none" w="med" len="med"/>
                    </a:lnR>
                    <a:lnT w="12700" cap="flat" cmpd="sng" algn="ctr">
                      <a:solidFill>
                        <a:srgbClr val="2C4568"/>
                      </a:solidFill>
                      <a:prstDash val="solid"/>
                      <a:round/>
                      <a:headEnd type="none" w="med" len="med"/>
                      <a:tailEnd type="none" w="med" len="med"/>
                    </a:lnT>
                    <a:lnB w="12700" cap="flat" cmpd="sng" algn="ctr">
                      <a:solidFill>
                        <a:srgbClr val="2C4568"/>
                      </a:solidFill>
                      <a:prstDash val="solid"/>
                      <a:round/>
                      <a:headEnd type="none" w="med" len="med"/>
                      <a:tailEnd type="none" w="med" len="med"/>
                    </a:lnB>
                    <a:solidFill>
                      <a:srgbClr val="0E1F3C"/>
                    </a:solidFill>
                  </a:tcPr>
                </a:tc>
                <a:tc>
                  <a:txBody>
                    <a:bodyPr/>
                    <a:lstStyle/>
                    <a:p>
                      <a:pPr marL="0" indent="0" algn="r">
                        <a:buNone/>
                      </a:pPr>
                      <a:r>
                        <a:rPr lang="en-US" sz="1300" dirty="0">
                          <a:solidFill>
                            <a:srgbClr val="AFC0D4"/>
                          </a:solidFill>
                          <a:latin typeface="Calibri" pitchFamily="34" charset="0"/>
                          <a:ea typeface="Calibri" pitchFamily="34" charset="-122"/>
                          <a:cs typeface="Calibri" pitchFamily="34" charset="-120"/>
                        </a:rPr>
                        <a:t>18.8%</a:t>
                      </a:r>
                      <a:endParaRPr lang="en-US" sz="1300" dirty="0">
                        <a:latin typeface="Calibri" charset="0"/>
                        <a:ea typeface="Calibri" charset="0"/>
                        <a:cs typeface="Calibri" charset="0"/>
                      </a:endParaRPr>
                    </a:p>
                  </a:txBody>
                  <a:tcPr marL="114300" marR="114300" marT="38100" marB="38100" anchor="ctr">
                    <a:lnL w="12700" cap="flat" cmpd="sng" algn="ctr">
                      <a:solidFill>
                        <a:srgbClr val="2C4568"/>
                      </a:solidFill>
                      <a:prstDash val="solid"/>
                      <a:round/>
                      <a:headEnd type="none" w="med" len="med"/>
                      <a:tailEnd type="none" w="med" len="med"/>
                    </a:lnL>
                    <a:lnR w="12700" cap="flat" cmpd="sng" algn="ctr">
                      <a:solidFill>
                        <a:srgbClr val="2C4568"/>
                      </a:solidFill>
                      <a:prstDash val="solid"/>
                      <a:round/>
                      <a:headEnd type="none" w="med" len="med"/>
                      <a:tailEnd type="none" w="med" len="med"/>
                    </a:lnR>
                    <a:lnT w="12700" cap="flat" cmpd="sng" algn="ctr">
                      <a:solidFill>
                        <a:srgbClr val="2C4568"/>
                      </a:solidFill>
                      <a:prstDash val="solid"/>
                      <a:round/>
                      <a:headEnd type="none" w="med" len="med"/>
                      <a:tailEnd type="none" w="med" len="med"/>
                    </a:lnT>
                    <a:lnB w="12700" cap="flat" cmpd="sng" algn="ctr">
                      <a:solidFill>
                        <a:srgbClr val="2C4568"/>
                      </a:solidFill>
                      <a:prstDash val="solid"/>
                      <a:round/>
                      <a:headEnd type="none" w="med" len="med"/>
                      <a:tailEnd type="none" w="med" len="med"/>
                    </a:lnB>
                    <a:solidFill>
                      <a:srgbClr val="0E1F3C"/>
                    </a:solidFill>
                  </a:tcPr>
                </a:tc>
                <a:tc>
                  <a:txBody>
                    <a:bodyPr/>
                    <a:lstStyle/>
                    <a:p>
                      <a:pPr marL="0" indent="0" algn="r">
                        <a:buNone/>
                      </a:pPr>
                      <a:r>
                        <a:rPr lang="en-US" sz="1300" dirty="0">
                          <a:solidFill>
                            <a:srgbClr val="AFC0D4"/>
                          </a:solidFill>
                          <a:latin typeface="Calibri" pitchFamily="34" charset="0"/>
                          <a:ea typeface="Calibri" pitchFamily="34" charset="-122"/>
                          <a:cs typeface="Calibri" pitchFamily="34" charset="-120"/>
                        </a:rPr>
                        <a:t>1.01</a:t>
                      </a:r>
                      <a:endParaRPr lang="en-US" sz="1300" dirty="0">
                        <a:latin typeface="Calibri" charset="0"/>
                        <a:ea typeface="Calibri" charset="0"/>
                        <a:cs typeface="Calibri" charset="0"/>
                      </a:endParaRPr>
                    </a:p>
                  </a:txBody>
                  <a:tcPr marL="114300" marR="114300" marT="38100" marB="38100" anchor="ctr">
                    <a:lnL w="12700" cap="flat" cmpd="sng" algn="ctr">
                      <a:solidFill>
                        <a:srgbClr val="2C4568"/>
                      </a:solidFill>
                      <a:prstDash val="solid"/>
                      <a:round/>
                      <a:headEnd type="none" w="med" len="med"/>
                      <a:tailEnd type="none" w="med" len="med"/>
                    </a:lnL>
                    <a:lnR w="12700" cap="flat" cmpd="sng" algn="ctr">
                      <a:solidFill>
                        <a:srgbClr val="2C4568"/>
                      </a:solidFill>
                      <a:prstDash val="solid"/>
                      <a:round/>
                      <a:headEnd type="none" w="med" len="med"/>
                      <a:tailEnd type="none" w="med" len="med"/>
                    </a:lnR>
                    <a:lnT w="12700" cap="flat" cmpd="sng" algn="ctr">
                      <a:solidFill>
                        <a:srgbClr val="2C4568"/>
                      </a:solidFill>
                      <a:prstDash val="solid"/>
                      <a:round/>
                      <a:headEnd type="none" w="med" len="med"/>
                      <a:tailEnd type="none" w="med" len="med"/>
                    </a:lnT>
                    <a:lnB w="12700" cap="flat" cmpd="sng" algn="ctr">
                      <a:solidFill>
                        <a:srgbClr val="2C4568"/>
                      </a:solidFill>
                      <a:prstDash val="solid"/>
                      <a:round/>
                      <a:headEnd type="none" w="med" len="med"/>
                      <a:tailEnd type="none" w="med" len="med"/>
                    </a:lnB>
                    <a:solidFill>
                      <a:srgbClr val="0E1F3C"/>
                    </a:solidFill>
                  </a:tcPr>
                </a:tc>
                <a:tc>
                  <a:txBody>
                    <a:bodyPr/>
                    <a:lstStyle/>
                    <a:p>
                      <a:pPr marL="0" indent="0" algn="r">
                        <a:buNone/>
                      </a:pPr>
                      <a:r>
                        <a:rPr lang="en-US" sz="1300" dirty="0">
                          <a:solidFill>
                            <a:srgbClr val="AFC0D4"/>
                          </a:solidFill>
                          <a:latin typeface="Calibri" pitchFamily="34" charset="0"/>
                          <a:ea typeface="Calibri" pitchFamily="34" charset="-122"/>
                          <a:cs typeface="Calibri" pitchFamily="34" charset="-120"/>
                        </a:rPr>
                        <a:t>ties</a:t>
                      </a:r>
                      <a:endParaRPr lang="en-US" sz="1300" dirty="0">
                        <a:latin typeface="Calibri" charset="0"/>
                        <a:ea typeface="Calibri" charset="0"/>
                        <a:cs typeface="Calibri" charset="0"/>
                      </a:endParaRPr>
                    </a:p>
                  </a:txBody>
                  <a:tcPr marL="114300" marR="114300" marT="38100" marB="38100" anchor="ctr">
                    <a:lnL w="12700" cap="flat" cmpd="sng" algn="ctr">
                      <a:solidFill>
                        <a:srgbClr val="2C4568"/>
                      </a:solidFill>
                      <a:prstDash val="solid"/>
                      <a:round/>
                      <a:headEnd type="none" w="med" len="med"/>
                      <a:tailEnd type="none" w="med" len="med"/>
                    </a:lnL>
                    <a:lnR w="12700" cap="flat" cmpd="sng" algn="ctr">
                      <a:solidFill>
                        <a:srgbClr val="2C4568"/>
                      </a:solidFill>
                      <a:prstDash val="solid"/>
                      <a:round/>
                      <a:headEnd type="none" w="med" len="med"/>
                      <a:tailEnd type="none" w="med" len="med"/>
                    </a:lnR>
                    <a:lnT w="12700" cap="flat" cmpd="sng" algn="ctr">
                      <a:solidFill>
                        <a:srgbClr val="2C4568"/>
                      </a:solidFill>
                      <a:prstDash val="solid"/>
                      <a:round/>
                      <a:headEnd type="none" w="med" len="med"/>
                      <a:tailEnd type="none" w="med" len="med"/>
                    </a:lnT>
                    <a:lnB w="12700" cap="flat" cmpd="sng" algn="ctr">
                      <a:solidFill>
                        <a:srgbClr val="2C4568"/>
                      </a:solidFill>
                      <a:prstDash val="solid"/>
                      <a:round/>
                      <a:headEnd type="none" w="med" len="med"/>
                      <a:tailEnd type="none" w="med" len="med"/>
                    </a:lnB>
                    <a:solidFill>
                      <a:srgbClr val="0E1F3C"/>
                    </a:solidFill>
                  </a:tcPr>
                </a:tc>
                <a:extLst>
                  <a:ext uri="{0D108BD9-81ED-4DB2-BD59-A6C34878D82A}">
                    <a16:rowId xmlns:a16="http://schemas.microsoft.com/office/drawing/2014/main" val="10002"/>
                  </a:ext>
                </a:extLst>
              </a:tr>
              <a:tr h="365760">
                <a:tc>
                  <a:txBody>
                    <a:bodyPr/>
                    <a:lstStyle/>
                    <a:p>
                      <a:pPr marL="0" indent="0" algn="l">
                        <a:buNone/>
                      </a:pPr>
                      <a:r>
                        <a:rPr lang="en-US" sz="1300" dirty="0">
                          <a:solidFill>
                            <a:srgbClr val="AFC0D4"/>
                          </a:solidFill>
                          <a:latin typeface="Calibri" pitchFamily="34" charset="0"/>
                          <a:ea typeface="Calibri" pitchFamily="34" charset="-122"/>
                          <a:cs typeface="Calibri" pitchFamily="34" charset="-120"/>
                        </a:rPr>
                        <a:t>Without GLD + LLY</a:t>
                      </a:r>
                      <a:endParaRPr lang="en-US" sz="1300" dirty="0">
                        <a:latin typeface="Calibri" charset="0"/>
                        <a:ea typeface="Calibri" charset="0"/>
                        <a:cs typeface="Calibri" charset="0"/>
                      </a:endParaRPr>
                    </a:p>
                  </a:txBody>
                  <a:tcPr marL="114300" marR="114300" marT="38100" marB="38100" anchor="ctr">
                    <a:lnL w="12700" cap="flat" cmpd="sng" algn="ctr">
                      <a:solidFill>
                        <a:srgbClr val="2C4568"/>
                      </a:solidFill>
                      <a:prstDash val="solid"/>
                      <a:round/>
                      <a:headEnd type="none" w="med" len="med"/>
                      <a:tailEnd type="none" w="med" len="med"/>
                    </a:lnL>
                    <a:lnR w="12700" cap="flat" cmpd="sng" algn="ctr">
                      <a:solidFill>
                        <a:srgbClr val="2C4568"/>
                      </a:solidFill>
                      <a:prstDash val="solid"/>
                      <a:round/>
                      <a:headEnd type="none" w="med" len="med"/>
                      <a:tailEnd type="none" w="med" len="med"/>
                    </a:lnR>
                    <a:lnT w="12700" cap="flat" cmpd="sng" algn="ctr">
                      <a:solidFill>
                        <a:srgbClr val="2C4568"/>
                      </a:solidFill>
                      <a:prstDash val="solid"/>
                      <a:round/>
                      <a:headEnd type="none" w="med" len="med"/>
                      <a:tailEnd type="none" w="med" len="med"/>
                    </a:lnT>
                    <a:lnB w="12700" cap="flat" cmpd="sng" algn="ctr">
                      <a:solidFill>
                        <a:srgbClr val="2C4568"/>
                      </a:solidFill>
                      <a:prstDash val="solid"/>
                      <a:round/>
                      <a:headEnd type="none" w="med" len="med"/>
                      <a:tailEnd type="none" w="med" len="med"/>
                    </a:lnB>
                    <a:solidFill>
                      <a:srgbClr val="0E1F3C"/>
                    </a:solidFill>
                  </a:tcPr>
                </a:tc>
                <a:tc>
                  <a:txBody>
                    <a:bodyPr/>
                    <a:lstStyle/>
                    <a:p>
                      <a:pPr marL="0" indent="0" algn="r">
                        <a:buNone/>
                      </a:pPr>
                      <a:r>
                        <a:rPr lang="en-US" sz="1300" dirty="0">
                          <a:solidFill>
                            <a:srgbClr val="AFC0D4"/>
                          </a:solidFill>
                          <a:latin typeface="Calibri" pitchFamily="34" charset="0"/>
                          <a:ea typeface="Calibri" pitchFamily="34" charset="-122"/>
                          <a:cs typeface="Calibri" pitchFamily="34" charset="-120"/>
                        </a:rPr>
                        <a:t>11.0%</a:t>
                      </a:r>
                      <a:endParaRPr lang="en-US" sz="1300" dirty="0">
                        <a:latin typeface="Calibri" charset="0"/>
                        <a:ea typeface="Calibri" charset="0"/>
                        <a:cs typeface="Calibri" charset="0"/>
                      </a:endParaRPr>
                    </a:p>
                  </a:txBody>
                  <a:tcPr marL="114300" marR="114300" marT="38100" marB="38100" anchor="ctr">
                    <a:lnL w="12700" cap="flat" cmpd="sng" algn="ctr">
                      <a:solidFill>
                        <a:srgbClr val="2C4568"/>
                      </a:solidFill>
                      <a:prstDash val="solid"/>
                      <a:round/>
                      <a:headEnd type="none" w="med" len="med"/>
                      <a:tailEnd type="none" w="med" len="med"/>
                    </a:lnL>
                    <a:lnR w="12700" cap="flat" cmpd="sng" algn="ctr">
                      <a:solidFill>
                        <a:srgbClr val="2C4568"/>
                      </a:solidFill>
                      <a:prstDash val="solid"/>
                      <a:round/>
                      <a:headEnd type="none" w="med" len="med"/>
                      <a:tailEnd type="none" w="med" len="med"/>
                    </a:lnR>
                    <a:lnT w="12700" cap="flat" cmpd="sng" algn="ctr">
                      <a:solidFill>
                        <a:srgbClr val="2C4568"/>
                      </a:solidFill>
                      <a:prstDash val="solid"/>
                      <a:round/>
                      <a:headEnd type="none" w="med" len="med"/>
                      <a:tailEnd type="none" w="med" len="med"/>
                    </a:lnT>
                    <a:lnB w="12700" cap="flat" cmpd="sng" algn="ctr">
                      <a:solidFill>
                        <a:srgbClr val="2C4568"/>
                      </a:solidFill>
                      <a:prstDash val="solid"/>
                      <a:round/>
                      <a:headEnd type="none" w="med" len="med"/>
                      <a:tailEnd type="none" w="med" len="med"/>
                    </a:lnB>
                    <a:solidFill>
                      <a:srgbClr val="0E1F3C"/>
                    </a:solidFill>
                  </a:tcPr>
                </a:tc>
                <a:tc>
                  <a:txBody>
                    <a:bodyPr/>
                    <a:lstStyle/>
                    <a:p>
                      <a:pPr marL="0" indent="0" algn="r">
                        <a:buNone/>
                      </a:pPr>
                      <a:r>
                        <a:rPr lang="en-US" sz="1300" dirty="0">
                          <a:solidFill>
                            <a:srgbClr val="AFC0D4"/>
                          </a:solidFill>
                          <a:latin typeface="Calibri" pitchFamily="34" charset="0"/>
                          <a:ea typeface="Calibri" pitchFamily="34" charset="-122"/>
                          <a:cs typeface="Calibri" pitchFamily="34" charset="-120"/>
                        </a:rPr>
                        <a:t>0.45</a:t>
                      </a:r>
                      <a:endParaRPr lang="en-US" sz="1300" dirty="0">
                        <a:latin typeface="Calibri" charset="0"/>
                        <a:ea typeface="Calibri" charset="0"/>
                        <a:cs typeface="Calibri" charset="0"/>
                      </a:endParaRPr>
                    </a:p>
                  </a:txBody>
                  <a:tcPr marL="114300" marR="114300" marT="38100" marB="38100" anchor="ctr">
                    <a:lnL w="12700" cap="flat" cmpd="sng" algn="ctr">
                      <a:solidFill>
                        <a:srgbClr val="2C4568"/>
                      </a:solidFill>
                      <a:prstDash val="solid"/>
                      <a:round/>
                      <a:headEnd type="none" w="med" len="med"/>
                      <a:tailEnd type="none" w="med" len="med"/>
                    </a:lnL>
                    <a:lnR w="12700" cap="flat" cmpd="sng" algn="ctr">
                      <a:solidFill>
                        <a:srgbClr val="2C4568"/>
                      </a:solidFill>
                      <a:prstDash val="solid"/>
                      <a:round/>
                      <a:headEnd type="none" w="med" len="med"/>
                      <a:tailEnd type="none" w="med" len="med"/>
                    </a:lnR>
                    <a:lnT w="12700" cap="flat" cmpd="sng" algn="ctr">
                      <a:solidFill>
                        <a:srgbClr val="2C4568"/>
                      </a:solidFill>
                      <a:prstDash val="solid"/>
                      <a:round/>
                      <a:headEnd type="none" w="med" len="med"/>
                      <a:tailEnd type="none" w="med" len="med"/>
                    </a:lnT>
                    <a:lnB w="12700" cap="flat" cmpd="sng" algn="ctr">
                      <a:solidFill>
                        <a:srgbClr val="2C4568"/>
                      </a:solidFill>
                      <a:prstDash val="solid"/>
                      <a:round/>
                      <a:headEnd type="none" w="med" len="med"/>
                      <a:tailEnd type="none" w="med" len="med"/>
                    </a:lnB>
                    <a:solidFill>
                      <a:srgbClr val="0E1F3C"/>
                    </a:solidFill>
                  </a:tcPr>
                </a:tc>
                <a:tc>
                  <a:txBody>
                    <a:bodyPr/>
                    <a:lstStyle/>
                    <a:p>
                      <a:pPr marL="0" indent="0" algn="r">
                        <a:buNone/>
                      </a:pPr>
                      <a:r>
                        <a:rPr lang="en-US" sz="1300" dirty="0">
                          <a:solidFill>
                            <a:srgbClr val="AFC0D4"/>
                          </a:solidFill>
                          <a:latin typeface="Calibri" pitchFamily="34" charset="0"/>
                          <a:ea typeface="Calibri" pitchFamily="34" charset="-122"/>
                          <a:cs typeface="Calibri" pitchFamily="34" charset="-120"/>
                        </a:rPr>
                        <a:t>loses</a:t>
                      </a:r>
                      <a:endParaRPr lang="en-US" sz="1300" dirty="0">
                        <a:latin typeface="Calibri" charset="0"/>
                        <a:ea typeface="Calibri" charset="0"/>
                        <a:cs typeface="Calibri" charset="0"/>
                      </a:endParaRPr>
                    </a:p>
                  </a:txBody>
                  <a:tcPr marL="114300" marR="114300" marT="38100" marB="38100" anchor="ctr">
                    <a:lnL w="12700" cap="flat" cmpd="sng" algn="ctr">
                      <a:solidFill>
                        <a:srgbClr val="2C4568"/>
                      </a:solidFill>
                      <a:prstDash val="solid"/>
                      <a:round/>
                      <a:headEnd type="none" w="med" len="med"/>
                      <a:tailEnd type="none" w="med" len="med"/>
                    </a:lnL>
                    <a:lnR w="12700" cap="flat" cmpd="sng" algn="ctr">
                      <a:solidFill>
                        <a:srgbClr val="2C4568"/>
                      </a:solidFill>
                      <a:prstDash val="solid"/>
                      <a:round/>
                      <a:headEnd type="none" w="med" len="med"/>
                      <a:tailEnd type="none" w="med" len="med"/>
                    </a:lnR>
                    <a:lnT w="12700" cap="flat" cmpd="sng" algn="ctr">
                      <a:solidFill>
                        <a:srgbClr val="2C4568"/>
                      </a:solidFill>
                      <a:prstDash val="solid"/>
                      <a:round/>
                      <a:headEnd type="none" w="med" len="med"/>
                      <a:tailEnd type="none" w="med" len="med"/>
                    </a:lnT>
                    <a:lnB w="12700" cap="flat" cmpd="sng" algn="ctr">
                      <a:solidFill>
                        <a:srgbClr val="2C4568"/>
                      </a:solidFill>
                      <a:prstDash val="solid"/>
                      <a:round/>
                      <a:headEnd type="none" w="med" len="med"/>
                      <a:tailEnd type="none" w="med" len="med"/>
                    </a:lnB>
                    <a:solidFill>
                      <a:srgbClr val="0E1F3C"/>
                    </a:solidFill>
                  </a:tcPr>
                </a:tc>
                <a:extLst>
                  <a:ext uri="{0D108BD9-81ED-4DB2-BD59-A6C34878D82A}">
                    <a16:rowId xmlns:a16="http://schemas.microsoft.com/office/drawing/2014/main" val="10003"/>
                  </a:ext>
                </a:extLst>
              </a:tr>
              <a:tr h="365760">
                <a:tc>
                  <a:txBody>
                    <a:bodyPr/>
                    <a:lstStyle/>
                    <a:p>
                      <a:pPr marL="0" indent="0" algn="l">
                        <a:buNone/>
                      </a:pPr>
                      <a:r>
                        <a:rPr lang="en-US" sz="1300" dirty="0">
                          <a:solidFill>
                            <a:srgbClr val="AFC0D4"/>
                          </a:solidFill>
                          <a:latin typeface="Calibri" pitchFamily="34" charset="0"/>
                          <a:ea typeface="Calibri" pitchFamily="34" charset="-122"/>
                          <a:cs typeface="Calibri" pitchFamily="34" charset="-120"/>
                        </a:rPr>
                        <a:t>SPY benchmark</a:t>
                      </a:r>
                      <a:endParaRPr lang="en-US" sz="1300" dirty="0">
                        <a:latin typeface="Calibri" charset="0"/>
                        <a:ea typeface="Calibri" charset="0"/>
                        <a:cs typeface="Calibri" charset="0"/>
                      </a:endParaRPr>
                    </a:p>
                  </a:txBody>
                  <a:tcPr marL="114300" marR="114300" marT="38100" marB="38100" anchor="ctr">
                    <a:lnL w="12700" cap="flat" cmpd="sng" algn="ctr">
                      <a:solidFill>
                        <a:srgbClr val="2C4568"/>
                      </a:solidFill>
                      <a:prstDash val="solid"/>
                      <a:round/>
                      <a:headEnd type="none" w="med" len="med"/>
                      <a:tailEnd type="none" w="med" len="med"/>
                    </a:lnL>
                    <a:lnR w="12700" cap="flat" cmpd="sng" algn="ctr">
                      <a:solidFill>
                        <a:srgbClr val="2C4568"/>
                      </a:solidFill>
                      <a:prstDash val="solid"/>
                      <a:round/>
                      <a:headEnd type="none" w="med" len="med"/>
                      <a:tailEnd type="none" w="med" len="med"/>
                    </a:lnR>
                    <a:lnT w="12700" cap="flat" cmpd="sng" algn="ctr">
                      <a:solidFill>
                        <a:srgbClr val="2C4568"/>
                      </a:solidFill>
                      <a:prstDash val="solid"/>
                      <a:round/>
                      <a:headEnd type="none" w="med" len="med"/>
                      <a:tailEnd type="none" w="med" len="med"/>
                    </a:lnT>
                    <a:lnB w="12700" cap="flat" cmpd="sng" algn="ctr">
                      <a:solidFill>
                        <a:srgbClr val="2C4568"/>
                      </a:solidFill>
                      <a:prstDash val="solid"/>
                      <a:round/>
                      <a:headEnd type="none" w="med" len="med"/>
                      <a:tailEnd type="none" w="med" len="med"/>
                    </a:lnB>
                    <a:solidFill>
                      <a:srgbClr val="0E1F3C"/>
                    </a:solidFill>
                  </a:tcPr>
                </a:tc>
                <a:tc>
                  <a:txBody>
                    <a:bodyPr/>
                    <a:lstStyle/>
                    <a:p>
                      <a:pPr marL="0" indent="0" algn="r">
                        <a:buNone/>
                      </a:pPr>
                      <a:r>
                        <a:rPr lang="en-US" sz="1300" dirty="0">
                          <a:solidFill>
                            <a:srgbClr val="AFC0D4"/>
                          </a:solidFill>
                          <a:latin typeface="Calibri" pitchFamily="34" charset="0"/>
                          <a:ea typeface="Calibri" pitchFamily="34" charset="-122"/>
                          <a:cs typeface="Calibri" pitchFamily="34" charset="-120"/>
                        </a:rPr>
                        <a:t>21.1%</a:t>
                      </a:r>
                      <a:endParaRPr lang="en-US" sz="1300" dirty="0">
                        <a:latin typeface="Calibri" charset="0"/>
                        <a:ea typeface="Calibri" charset="0"/>
                        <a:cs typeface="Calibri" charset="0"/>
                      </a:endParaRPr>
                    </a:p>
                  </a:txBody>
                  <a:tcPr marL="114300" marR="114300" marT="38100" marB="38100" anchor="ctr">
                    <a:lnL w="12700" cap="flat" cmpd="sng" algn="ctr">
                      <a:solidFill>
                        <a:srgbClr val="2C4568"/>
                      </a:solidFill>
                      <a:prstDash val="solid"/>
                      <a:round/>
                      <a:headEnd type="none" w="med" len="med"/>
                      <a:tailEnd type="none" w="med" len="med"/>
                    </a:lnL>
                    <a:lnR w="12700" cap="flat" cmpd="sng" algn="ctr">
                      <a:solidFill>
                        <a:srgbClr val="2C4568"/>
                      </a:solidFill>
                      <a:prstDash val="solid"/>
                      <a:round/>
                      <a:headEnd type="none" w="med" len="med"/>
                      <a:tailEnd type="none" w="med" len="med"/>
                    </a:lnR>
                    <a:lnT w="12700" cap="flat" cmpd="sng" algn="ctr">
                      <a:solidFill>
                        <a:srgbClr val="2C4568"/>
                      </a:solidFill>
                      <a:prstDash val="solid"/>
                      <a:round/>
                      <a:headEnd type="none" w="med" len="med"/>
                      <a:tailEnd type="none" w="med" len="med"/>
                    </a:lnT>
                    <a:lnB w="12700" cap="flat" cmpd="sng" algn="ctr">
                      <a:solidFill>
                        <a:srgbClr val="2C4568"/>
                      </a:solidFill>
                      <a:prstDash val="solid"/>
                      <a:round/>
                      <a:headEnd type="none" w="med" len="med"/>
                      <a:tailEnd type="none" w="med" len="med"/>
                    </a:lnB>
                    <a:solidFill>
                      <a:srgbClr val="0E1F3C"/>
                    </a:solidFill>
                  </a:tcPr>
                </a:tc>
                <a:tc>
                  <a:txBody>
                    <a:bodyPr/>
                    <a:lstStyle/>
                    <a:p>
                      <a:pPr marL="0" indent="0" algn="r">
                        <a:buNone/>
                      </a:pPr>
                      <a:r>
                        <a:rPr lang="en-US" sz="1300" dirty="0">
                          <a:solidFill>
                            <a:srgbClr val="AFC0D4"/>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114300" marR="114300" marT="38100" marB="38100" anchor="ctr">
                    <a:lnL w="12700" cap="flat" cmpd="sng" algn="ctr">
                      <a:solidFill>
                        <a:srgbClr val="2C4568"/>
                      </a:solidFill>
                      <a:prstDash val="solid"/>
                      <a:round/>
                      <a:headEnd type="none" w="med" len="med"/>
                      <a:tailEnd type="none" w="med" len="med"/>
                    </a:lnL>
                    <a:lnR w="12700" cap="flat" cmpd="sng" algn="ctr">
                      <a:solidFill>
                        <a:srgbClr val="2C4568"/>
                      </a:solidFill>
                      <a:prstDash val="solid"/>
                      <a:round/>
                      <a:headEnd type="none" w="med" len="med"/>
                      <a:tailEnd type="none" w="med" len="med"/>
                    </a:lnR>
                    <a:lnT w="12700" cap="flat" cmpd="sng" algn="ctr">
                      <a:solidFill>
                        <a:srgbClr val="2C4568"/>
                      </a:solidFill>
                      <a:prstDash val="solid"/>
                      <a:round/>
                      <a:headEnd type="none" w="med" len="med"/>
                      <a:tailEnd type="none" w="med" len="med"/>
                    </a:lnT>
                    <a:lnB w="12700" cap="flat" cmpd="sng" algn="ctr">
                      <a:solidFill>
                        <a:srgbClr val="2C4568"/>
                      </a:solidFill>
                      <a:prstDash val="solid"/>
                      <a:round/>
                      <a:headEnd type="none" w="med" len="med"/>
                      <a:tailEnd type="none" w="med" len="med"/>
                    </a:lnB>
                    <a:solidFill>
                      <a:srgbClr val="0E1F3C"/>
                    </a:solidFill>
                  </a:tcPr>
                </a:tc>
                <a:tc>
                  <a:txBody>
                    <a:bodyPr/>
                    <a:lstStyle/>
                    <a:p>
                      <a:pPr marL="0" indent="0" algn="r">
                        <a:buNone/>
                      </a:pPr>
                      <a:r>
                        <a:rPr lang="en-US" sz="1300" dirty="0">
                          <a:solidFill>
                            <a:srgbClr val="AFC0D4"/>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114300" marR="114300" marT="38100" marB="38100" anchor="ctr">
                    <a:lnL w="12700" cap="flat" cmpd="sng" algn="ctr">
                      <a:solidFill>
                        <a:srgbClr val="2C4568"/>
                      </a:solidFill>
                      <a:prstDash val="solid"/>
                      <a:round/>
                      <a:headEnd type="none" w="med" len="med"/>
                      <a:tailEnd type="none" w="med" len="med"/>
                    </a:lnL>
                    <a:lnR w="12700" cap="flat" cmpd="sng" algn="ctr">
                      <a:solidFill>
                        <a:srgbClr val="2C4568"/>
                      </a:solidFill>
                      <a:prstDash val="solid"/>
                      <a:round/>
                      <a:headEnd type="none" w="med" len="med"/>
                      <a:tailEnd type="none" w="med" len="med"/>
                    </a:lnR>
                    <a:lnT w="12700" cap="flat" cmpd="sng" algn="ctr">
                      <a:solidFill>
                        <a:srgbClr val="2C4568"/>
                      </a:solidFill>
                      <a:prstDash val="solid"/>
                      <a:round/>
                      <a:headEnd type="none" w="med" len="med"/>
                      <a:tailEnd type="none" w="med" len="med"/>
                    </a:lnT>
                    <a:lnB w="12700" cap="flat" cmpd="sng" algn="ctr">
                      <a:solidFill>
                        <a:srgbClr val="2C4568"/>
                      </a:solidFill>
                      <a:prstDash val="solid"/>
                      <a:round/>
                      <a:headEnd type="none" w="med" len="med"/>
                      <a:tailEnd type="none" w="med" len="med"/>
                    </a:lnB>
                    <a:solidFill>
                      <a:srgbClr val="0E1F3C"/>
                    </a:solidFill>
                  </a:tcPr>
                </a:tc>
                <a:extLst>
                  <a:ext uri="{0D108BD9-81ED-4DB2-BD59-A6C34878D82A}">
                    <a16:rowId xmlns:a16="http://schemas.microsoft.com/office/drawing/2014/main" val="10004"/>
                  </a:ext>
                </a:extLst>
              </a:tr>
            </a:tbl>
          </a:graphicData>
        </a:graphic>
      </p:graphicFrame>
      <p:sp>
        <p:nvSpPr>
          <p:cNvPr id="7" name="Shape 4"/>
          <p:cNvSpPr/>
          <p:nvPr/>
        </p:nvSpPr>
        <p:spPr>
          <a:xfrm>
            <a:off x="7818120" y="3401568"/>
            <a:ext cx="3685032" cy="2194560"/>
          </a:xfrm>
          <a:prstGeom prst="roundRect">
            <a:avLst>
              <a:gd name="adj" fmla="val 3333"/>
            </a:avLst>
          </a:prstGeom>
          <a:solidFill>
            <a:srgbClr val="1B3358"/>
          </a:solidFill>
          <a:ln w="12700">
            <a:solidFill>
              <a:srgbClr val="333333"/>
            </a:solidFill>
            <a:prstDash val="solid"/>
          </a:ln>
        </p:spPr>
        <p:txBody>
          <a:bodyPr/>
          <a:lstStyle/>
          <a:p>
            <a:endParaRPr lang="en-US"/>
          </a:p>
        </p:txBody>
      </p:sp>
      <p:sp>
        <p:nvSpPr>
          <p:cNvPr id="8" name="Text 5"/>
          <p:cNvSpPr/>
          <p:nvPr/>
        </p:nvSpPr>
        <p:spPr>
          <a:xfrm>
            <a:off x="8183880" y="3611880"/>
            <a:ext cx="3017520" cy="274320"/>
          </a:xfrm>
          <a:prstGeom prst="rect">
            <a:avLst/>
          </a:prstGeom>
          <a:noFill/>
          <a:ln/>
        </p:spPr>
        <p:txBody>
          <a:bodyPr wrap="square" lIns="0" tIns="0" rIns="0" bIns="0" rtlCol="0" anchor="ctr"/>
          <a:lstStyle/>
          <a:p>
            <a:pPr marL="0" indent="0">
              <a:buNone/>
            </a:pPr>
            <a:r>
              <a:rPr lang="en-US" sz="1150" b="1" kern="0" spc="180" dirty="0">
                <a:solidFill>
                  <a:srgbClr val="E8A33D"/>
                </a:solidFill>
                <a:latin typeface="Calibri" pitchFamily="34" charset="0"/>
                <a:ea typeface="Calibri" pitchFamily="34" charset="-122"/>
                <a:cs typeface="Calibri" pitchFamily="34" charset="-120"/>
              </a:rPr>
              <a:t>Why</a:t>
            </a:r>
            <a:endParaRPr lang="en-US" sz="1150" dirty="0"/>
          </a:p>
        </p:txBody>
      </p:sp>
      <p:sp>
        <p:nvSpPr>
          <p:cNvPr id="9" name="Text 6"/>
          <p:cNvSpPr/>
          <p:nvPr/>
        </p:nvSpPr>
        <p:spPr>
          <a:xfrm>
            <a:off x="8183880" y="3931920"/>
            <a:ext cx="2971800" cy="1463040"/>
          </a:xfrm>
          <a:prstGeom prst="rect">
            <a:avLst/>
          </a:prstGeom>
          <a:noFill/>
          <a:ln/>
        </p:spPr>
        <p:txBody>
          <a:bodyPr wrap="square" lIns="0" tIns="0" rIns="0" bIns="0" rtlCol="0" anchor="ctr"/>
          <a:lstStyle/>
          <a:p>
            <a:pPr marL="0" indent="0">
              <a:lnSpc>
                <a:spcPts val="1900"/>
              </a:lnSpc>
              <a:buNone/>
            </a:pPr>
            <a:r>
              <a:rPr lang="en-US" sz="1250" dirty="0">
                <a:solidFill>
                  <a:srgbClr val="C6D2E2"/>
                </a:solidFill>
                <a:latin typeface="Calibri" pitchFamily="34" charset="0"/>
                <a:ea typeface="Calibri" pitchFamily="34" charset="-122"/>
                <a:cs typeface="Calibri" pitchFamily="34" charset="-120"/>
              </a:rPr>
              <a:t>The 25% cap put half the portfolio in GLD and LLY, which returned 109% and 88% over the test window. They contributed 49 of the 67 points of cumulative return.</a:t>
            </a:r>
            <a:endParaRPr lang="en-US" sz="1250" dirty="0"/>
          </a:p>
        </p:txBody>
      </p:sp>
      <p:sp>
        <p:nvSpPr>
          <p:cNvPr id="10" name="Text 7"/>
          <p:cNvSpPr/>
          <p:nvPr/>
        </p:nvSpPr>
        <p:spPr>
          <a:xfrm>
            <a:off x="685800" y="5779008"/>
            <a:ext cx="10607040" cy="502920"/>
          </a:xfrm>
          <a:prstGeom prst="rect">
            <a:avLst/>
          </a:prstGeom>
          <a:noFill/>
          <a:ln/>
        </p:spPr>
        <p:txBody>
          <a:bodyPr wrap="square" lIns="0" tIns="0" rIns="0" bIns="0" rtlCol="0" anchor="ctr"/>
          <a:lstStyle/>
          <a:p>
            <a:pPr marL="0" indent="0">
              <a:lnSpc>
                <a:spcPts val="1900"/>
              </a:lnSpc>
              <a:buNone/>
            </a:pPr>
            <a:r>
              <a:rPr lang="en-US" sz="1250" i="1" dirty="0">
                <a:solidFill>
                  <a:srgbClr val="8FA2BC"/>
                </a:solidFill>
                <a:latin typeface="Calibri" pitchFamily="34" charset="0"/>
                <a:ea typeface="Calibri" pitchFamily="34" charset="-122"/>
                <a:cs typeface="Calibri" pitchFamily="34" charset="-120"/>
              </a:rPr>
              <a:t>Not look-ahead: weights were fit on 2018–2023 and held fixed. Gold returned just 8% a year in training — the optimizer chose it for low correlation, and it happened to run. One favourable draw, not a validated edge.</a:t>
            </a:r>
            <a:endParaRPr lang="en-US" sz="1250" dirty="0"/>
          </a:p>
        </p:txBody>
      </p:sp>
      <p:sp>
        <p:nvSpPr>
          <p:cNvPr id="11" name="Text 8"/>
          <p:cNvSpPr/>
          <p:nvPr/>
        </p:nvSpPr>
        <p:spPr>
          <a:xfrm>
            <a:off x="685800" y="6355080"/>
            <a:ext cx="5486400" cy="274320"/>
          </a:xfrm>
          <a:prstGeom prst="rect">
            <a:avLst/>
          </a:prstGeom>
          <a:noFill/>
          <a:ln/>
        </p:spPr>
        <p:txBody>
          <a:bodyPr wrap="square" lIns="0" tIns="0" rIns="0" bIns="0" rtlCol="0" anchor="ctr"/>
          <a:lstStyle/>
          <a:p>
            <a:pPr marL="0" indent="0">
              <a:buNone/>
            </a:pPr>
            <a:r>
              <a:rPr lang="en-US" sz="950" dirty="0">
                <a:solidFill>
                  <a:srgbClr val="6B7E96"/>
                </a:solidFill>
                <a:latin typeface="Calibri" pitchFamily="34" charset="0"/>
                <a:ea typeface="Calibri" pitchFamily="34" charset="-122"/>
                <a:cs typeface="Calibri" pitchFamily="34" charset="-120"/>
              </a:rPr>
              <a:t>FinSight Analytics  ·  INFO 442 Group 2</a:t>
            </a:r>
            <a:endParaRPr lang="en-US" sz="950" dirty="0"/>
          </a:p>
        </p:txBody>
      </p:sp>
      <p:sp>
        <p:nvSpPr>
          <p:cNvPr id="12" name="Text 9"/>
          <p:cNvSpPr/>
          <p:nvPr/>
        </p:nvSpPr>
        <p:spPr>
          <a:xfrm>
            <a:off x="10591495" y="6355080"/>
            <a:ext cx="914400" cy="274320"/>
          </a:xfrm>
          <a:prstGeom prst="rect">
            <a:avLst/>
          </a:prstGeom>
          <a:noFill/>
          <a:ln/>
        </p:spPr>
        <p:txBody>
          <a:bodyPr wrap="square" lIns="0" tIns="0" rIns="0" bIns="0" rtlCol="0" anchor="ctr"/>
          <a:lstStyle/>
          <a:p>
            <a:pPr marL="0" indent="0" algn="r">
              <a:buNone/>
            </a:pPr>
            <a:r>
              <a:rPr lang="en-US" sz="950" dirty="0">
                <a:solidFill>
                  <a:srgbClr val="6B7E96"/>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384048"/>
            <a:ext cx="8229600" cy="256032"/>
          </a:xfrm>
          <a:prstGeom prst="rect">
            <a:avLst/>
          </a:prstGeom>
          <a:noFill/>
          <a:ln/>
        </p:spPr>
        <p:txBody>
          <a:bodyPr wrap="square" lIns="0" tIns="0" rIns="0" bIns="0" rtlCol="0" anchor="ctr"/>
          <a:lstStyle/>
          <a:p>
            <a:pPr marL="0" indent="0">
              <a:buNone/>
            </a:pPr>
            <a:r>
              <a:rPr lang="en-US" sz="1200" b="1" kern="0" spc="200" dirty="0">
                <a:solidFill>
                  <a:srgbClr val="00A896"/>
                </a:solidFill>
                <a:latin typeface="Calibri" pitchFamily="34" charset="0"/>
                <a:ea typeface="Calibri" pitchFamily="34" charset="-122"/>
                <a:cs typeface="Calibri" pitchFamily="34" charset="-120"/>
              </a:rPr>
              <a:t>INTERPRETATION</a:t>
            </a:r>
            <a:endParaRPr lang="en-US" sz="1200" dirty="0"/>
          </a:p>
        </p:txBody>
      </p:sp>
      <p:sp>
        <p:nvSpPr>
          <p:cNvPr id="3" name="Text 1"/>
          <p:cNvSpPr/>
          <p:nvPr/>
        </p:nvSpPr>
        <p:spPr>
          <a:xfrm>
            <a:off x="685800" y="658368"/>
            <a:ext cx="10820095" cy="640080"/>
          </a:xfrm>
          <a:prstGeom prst="rect">
            <a:avLst/>
          </a:prstGeom>
          <a:noFill/>
          <a:ln/>
        </p:spPr>
        <p:txBody>
          <a:bodyPr wrap="square" lIns="0" tIns="0" rIns="0" bIns="0" rtlCol="0" anchor="ctr"/>
          <a:lstStyle/>
          <a:p>
            <a:pPr marL="0" indent="0">
              <a:buNone/>
            </a:pPr>
            <a:r>
              <a:rPr lang="en-US" sz="3400" b="1" dirty="0">
                <a:solidFill>
                  <a:srgbClr val="16202F"/>
                </a:solidFill>
                <a:latin typeface="Cambria" pitchFamily="34" charset="0"/>
                <a:ea typeface="Cambria" pitchFamily="34" charset="-122"/>
                <a:cs typeface="Cambria" pitchFamily="34" charset="-120"/>
              </a:rPr>
              <a:t>What we found</a:t>
            </a:r>
            <a:endParaRPr lang="en-US" sz="3400" dirty="0"/>
          </a:p>
        </p:txBody>
      </p:sp>
      <p:sp>
        <p:nvSpPr>
          <p:cNvPr id="4" name="Shape 2"/>
          <p:cNvSpPr/>
          <p:nvPr/>
        </p:nvSpPr>
        <p:spPr>
          <a:xfrm>
            <a:off x="685800" y="1600200"/>
            <a:ext cx="10820095" cy="1234440"/>
          </a:xfrm>
          <a:prstGeom prst="roundRect">
            <a:avLst>
              <a:gd name="adj" fmla="val 5926"/>
            </a:avLst>
          </a:prstGeom>
          <a:solidFill>
            <a:srgbClr val="F2F5F9"/>
          </a:solidFill>
          <a:ln w="12700">
            <a:solidFill>
              <a:srgbClr val="333333"/>
            </a:solidFill>
            <a:prstDash val="solid"/>
          </a:ln>
        </p:spPr>
        <p:txBody>
          <a:bodyPr/>
          <a:lstStyle/>
          <a:p>
            <a:endParaRPr lang="en-US"/>
          </a:p>
        </p:txBody>
      </p:sp>
      <p:sp>
        <p:nvSpPr>
          <p:cNvPr id="5" name="Shape 3"/>
          <p:cNvSpPr/>
          <p:nvPr/>
        </p:nvSpPr>
        <p:spPr>
          <a:xfrm>
            <a:off x="1069848" y="1892808"/>
            <a:ext cx="219456" cy="219456"/>
          </a:xfrm>
          <a:prstGeom prst="ellipse">
            <a:avLst/>
          </a:prstGeom>
          <a:solidFill>
            <a:srgbClr val="00A896"/>
          </a:solidFill>
          <a:ln w="12700">
            <a:solidFill>
              <a:srgbClr val="333333"/>
            </a:solidFill>
            <a:prstDash val="solid"/>
          </a:ln>
        </p:spPr>
        <p:txBody>
          <a:bodyPr/>
          <a:lstStyle/>
          <a:p>
            <a:endParaRPr lang="en-US"/>
          </a:p>
        </p:txBody>
      </p:sp>
      <p:sp>
        <p:nvSpPr>
          <p:cNvPr id="6" name="Text 4"/>
          <p:cNvSpPr/>
          <p:nvPr/>
        </p:nvSpPr>
        <p:spPr>
          <a:xfrm>
            <a:off x="1435608" y="1801368"/>
            <a:ext cx="9601200" cy="347472"/>
          </a:xfrm>
          <a:prstGeom prst="rect">
            <a:avLst/>
          </a:prstGeom>
          <a:noFill/>
          <a:ln/>
        </p:spPr>
        <p:txBody>
          <a:bodyPr wrap="square" lIns="0" tIns="0" rIns="0" bIns="0" rtlCol="0" anchor="ctr"/>
          <a:lstStyle/>
          <a:p>
            <a:pPr marL="0" indent="0">
              <a:buNone/>
            </a:pPr>
            <a:r>
              <a:rPr lang="en-US" sz="1850" b="1" dirty="0">
                <a:solidFill>
                  <a:srgbClr val="16202F"/>
                </a:solidFill>
                <a:latin typeface="Cambria" pitchFamily="34" charset="0"/>
                <a:ea typeface="Cambria" pitchFamily="34" charset="-122"/>
                <a:cs typeface="Cambria" pitchFamily="34" charset="-120"/>
              </a:rPr>
              <a:t>Feature choice outweighed model choice</a:t>
            </a:r>
            <a:endParaRPr lang="en-US" sz="1850" dirty="0"/>
          </a:p>
        </p:txBody>
      </p:sp>
      <p:sp>
        <p:nvSpPr>
          <p:cNvPr id="7" name="Text 5"/>
          <p:cNvSpPr/>
          <p:nvPr/>
        </p:nvSpPr>
        <p:spPr>
          <a:xfrm>
            <a:off x="1435608" y="2185416"/>
            <a:ext cx="9692640" cy="566928"/>
          </a:xfrm>
          <a:prstGeom prst="rect">
            <a:avLst/>
          </a:prstGeom>
          <a:noFill/>
          <a:ln/>
        </p:spPr>
        <p:txBody>
          <a:bodyPr wrap="square" lIns="0" tIns="0" rIns="0" bIns="0" rtlCol="0" anchor="ctr"/>
          <a:lstStyle/>
          <a:p>
            <a:pPr marL="0" indent="0">
              <a:lnSpc>
                <a:spcPts val="1900"/>
              </a:lnSpc>
              <a:buNone/>
            </a:pPr>
            <a:r>
              <a:rPr lang="en-US" sz="1250" dirty="0">
                <a:solidFill>
                  <a:srgbClr val="5D6E85"/>
                </a:solidFill>
                <a:latin typeface="Calibri" pitchFamily="34" charset="0"/>
                <a:ea typeface="Calibri" pitchFamily="34" charset="-122"/>
                <a:cs typeface="Calibri" pitchFamily="34" charset="-120"/>
              </a:rPr>
              <a:t>Linear and Ridge post negative R² on the 17-feature set — worse than a naive baseline. Trimmed to five macro columns in notebook 06, Linear reaches R² 0.31, level with Gradient Boosting. The ceiling was the feature set, not linearity.</a:t>
            </a:r>
            <a:endParaRPr lang="en-US" sz="1250" dirty="0"/>
          </a:p>
        </p:txBody>
      </p:sp>
      <p:sp>
        <p:nvSpPr>
          <p:cNvPr id="8" name="Shape 6"/>
          <p:cNvSpPr/>
          <p:nvPr/>
        </p:nvSpPr>
        <p:spPr>
          <a:xfrm>
            <a:off x="685800" y="2953512"/>
            <a:ext cx="10820095" cy="1234440"/>
          </a:xfrm>
          <a:prstGeom prst="roundRect">
            <a:avLst>
              <a:gd name="adj" fmla="val 5926"/>
            </a:avLst>
          </a:prstGeom>
          <a:solidFill>
            <a:srgbClr val="F2F5F9"/>
          </a:solidFill>
          <a:ln w="12700">
            <a:solidFill>
              <a:srgbClr val="333333"/>
            </a:solidFill>
            <a:prstDash val="solid"/>
          </a:ln>
        </p:spPr>
        <p:txBody>
          <a:bodyPr/>
          <a:lstStyle/>
          <a:p>
            <a:endParaRPr lang="en-US"/>
          </a:p>
        </p:txBody>
      </p:sp>
      <p:sp>
        <p:nvSpPr>
          <p:cNvPr id="9" name="Shape 7"/>
          <p:cNvSpPr/>
          <p:nvPr/>
        </p:nvSpPr>
        <p:spPr>
          <a:xfrm>
            <a:off x="1069848" y="3246120"/>
            <a:ext cx="219456" cy="219456"/>
          </a:xfrm>
          <a:prstGeom prst="ellipse">
            <a:avLst/>
          </a:prstGeom>
          <a:solidFill>
            <a:srgbClr val="1B3358"/>
          </a:solidFill>
          <a:ln w="12700">
            <a:solidFill>
              <a:srgbClr val="333333"/>
            </a:solidFill>
            <a:prstDash val="solid"/>
          </a:ln>
        </p:spPr>
        <p:txBody>
          <a:bodyPr/>
          <a:lstStyle/>
          <a:p>
            <a:endParaRPr lang="en-US"/>
          </a:p>
        </p:txBody>
      </p:sp>
      <p:sp>
        <p:nvSpPr>
          <p:cNvPr id="10" name="Text 8"/>
          <p:cNvSpPr/>
          <p:nvPr/>
        </p:nvSpPr>
        <p:spPr>
          <a:xfrm>
            <a:off x="1435608" y="3154680"/>
            <a:ext cx="9601200" cy="347472"/>
          </a:xfrm>
          <a:prstGeom prst="rect">
            <a:avLst/>
          </a:prstGeom>
          <a:noFill/>
          <a:ln/>
        </p:spPr>
        <p:txBody>
          <a:bodyPr wrap="square" lIns="0" tIns="0" rIns="0" bIns="0" rtlCol="0" anchor="ctr"/>
          <a:lstStyle/>
          <a:p>
            <a:pPr marL="0" indent="0">
              <a:buNone/>
            </a:pPr>
            <a:r>
              <a:rPr lang="en-US" sz="1850" b="1" dirty="0">
                <a:solidFill>
                  <a:srgbClr val="16202F"/>
                </a:solidFill>
                <a:latin typeface="Cambria" pitchFamily="34" charset="0"/>
                <a:ea typeface="Cambria" pitchFamily="34" charset="-122"/>
                <a:cs typeface="Cambria" pitchFamily="34" charset="-120"/>
              </a:rPr>
              <a:t>More macro data made models worse</a:t>
            </a:r>
            <a:endParaRPr lang="en-US" sz="1850" dirty="0"/>
          </a:p>
        </p:txBody>
      </p:sp>
      <p:sp>
        <p:nvSpPr>
          <p:cNvPr id="11" name="Text 9"/>
          <p:cNvSpPr/>
          <p:nvPr/>
        </p:nvSpPr>
        <p:spPr>
          <a:xfrm>
            <a:off x="1435608" y="3538728"/>
            <a:ext cx="9692640" cy="566928"/>
          </a:xfrm>
          <a:prstGeom prst="rect">
            <a:avLst/>
          </a:prstGeom>
          <a:noFill/>
          <a:ln/>
        </p:spPr>
        <p:txBody>
          <a:bodyPr wrap="square" lIns="0" tIns="0" rIns="0" bIns="0" rtlCol="0" anchor="ctr"/>
          <a:lstStyle/>
          <a:p>
            <a:pPr marL="0" indent="0">
              <a:lnSpc>
                <a:spcPts val="1900"/>
              </a:lnSpc>
              <a:buNone/>
            </a:pPr>
            <a:r>
              <a:rPr lang="en-US" sz="1250" dirty="0">
                <a:solidFill>
                  <a:srgbClr val="5D6E85"/>
                </a:solidFill>
                <a:latin typeface="Calibri" pitchFamily="34" charset="0"/>
                <a:ea typeface="Calibri" pitchFamily="34" charset="-122"/>
                <a:cs typeface="Calibri" pitchFamily="34" charset="-120"/>
              </a:rPr>
              <a:t>Every FRED column available actively hurt the linear models. Tree models shrugged it off. "Use everything you have" is the wrong default, and testing that was the most useful experiment we ran.</a:t>
            </a:r>
            <a:endParaRPr lang="en-US" sz="1250" dirty="0"/>
          </a:p>
        </p:txBody>
      </p:sp>
      <p:sp>
        <p:nvSpPr>
          <p:cNvPr id="12" name="Shape 10"/>
          <p:cNvSpPr/>
          <p:nvPr/>
        </p:nvSpPr>
        <p:spPr>
          <a:xfrm>
            <a:off x="685800" y="4306824"/>
            <a:ext cx="10820095" cy="1234440"/>
          </a:xfrm>
          <a:prstGeom prst="roundRect">
            <a:avLst>
              <a:gd name="adj" fmla="val 5926"/>
            </a:avLst>
          </a:prstGeom>
          <a:solidFill>
            <a:srgbClr val="F2F5F9"/>
          </a:solidFill>
          <a:ln w="12700">
            <a:solidFill>
              <a:srgbClr val="333333"/>
            </a:solidFill>
            <a:prstDash val="solid"/>
          </a:ln>
        </p:spPr>
        <p:txBody>
          <a:bodyPr/>
          <a:lstStyle/>
          <a:p>
            <a:endParaRPr lang="en-US"/>
          </a:p>
        </p:txBody>
      </p:sp>
      <p:sp>
        <p:nvSpPr>
          <p:cNvPr id="13" name="Shape 11"/>
          <p:cNvSpPr/>
          <p:nvPr/>
        </p:nvSpPr>
        <p:spPr>
          <a:xfrm>
            <a:off x="1069848" y="4599432"/>
            <a:ext cx="219456" cy="219456"/>
          </a:xfrm>
          <a:prstGeom prst="ellipse">
            <a:avLst/>
          </a:prstGeom>
          <a:solidFill>
            <a:srgbClr val="E8A33D"/>
          </a:solidFill>
          <a:ln w="12700">
            <a:solidFill>
              <a:srgbClr val="333333"/>
            </a:solidFill>
            <a:prstDash val="solid"/>
          </a:ln>
        </p:spPr>
        <p:txBody>
          <a:bodyPr/>
          <a:lstStyle/>
          <a:p>
            <a:endParaRPr lang="en-US"/>
          </a:p>
        </p:txBody>
      </p:sp>
      <p:sp>
        <p:nvSpPr>
          <p:cNvPr id="14" name="Text 12"/>
          <p:cNvSpPr/>
          <p:nvPr/>
        </p:nvSpPr>
        <p:spPr>
          <a:xfrm>
            <a:off x="1435608" y="4507992"/>
            <a:ext cx="9601200" cy="347472"/>
          </a:xfrm>
          <a:prstGeom prst="rect">
            <a:avLst/>
          </a:prstGeom>
          <a:noFill/>
          <a:ln/>
        </p:spPr>
        <p:txBody>
          <a:bodyPr wrap="square" lIns="0" tIns="0" rIns="0" bIns="0" rtlCol="0" anchor="ctr"/>
          <a:lstStyle/>
          <a:p>
            <a:pPr marL="0" indent="0">
              <a:buNone/>
            </a:pPr>
            <a:r>
              <a:rPr lang="en-US" sz="1850" b="1" dirty="0">
                <a:solidFill>
                  <a:srgbClr val="16202F"/>
                </a:solidFill>
                <a:latin typeface="Cambria" pitchFamily="34" charset="0"/>
                <a:ea typeface="Cambria" pitchFamily="34" charset="-122"/>
                <a:cs typeface="Cambria" pitchFamily="34" charset="-120"/>
              </a:rPr>
              <a:t>Predicted risk buys return, not Sharpe</a:t>
            </a:r>
            <a:endParaRPr lang="en-US" sz="1850" dirty="0"/>
          </a:p>
        </p:txBody>
      </p:sp>
      <p:sp>
        <p:nvSpPr>
          <p:cNvPr id="15" name="Text 13"/>
          <p:cNvSpPr/>
          <p:nvPr/>
        </p:nvSpPr>
        <p:spPr>
          <a:xfrm>
            <a:off x="1435608" y="4892040"/>
            <a:ext cx="9692640" cy="566928"/>
          </a:xfrm>
          <a:prstGeom prst="rect">
            <a:avLst/>
          </a:prstGeom>
          <a:noFill/>
          <a:ln/>
        </p:spPr>
        <p:txBody>
          <a:bodyPr wrap="square" lIns="0" tIns="0" rIns="0" bIns="0" rtlCol="0" anchor="ctr"/>
          <a:lstStyle/>
          <a:p>
            <a:pPr marL="0" indent="0">
              <a:lnSpc>
                <a:spcPts val="1900"/>
              </a:lnSpc>
              <a:buNone/>
            </a:pPr>
            <a:r>
              <a:rPr lang="en-US" sz="1250" dirty="0">
                <a:solidFill>
                  <a:srgbClr val="5D6E85"/>
                </a:solidFill>
                <a:latin typeface="Calibri" pitchFamily="34" charset="0"/>
                <a:ea typeface="Calibri" pitchFamily="34" charset="-122"/>
                <a:cs typeface="Calibri" pitchFamily="34" charset="-120"/>
              </a:rPr>
              <a:t>RF Predictive Max Sharpe earned the highest return (27.1%) and cumulative return (67.5%), but Historical Max Sharpe kept the best Sharpe (1.60 vs. 1.47). Forecast risk shifted the portfolio up the risk curve, not off it.</a:t>
            </a:r>
            <a:endParaRPr lang="en-US" sz="1250" dirty="0"/>
          </a:p>
        </p:txBody>
      </p:sp>
      <p:sp>
        <p:nvSpPr>
          <p:cNvPr id="16" name="Text 14"/>
          <p:cNvSpPr/>
          <p:nvPr/>
        </p:nvSpPr>
        <p:spPr>
          <a:xfrm>
            <a:off x="685800" y="5742432"/>
            <a:ext cx="10820095" cy="548640"/>
          </a:xfrm>
          <a:prstGeom prst="rect">
            <a:avLst/>
          </a:prstGeom>
          <a:noFill/>
          <a:ln/>
        </p:spPr>
        <p:txBody>
          <a:bodyPr wrap="square" lIns="0" tIns="0" rIns="0" bIns="0" rtlCol="0" anchor="ctr"/>
          <a:lstStyle/>
          <a:p>
            <a:pPr marL="0" indent="0">
              <a:lnSpc>
                <a:spcPts val="1900"/>
              </a:lnSpc>
              <a:buNone/>
            </a:pPr>
            <a:r>
              <a:rPr lang="en-US" sz="1300" b="1" dirty="0">
                <a:solidFill>
                  <a:srgbClr val="16202F"/>
                </a:solidFill>
                <a:latin typeface="Calibri" pitchFamily="34" charset="0"/>
                <a:ea typeface="Calibri" pitchFamily="34" charset="-122"/>
                <a:cs typeface="Calibri" pitchFamily="34" charset="-120"/>
              </a:rPr>
              <a:t>Bottom line: the diversified universe and the optimizer do the work; the volatility forecast changes the portfolio's character without improving its risk-adjusted return.</a:t>
            </a:r>
            <a:endParaRPr lang="en-US" sz="1300" dirty="0"/>
          </a:p>
        </p:txBody>
      </p:sp>
      <p:sp>
        <p:nvSpPr>
          <p:cNvPr id="17" name="Text 15"/>
          <p:cNvSpPr/>
          <p:nvPr/>
        </p:nvSpPr>
        <p:spPr>
          <a:xfrm>
            <a:off x="685800" y="6355080"/>
            <a:ext cx="5486400" cy="274320"/>
          </a:xfrm>
          <a:prstGeom prst="rect">
            <a:avLst/>
          </a:prstGeom>
          <a:noFill/>
          <a:ln/>
        </p:spPr>
        <p:txBody>
          <a:bodyPr wrap="square" lIns="0" tIns="0" rIns="0" bIns="0" rtlCol="0" anchor="ctr"/>
          <a:lstStyle/>
          <a:p>
            <a:pPr marL="0" indent="0">
              <a:buNone/>
            </a:pPr>
            <a:r>
              <a:rPr lang="en-US" sz="950" dirty="0">
                <a:solidFill>
                  <a:srgbClr val="9AA7B8"/>
                </a:solidFill>
                <a:latin typeface="Calibri" pitchFamily="34" charset="0"/>
                <a:ea typeface="Calibri" pitchFamily="34" charset="-122"/>
                <a:cs typeface="Calibri" pitchFamily="34" charset="-120"/>
              </a:rPr>
              <a:t>FinSight Analytics  ·  INFO 442 Group 2</a:t>
            </a:r>
            <a:endParaRPr lang="en-US" sz="950" dirty="0"/>
          </a:p>
        </p:txBody>
      </p:sp>
      <p:sp>
        <p:nvSpPr>
          <p:cNvPr id="18" name="Text 16"/>
          <p:cNvSpPr/>
          <p:nvPr/>
        </p:nvSpPr>
        <p:spPr>
          <a:xfrm>
            <a:off x="10591495" y="6355080"/>
            <a:ext cx="914400" cy="274320"/>
          </a:xfrm>
          <a:prstGeom prst="rect">
            <a:avLst/>
          </a:prstGeom>
          <a:noFill/>
          <a:ln/>
        </p:spPr>
        <p:txBody>
          <a:bodyPr wrap="square" lIns="0" tIns="0" rIns="0" bIns="0" rtlCol="0" anchor="ctr"/>
          <a:lstStyle/>
          <a:p>
            <a:pPr marL="0" indent="0" algn="r">
              <a:buNone/>
            </a:pPr>
            <a:r>
              <a:rPr lang="en-US" sz="950" dirty="0">
                <a:solidFill>
                  <a:srgbClr val="9AA7B8"/>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384048"/>
            <a:ext cx="8229600" cy="256032"/>
          </a:xfrm>
          <a:prstGeom prst="rect">
            <a:avLst/>
          </a:prstGeom>
          <a:noFill/>
          <a:ln/>
        </p:spPr>
        <p:txBody>
          <a:bodyPr wrap="square" lIns="0" tIns="0" rIns="0" bIns="0" rtlCol="0" anchor="ctr"/>
          <a:lstStyle/>
          <a:p>
            <a:pPr marL="0" indent="0">
              <a:buNone/>
            </a:pPr>
            <a:r>
              <a:rPr lang="en-US" sz="1200" b="1" kern="0" spc="200" dirty="0">
                <a:solidFill>
                  <a:srgbClr val="00A896"/>
                </a:solidFill>
                <a:latin typeface="Calibri" pitchFamily="34" charset="0"/>
                <a:ea typeface="Calibri" pitchFamily="34" charset="-122"/>
                <a:cs typeface="Calibri" pitchFamily="34" charset="-120"/>
              </a:rPr>
              <a:t>HONEST ACCOUNTING</a:t>
            </a:r>
            <a:endParaRPr lang="en-US" sz="1200" dirty="0"/>
          </a:p>
        </p:txBody>
      </p:sp>
      <p:sp>
        <p:nvSpPr>
          <p:cNvPr id="3" name="Text 1"/>
          <p:cNvSpPr/>
          <p:nvPr/>
        </p:nvSpPr>
        <p:spPr>
          <a:xfrm>
            <a:off x="685800" y="658368"/>
            <a:ext cx="10820095" cy="640080"/>
          </a:xfrm>
          <a:prstGeom prst="rect">
            <a:avLst/>
          </a:prstGeom>
          <a:noFill/>
          <a:ln/>
        </p:spPr>
        <p:txBody>
          <a:bodyPr wrap="square" lIns="0" tIns="0" rIns="0" bIns="0" rtlCol="0" anchor="ctr"/>
          <a:lstStyle/>
          <a:p>
            <a:pPr marL="0" indent="0">
              <a:buNone/>
            </a:pPr>
            <a:r>
              <a:rPr lang="en-US" sz="3400" b="1" dirty="0">
                <a:solidFill>
                  <a:srgbClr val="16202F"/>
                </a:solidFill>
                <a:latin typeface="Cambria" pitchFamily="34" charset="0"/>
                <a:ea typeface="Cambria" pitchFamily="34" charset="-122"/>
                <a:cs typeface="Cambria" pitchFamily="34" charset="-120"/>
              </a:rPr>
              <a:t>Limitations and where this goes next</a:t>
            </a:r>
            <a:endParaRPr lang="en-US" sz="3400" dirty="0"/>
          </a:p>
        </p:txBody>
      </p:sp>
      <p:sp>
        <p:nvSpPr>
          <p:cNvPr id="4" name="Shape 2"/>
          <p:cNvSpPr/>
          <p:nvPr/>
        </p:nvSpPr>
        <p:spPr>
          <a:xfrm>
            <a:off x="685800" y="1572768"/>
            <a:ext cx="5349240" cy="4370832"/>
          </a:xfrm>
          <a:prstGeom prst="roundRect">
            <a:avLst>
              <a:gd name="adj" fmla="val 1674"/>
            </a:avLst>
          </a:prstGeom>
          <a:solidFill>
            <a:srgbClr val="F2F5F9"/>
          </a:solidFill>
          <a:ln w="12700">
            <a:solidFill>
              <a:srgbClr val="333333"/>
            </a:solidFill>
            <a:prstDash val="solid"/>
          </a:ln>
        </p:spPr>
        <p:txBody>
          <a:bodyPr/>
          <a:lstStyle/>
          <a:p>
            <a:endParaRPr lang="en-US"/>
          </a:p>
        </p:txBody>
      </p:sp>
      <p:sp>
        <p:nvSpPr>
          <p:cNvPr id="5" name="Text 3"/>
          <p:cNvSpPr/>
          <p:nvPr/>
        </p:nvSpPr>
        <p:spPr>
          <a:xfrm>
            <a:off x="1069848" y="1874520"/>
            <a:ext cx="4572000" cy="256032"/>
          </a:xfrm>
          <a:prstGeom prst="rect">
            <a:avLst/>
          </a:prstGeom>
          <a:noFill/>
          <a:ln/>
        </p:spPr>
        <p:txBody>
          <a:bodyPr wrap="square" lIns="0" tIns="0" rIns="0" bIns="0" rtlCol="0" anchor="ctr"/>
          <a:lstStyle/>
          <a:p>
            <a:pPr marL="0" indent="0">
              <a:buNone/>
            </a:pPr>
            <a:r>
              <a:rPr lang="en-US" sz="1100" b="1" kern="0" spc="180" dirty="0">
                <a:solidFill>
                  <a:srgbClr val="C4553B"/>
                </a:solidFill>
                <a:latin typeface="Calibri" pitchFamily="34" charset="0"/>
                <a:ea typeface="Calibri" pitchFamily="34" charset="-122"/>
                <a:cs typeface="Calibri" pitchFamily="34" charset="-120"/>
              </a:rPr>
              <a:t>WHAT THIS PROJECT CANNOT CLAIM</a:t>
            </a:r>
            <a:endParaRPr lang="en-US" sz="1100" dirty="0"/>
          </a:p>
        </p:txBody>
      </p:sp>
      <p:sp>
        <p:nvSpPr>
          <p:cNvPr id="6" name="Shape 4"/>
          <p:cNvSpPr/>
          <p:nvPr/>
        </p:nvSpPr>
        <p:spPr>
          <a:xfrm>
            <a:off x="1069848" y="2258568"/>
            <a:ext cx="137160" cy="137160"/>
          </a:xfrm>
          <a:prstGeom prst="ellipse">
            <a:avLst/>
          </a:prstGeom>
          <a:solidFill>
            <a:srgbClr val="C4553B"/>
          </a:solidFill>
          <a:ln w="12700">
            <a:solidFill>
              <a:srgbClr val="333333"/>
            </a:solidFill>
            <a:prstDash val="solid"/>
          </a:ln>
        </p:spPr>
        <p:txBody>
          <a:bodyPr/>
          <a:lstStyle/>
          <a:p>
            <a:endParaRPr lang="en-US"/>
          </a:p>
        </p:txBody>
      </p:sp>
      <p:sp>
        <p:nvSpPr>
          <p:cNvPr id="7" name="Text 5"/>
          <p:cNvSpPr/>
          <p:nvPr/>
        </p:nvSpPr>
        <p:spPr>
          <a:xfrm>
            <a:off x="1371600" y="2176272"/>
            <a:ext cx="4297680" cy="274320"/>
          </a:xfrm>
          <a:prstGeom prst="rect">
            <a:avLst/>
          </a:prstGeom>
          <a:noFill/>
          <a:ln/>
        </p:spPr>
        <p:txBody>
          <a:bodyPr wrap="square" lIns="0" tIns="0" rIns="0" bIns="0" rtlCol="0" anchor="ctr"/>
          <a:lstStyle/>
          <a:p>
            <a:pPr marL="0" indent="0">
              <a:buNone/>
            </a:pPr>
            <a:r>
              <a:rPr lang="en-US" sz="1400" b="1" dirty="0">
                <a:solidFill>
                  <a:srgbClr val="16202F"/>
                </a:solidFill>
                <a:latin typeface="Calibri" pitchFamily="34" charset="0"/>
                <a:ea typeface="Calibri" pitchFamily="34" charset="-122"/>
                <a:cs typeface="Calibri" pitchFamily="34" charset="-120"/>
              </a:rPr>
              <a:t>Concentrated in two names</a:t>
            </a:r>
            <a:endParaRPr lang="en-US" sz="1400" dirty="0"/>
          </a:p>
        </p:txBody>
      </p:sp>
      <p:sp>
        <p:nvSpPr>
          <p:cNvPr id="8" name="Text 6"/>
          <p:cNvSpPr/>
          <p:nvPr/>
        </p:nvSpPr>
        <p:spPr>
          <a:xfrm>
            <a:off x="1371600" y="2450592"/>
            <a:ext cx="4251960" cy="713232"/>
          </a:xfrm>
          <a:prstGeom prst="rect">
            <a:avLst/>
          </a:prstGeom>
          <a:noFill/>
          <a:ln/>
        </p:spPr>
        <p:txBody>
          <a:bodyPr wrap="square" lIns="0" tIns="0" rIns="0" bIns="0" rtlCol="0" anchor="ctr"/>
          <a:lstStyle/>
          <a:p>
            <a:pPr marL="0" indent="0">
              <a:lnSpc>
                <a:spcPts val="1600"/>
              </a:lnSpc>
              <a:buNone/>
            </a:pPr>
            <a:r>
              <a:rPr lang="en-US" sz="1150" dirty="0">
                <a:solidFill>
                  <a:srgbClr val="5D6E85"/>
                </a:solidFill>
                <a:latin typeface="Calibri" pitchFamily="34" charset="0"/>
                <a:ea typeface="Calibri" pitchFamily="34" charset="-122"/>
                <a:cs typeface="Calibri" pitchFamily="34" charset="-120"/>
              </a:rPr>
              <a:t>The 25% cap left half the portfolio in GLD and LLY. Remove gold and the Sharpe advantage over SPY disappears entirely.</a:t>
            </a:r>
            <a:endParaRPr lang="en-US" sz="1150" dirty="0"/>
          </a:p>
        </p:txBody>
      </p:sp>
      <p:sp>
        <p:nvSpPr>
          <p:cNvPr id="9" name="Shape 7"/>
          <p:cNvSpPr/>
          <p:nvPr/>
        </p:nvSpPr>
        <p:spPr>
          <a:xfrm>
            <a:off x="1069848" y="3209544"/>
            <a:ext cx="137160" cy="137160"/>
          </a:xfrm>
          <a:prstGeom prst="ellipse">
            <a:avLst/>
          </a:prstGeom>
          <a:solidFill>
            <a:srgbClr val="C4553B"/>
          </a:solidFill>
          <a:ln w="12700">
            <a:solidFill>
              <a:srgbClr val="333333"/>
            </a:solidFill>
            <a:prstDash val="solid"/>
          </a:ln>
        </p:spPr>
        <p:txBody>
          <a:bodyPr/>
          <a:lstStyle/>
          <a:p>
            <a:endParaRPr lang="en-US"/>
          </a:p>
        </p:txBody>
      </p:sp>
      <p:sp>
        <p:nvSpPr>
          <p:cNvPr id="10" name="Text 8"/>
          <p:cNvSpPr/>
          <p:nvPr/>
        </p:nvSpPr>
        <p:spPr>
          <a:xfrm>
            <a:off x="1371600" y="3127248"/>
            <a:ext cx="4297680" cy="274320"/>
          </a:xfrm>
          <a:prstGeom prst="rect">
            <a:avLst/>
          </a:prstGeom>
          <a:noFill/>
          <a:ln/>
        </p:spPr>
        <p:txBody>
          <a:bodyPr wrap="square" lIns="0" tIns="0" rIns="0" bIns="0" rtlCol="0" anchor="ctr"/>
          <a:lstStyle/>
          <a:p>
            <a:pPr marL="0" indent="0">
              <a:buNone/>
            </a:pPr>
            <a:r>
              <a:rPr lang="en-US" sz="1400" b="1" dirty="0">
                <a:solidFill>
                  <a:srgbClr val="16202F"/>
                </a:solidFill>
                <a:latin typeface="Calibri" pitchFamily="34" charset="0"/>
                <a:ea typeface="Calibri" pitchFamily="34" charset="-122"/>
                <a:cs typeface="Calibri" pitchFamily="34" charset="-120"/>
              </a:rPr>
              <a:t>One test window</a:t>
            </a:r>
            <a:endParaRPr lang="en-US" sz="1400" dirty="0"/>
          </a:p>
        </p:txBody>
      </p:sp>
      <p:sp>
        <p:nvSpPr>
          <p:cNvPr id="11" name="Text 9"/>
          <p:cNvSpPr/>
          <p:nvPr/>
        </p:nvSpPr>
        <p:spPr>
          <a:xfrm>
            <a:off x="1371600" y="3401568"/>
            <a:ext cx="4251960" cy="713232"/>
          </a:xfrm>
          <a:prstGeom prst="rect">
            <a:avLst/>
          </a:prstGeom>
          <a:noFill/>
          <a:ln/>
        </p:spPr>
        <p:txBody>
          <a:bodyPr wrap="square" lIns="0" tIns="0" rIns="0" bIns="0" rtlCol="0" anchor="ctr"/>
          <a:lstStyle/>
          <a:p>
            <a:pPr marL="0" indent="0">
              <a:lnSpc>
                <a:spcPts val="1600"/>
              </a:lnSpc>
              <a:buNone/>
            </a:pPr>
            <a:r>
              <a:rPr lang="en-US" sz="1150" dirty="0">
                <a:solidFill>
                  <a:srgbClr val="5D6E85"/>
                </a:solidFill>
                <a:latin typeface="Calibri" pitchFamily="34" charset="0"/>
                <a:ea typeface="Calibri" pitchFamily="34" charset="-122"/>
                <a:cs typeface="Calibri" pitchFamily="34" charset="-120"/>
              </a:rPr>
              <a:t>All results come from a single 2024–2025 split, a period in which gold returned 109%. A different window could reorder every strategy.</a:t>
            </a:r>
            <a:endParaRPr lang="en-US" sz="1150" dirty="0"/>
          </a:p>
        </p:txBody>
      </p:sp>
      <p:sp>
        <p:nvSpPr>
          <p:cNvPr id="12" name="Shape 10"/>
          <p:cNvSpPr/>
          <p:nvPr/>
        </p:nvSpPr>
        <p:spPr>
          <a:xfrm>
            <a:off x="1069848" y="4160520"/>
            <a:ext cx="137160" cy="137160"/>
          </a:xfrm>
          <a:prstGeom prst="ellipse">
            <a:avLst/>
          </a:prstGeom>
          <a:solidFill>
            <a:srgbClr val="C4553B"/>
          </a:solidFill>
          <a:ln w="12700">
            <a:solidFill>
              <a:srgbClr val="333333"/>
            </a:solidFill>
            <a:prstDash val="solid"/>
          </a:ln>
        </p:spPr>
        <p:txBody>
          <a:bodyPr/>
          <a:lstStyle/>
          <a:p>
            <a:endParaRPr lang="en-US"/>
          </a:p>
        </p:txBody>
      </p:sp>
      <p:sp>
        <p:nvSpPr>
          <p:cNvPr id="13" name="Text 11"/>
          <p:cNvSpPr/>
          <p:nvPr/>
        </p:nvSpPr>
        <p:spPr>
          <a:xfrm>
            <a:off x="1371600" y="4078224"/>
            <a:ext cx="4297680" cy="274320"/>
          </a:xfrm>
          <a:prstGeom prst="rect">
            <a:avLst/>
          </a:prstGeom>
          <a:noFill/>
          <a:ln/>
        </p:spPr>
        <p:txBody>
          <a:bodyPr wrap="square" lIns="0" tIns="0" rIns="0" bIns="0" rtlCol="0" anchor="ctr"/>
          <a:lstStyle/>
          <a:p>
            <a:pPr marL="0" indent="0">
              <a:buNone/>
            </a:pPr>
            <a:r>
              <a:rPr lang="en-US" sz="1400" b="1" dirty="0">
                <a:solidFill>
                  <a:srgbClr val="16202F"/>
                </a:solidFill>
                <a:latin typeface="Calibri" pitchFamily="34" charset="0"/>
                <a:ea typeface="Calibri" pitchFamily="34" charset="-122"/>
                <a:cs typeface="Calibri" pitchFamily="34" charset="-120"/>
              </a:rPr>
              <a:t>Universe chosen in hindsight</a:t>
            </a:r>
            <a:endParaRPr lang="en-US" sz="1400" dirty="0"/>
          </a:p>
        </p:txBody>
      </p:sp>
      <p:sp>
        <p:nvSpPr>
          <p:cNvPr id="14" name="Text 12"/>
          <p:cNvSpPr/>
          <p:nvPr/>
        </p:nvSpPr>
        <p:spPr>
          <a:xfrm>
            <a:off x="1371600" y="4352544"/>
            <a:ext cx="4251960" cy="713232"/>
          </a:xfrm>
          <a:prstGeom prst="rect">
            <a:avLst/>
          </a:prstGeom>
          <a:noFill/>
          <a:ln/>
        </p:spPr>
        <p:txBody>
          <a:bodyPr wrap="square" lIns="0" tIns="0" rIns="0" bIns="0" rtlCol="0" anchor="ctr"/>
          <a:lstStyle/>
          <a:p>
            <a:pPr marL="0" indent="0">
              <a:lnSpc>
                <a:spcPts val="1600"/>
              </a:lnSpc>
              <a:buNone/>
            </a:pPr>
            <a:r>
              <a:rPr lang="en-US" sz="1150" dirty="0">
                <a:solidFill>
                  <a:srgbClr val="5D6E85"/>
                </a:solidFill>
                <a:latin typeface="Calibri" pitchFamily="34" charset="0"/>
                <a:ea typeface="Calibri" pitchFamily="34" charset="-122"/>
                <a:cs typeface="Calibri" pitchFamily="34" charset="-120"/>
              </a:rPr>
              <a:t>We picked these 20 tickers knowing how the test period went. The optimizer can only allocate to what we handed it.</a:t>
            </a:r>
            <a:endParaRPr lang="en-US" sz="1150" dirty="0"/>
          </a:p>
        </p:txBody>
      </p:sp>
      <p:sp>
        <p:nvSpPr>
          <p:cNvPr id="15" name="Shape 13"/>
          <p:cNvSpPr/>
          <p:nvPr/>
        </p:nvSpPr>
        <p:spPr>
          <a:xfrm>
            <a:off x="1069848" y="5111496"/>
            <a:ext cx="137160" cy="137160"/>
          </a:xfrm>
          <a:prstGeom prst="ellipse">
            <a:avLst/>
          </a:prstGeom>
          <a:solidFill>
            <a:srgbClr val="C4553B"/>
          </a:solidFill>
          <a:ln w="12700">
            <a:solidFill>
              <a:srgbClr val="333333"/>
            </a:solidFill>
            <a:prstDash val="solid"/>
          </a:ln>
        </p:spPr>
        <p:txBody>
          <a:bodyPr/>
          <a:lstStyle/>
          <a:p>
            <a:endParaRPr lang="en-US"/>
          </a:p>
        </p:txBody>
      </p:sp>
      <p:sp>
        <p:nvSpPr>
          <p:cNvPr id="16" name="Text 14"/>
          <p:cNvSpPr/>
          <p:nvPr/>
        </p:nvSpPr>
        <p:spPr>
          <a:xfrm>
            <a:off x="1371600" y="5029200"/>
            <a:ext cx="4297680" cy="274320"/>
          </a:xfrm>
          <a:prstGeom prst="rect">
            <a:avLst/>
          </a:prstGeom>
          <a:noFill/>
          <a:ln/>
        </p:spPr>
        <p:txBody>
          <a:bodyPr wrap="square" lIns="0" tIns="0" rIns="0" bIns="0" rtlCol="0" anchor="ctr"/>
          <a:lstStyle/>
          <a:p>
            <a:pPr marL="0" indent="0">
              <a:buNone/>
            </a:pPr>
            <a:r>
              <a:rPr lang="en-US" sz="1400" b="1" dirty="0">
                <a:solidFill>
                  <a:srgbClr val="16202F"/>
                </a:solidFill>
                <a:latin typeface="Calibri" pitchFamily="34" charset="0"/>
                <a:ea typeface="Calibri" pitchFamily="34" charset="-122"/>
                <a:cs typeface="Calibri" pitchFamily="34" charset="-120"/>
              </a:rPr>
              <a:t>No costs, no rebalancing</a:t>
            </a:r>
            <a:endParaRPr lang="en-US" sz="1400" dirty="0"/>
          </a:p>
        </p:txBody>
      </p:sp>
      <p:sp>
        <p:nvSpPr>
          <p:cNvPr id="17" name="Text 15"/>
          <p:cNvSpPr/>
          <p:nvPr/>
        </p:nvSpPr>
        <p:spPr>
          <a:xfrm>
            <a:off x="1371600" y="5303520"/>
            <a:ext cx="4251960" cy="713232"/>
          </a:xfrm>
          <a:prstGeom prst="rect">
            <a:avLst/>
          </a:prstGeom>
          <a:noFill/>
          <a:ln/>
        </p:spPr>
        <p:txBody>
          <a:bodyPr wrap="square" lIns="0" tIns="0" rIns="0" bIns="0" rtlCol="0" anchor="ctr"/>
          <a:lstStyle/>
          <a:p>
            <a:pPr marL="0" indent="0">
              <a:lnSpc>
                <a:spcPts val="1600"/>
              </a:lnSpc>
              <a:buNone/>
            </a:pPr>
            <a:r>
              <a:rPr lang="en-US" sz="1150" dirty="0">
                <a:solidFill>
                  <a:srgbClr val="5D6E85"/>
                </a:solidFill>
                <a:latin typeface="Calibri" pitchFamily="34" charset="0"/>
                <a:ea typeface="Calibri" pitchFamily="34" charset="-122"/>
                <a:cs typeface="Calibri" pitchFamily="34" charset="-120"/>
              </a:rPr>
              <a:t>End-of-day data only. Weights are held for two years with no transaction costs, taxes, or turnover modelled.</a:t>
            </a:r>
            <a:endParaRPr lang="en-US" sz="1150" dirty="0"/>
          </a:p>
        </p:txBody>
      </p:sp>
      <p:sp>
        <p:nvSpPr>
          <p:cNvPr id="18" name="Shape 16"/>
          <p:cNvSpPr/>
          <p:nvPr/>
        </p:nvSpPr>
        <p:spPr>
          <a:xfrm>
            <a:off x="6355080" y="1572768"/>
            <a:ext cx="5148072" cy="4370832"/>
          </a:xfrm>
          <a:prstGeom prst="roundRect">
            <a:avLst>
              <a:gd name="adj" fmla="val 1674"/>
            </a:avLst>
          </a:prstGeom>
          <a:solidFill>
            <a:srgbClr val="0E1F3C"/>
          </a:solidFill>
          <a:ln w="12700">
            <a:solidFill>
              <a:srgbClr val="333333"/>
            </a:solidFill>
            <a:prstDash val="solid"/>
          </a:ln>
        </p:spPr>
        <p:txBody>
          <a:bodyPr/>
          <a:lstStyle/>
          <a:p>
            <a:endParaRPr lang="en-US"/>
          </a:p>
        </p:txBody>
      </p:sp>
      <p:sp>
        <p:nvSpPr>
          <p:cNvPr id="19" name="Text 17"/>
          <p:cNvSpPr/>
          <p:nvPr/>
        </p:nvSpPr>
        <p:spPr>
          <a:xfrm>
            <a:off x="6739128" y="1874520"/>
            <a:ext cx="4572000" cy="256032"/>
          </a:xfrm>
          <a:prstGeom prst="rect">
            <a:avLst/>
          </a:prstGeom>
          <a:noFill/>
          <a:ln/>
        </p:spPr>
        <p:txBody>
          <a:bodyPr wrap="square" lIns="0" tIns="0" rIns="0" bIns="0" rtlCol="0" anchor="ctr"/>
          <a:lstStyle/>
          <a:p>
            <a:pPr marL="0" indent="0">
              <a:buNone/>
            </a:pPr>
            <a:r>
              <a:rPr lang="en-US" sz="1100" b="1" kern="0" spc="180" dirty="0">
                <a:solidFill>
                  <a:srgbClr val="6FD3C4"/>
                </a:solidFill>
                <a:latin typeface="Calibri" pitchFamily="34" charset="0"/>
                <a:ea typeface="Calibri" pitchFamily="34" charset="-122"/>
                <a:cs typeface="Calibri" pitchFamily="34" charset="-120"/>
              </a:rPr>
              <a:t>STILL IN DEVELOPMENT</a:t>
            </a:r>
            <a:endParaRPr lang="en-US" sz="1100" dirty="0"/>
          </a:p>
        </p:txBody>
      </p:sp>
      <p:sp>
        <p:nvSpPr>
          <p:cNvPr id="20" name="Shape 18"/>
          <p:cNvSpPr/>
          <p:nvPr/>
        </p:nvSpPr>
        <p:spPr>
          <a:xfrm>
            <a:off x="6739128" y="2258568"/>
            <a:ext cx="137160" cy="137160"/>
          </a:xfrm>
          <a:prstGeom prst="ellipse">
            <a:avLst/>
          </a:prstGeom>
          <a:solidFill>
            <a:srgbClr val="E8A33D"/>
          </a:solidFill>
          <a:ln w="12700">
            <a:solidFill>
              <a:srgbClr val="333333"/>
            </a:solidFill>
            <a:prstDash val="solid"/>
          </a:ln>
        </p:spPr>
        <p:txBody>
          <a:bodyPr/>
          <a:lstStyle/>
          <a:p>
            <a:endParaRPr lang="en-US"/>
          </a:p>
        </p:txBody>
      </p:sp>
      <p:sp>
        <p:nvSpPr>
          <p:cNvPr id="21" name="Text 19"/>
          <p:cNvSpPr/>
          <p:nvPr/>
        </p:nvSpPr>
        <p:spPr>
          <a:xfrm>
            <a:off x="7040880" y="2176272"/>
            <a:ext cx="2926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Rerun Linear and Ridge</a:t>
            </a:r>
            <a:endParaRPr lang="en-US" sz="1400" dirty="0"/>
          </a:p>
        </p:txBody>
      </p:sp>
      <p:sp>
        <p:nvSpPr>
          <p:cNvPr id="22" name="Text 20"/>
          <p:cNvSpPr/>
          <p:nvPr/>
        </p:nvSpPr>
        <p:spPr>
          <a:xfrm>
            <a:off x="9875520" y="2194560"/>
            <a:ext cx="1280160" cy="237744"/>
          </a:xfrm>
          <a:prstGeom prst="rect">
            <a:avLst/>
          </a:prstGeom>
          <a:noFill/>
          <a:ln/>
        </p:spPr>
        <p:txBody>
          <a:bodyPr wrap="square" lIns="0" tIns="0" rIns="0" bIns="0" rtlCol="0" anchor="ctr"/>
          <a:lstStyle/>
          <a:p>
            <a:pPr marL="0" indent="0" algn="r">
              <a:buNone/>
            </a:pPr>
            <a:r>
              <a:rPr lang="en-US" sz="1050" b="1" dirty="0">
                <a:solidFill>
                  <a:srgbClr val="E8A33D"/>
                </a:solidFill>
                <a:latin typeface="Calibri" pitchFamily="34" charset="0"/>
                <a:ea typeface="Calibri" pitchFamily="34" charset="-122"/>
                <a:cs typeface="Calibri" pitchFamily="34" charset="-120"/>
              </a:rPr>
              <a:t>Known gap</a:t>
            </a:r>
            <a:endParaRPr lang="en-US" sz="1050" dirty="0"/>
          </a:p>
        </p:txBody>
      </p:sp>
      <p:sp>
        <p:nvSpPr>
          <p:cNvPr id="23" name="Text 21"/>
          <p:cNvSpPr/>
          <p:nvPr/>
        </p:nvSpPr>
        <p:spPr>
          <a:xfrm>
            <a:off x="7040880" y="2450592"/>
            <a:ext cx="4023360" cy="713232"/>
          </a:xfrm>
          <a:prstGeom prst="rect">
            <a:avLst/>
          </a:prstGeom>
          <a:noFill/>
          <a:ln/>
        </p:spPr>
        <p:txBody>
          <a:bodyPr wrap="square" lIns="0" tIns="0" rIns="0" bIns="0" rtlCol="0" anchor="ctr"/>
          <a:lstStyle/>
          <a:p>
            <a:pPr marL="0" indent="0">
              <a:lnSpc>
                <a:spcPts val="1600"/>
              </a:lnSpc>
              <a:buNone/>
            </a:pPr>
            <a:r>
              <a:rPr lang="en-US" sz="1150" dirty="0">
                <a:solidFill>
                  <a:srgbClr val="AFC0D4"/>
                </a:solidFill>
                <a:latin typeface="Calibri" pitchFamily="34" charset="0"/>
                <a:ea typeface="Calibri" pitchFamily="34" charset="-122"/>
                <a:cs typeface="Calibri" pitchFamily="34" charset="-120"/>
              </a:rPr>
              <a:t>Notebook 06 proved a 5-macro feature set lifts them to R² 0.31; the official notebooks still run the 17.</a:t>
            </a:r>
            <a:endParaRPr lang="en-US" sz="1150" dirty="0"/>
          </a:p>
        </p:txBody>
      </p:sp>
      <p:sp>
        <p:nvSpPr>
          <p:cNvPr id="24" name="Shape 22"/>
          <p:cNvSpPr/>
          <p:nvPr/>
        </p:nvSpPr>
        <p:spPr>
          <a:xfrm>
            <a:off x="6739128" y="3209544"/>
            <a:ext cx="137160" cy="137160"/>
          </a:xfrm>
          <a:prstGeom prst="ellipse">
            <a:avLst/>
          </a:prstGeom>
          <a:solidFill>
            <a:srgbClr val="4A6180"/>
          </a:solidFill>
          <a:ln w="12700">
            <a:solidFill>
              <a:srgbClr val="333333"/>
            </a:solidFill>
            <a:prstDash val="solid"/>
          </a:ln>
        </p:spPr>
        <p:txBody>
          <a:bodyPr/>
          <a:lstStyle/>
          <a:p>
            <a:endParaRPr lang="en-US"/>
          </a:p>
        </p:txBody>
      </p:sp>
      <p:sp>
        <p:nvSpPr>
          <p:cNvPr id="25" name="Text 23"/>
          <p:cNvSpPr/>
          <p:nvPr/>
        </p:nvSpPr>
        <p:spPr>
          <a:xfrm>
            <a:off x="7040880" y="3127248"/>
            <a:ext cx="2926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Walk-forward testing</a:t>
            </a:r>
            <a:endParaRPr lang="en-US" sz="1400" dirty="0"/>
          </a:p>
        </p:txBody>
      </p:sp>
      <p:sp>
        <p:nvSpPr>
          <p:cNvPr id="26" name="Text 24"/>
          <p:cNvSpPr/>
          <p:nvPr/>
        </p:nvSpPr>
        <p:spPr>
          <a:xfrm>
            <a:off x="9875520" y="3145536"/>
            <a:ext cx="1280160" cy="237744"/>
          </a:xfrm>
          <a:prstGeom prst="rect">
            <a:avLst/>
          </a:prstGeom>
          <a:noFill/>
          <a:ln/>
        </p:spPr>
        <p:txBody>
          <a:bodyPr wrap="square" lIns="0" tIns="0" rIns="0" bIns="0" rtlCol="0" anchor="ctr"/>
          <a:lstStyle/>
          <a:p>
            <a:pPr marL="0" indent="0" algn="r">
              <a:buNone/>
            </a:pPr>
            <a:r>
              <a:rPr lang="en-US" sz="1050" b="1" dirty="0">
                <a:solidFill>
                  <a:srgbClr val="7C90A8"/>
                </a:solidFill>
                <a:latin typeface="Calibri" pitchFamily="34" charset="0"/>
                <a:ea typeface="Calibri" pitchFamily="34" charset="-122"/>
                <a:cs typeface="Calibri" pitchFamily="34" charset="-120"/>
              </a:rPr>
              <a:t>Planned</a:t>
            </a:r>
            <a:endParaRPr lang="en-US" sz="1050" dirty="0"/>
          </a:p>
        </p:txBody>
      </p:sp>
      <p:sp>
        <p:nvSpPr>
          <p:cNvPr id="27" name="Text 25"/>
          <p:cNvSpPr/>
          <p:nvPr/>
        </p:nvSpPr>
        <p:spPr>
          <a:xfrm>
            <a:off x="7040880" y="3401568"/>
            <a:ext cx="4023360" cy="713232"/>
          </a:xfrm>
          <a:prstGeom prst="rect">
            <a:avLst/>
          </a:prstGeom>
          <a:noFill/>
          <a:ln/>
        </p:spPr>
        <p:txBody>
          <a:bodyPr wrap="square" lIns="0" tIns="0" rIns="0" bIns="0" rtlCol="0" anchor="ctr"/>
          <a:lstStyle/>
          <a:p>
            <a:pPr marL="0" indent="0">
              <a:lnSpc>
                <a:spcPts val="1600"/>
              </a:lnSpc>
              <a:buNone/>
            </a:pPr>
            <a:r>
              <a:rPr lang="en-US" sz="1150" dirty="0">
                <a:solidFill>
                  <a:srgbClr val="AFC0D4"/>
                </a:solidFill>
                <a:latin typeface="Calibri" pitchFamily="34" charset="0"/>
                <a:ea typeface="Calibri" pitchFamily="34" charset="-122"/>
                <a:cs typeface="Calibri" pitchFamily="34" charset="-120"/>
              </a:rPr>
              <a:t>Reoptimize on a rolling window and test across several periods instead of one.</a:t>
            </a:r>
            <a:endParaRPr lang="en-US" sz="1150" dirty="0"/>
          </a:p>
        </p:txBody>
      </p:sp>
      <p:sp>
        <p:nvSpPr>
          <p:cNvPr id="28" name="Shape 26"/>
          <p:cNvSpPr/>
          <p:nvPr/>
        </p:nvSpPr>
        <p:spPr>
          <a:xfrm>
            <a:off x="6739128" y="4160520"/>
            <a:ext cx="137160" cy="137160"/>
          </a:xfrm>
          <a:prstGeom prst="ellipse">
            <a:avLst/>
          </a:prstGeom>
          <a:solidFill>
            <a:srgbClr val="4A6180"/>
          </a:solidFill>
          <a:ln w="12700">
            <a:solidFill>
              <a:srgbClr val="333333"/>
            </a:solidFill>
            <a:prstDash val="solid"/>
          </a:ln>
        </p:spPr>
        <p:txBody>
          <a:bodyPr/>
          <a:lstStyle/>
          <a:p>
            <a:endParaRPr lang="en-US"/>
          </a:p>
        </p:txBody>
      </p:sp>
      <p:sp>
        <p:nvSpPr>
          <p:cNvPr id="29" name="Text 27"/>
          <p:cNvSpPr/>
          <p:nvPr/>
        </p:nvSpPr>
        <p:spPr>
          <a:xfrm>
            <a:off x="7040880" y="4078224"/>
            <a:ext cx="2926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Transaction costs</a:t>
            </a:r>
            <a:endParaRPr lang="en-US" sz="1400" dirty="0"/>
          </a:p>
        </p:txBody>
      </p:sp>
      <p:sp>
        <p:nvSpPr>
          <p:cNvPr id="30" name="Text 28"/>
          <p:cNvSpPr/>
          <p:nvPr/>
        </p:nvSpPr>
        <p:spPr>
          <a:xfrm>
            <a:off x="9875520" y="4096512"/>
            <a:ext cx="1280160" cy="237744"/>
          </a:xfrm>
          <a:prstGeom prst="rect">
            <a:avLst/>
          </a:prstGeom>
          <a:noFill/>
          <a:ln/>
        </p:spPr>
        <p:txBody>
          <a:bodyPr wrap="square" lIns="0" tIns="0" rIns="0" bIns="0" rtlCol="0" anchor="ctr"/>
          <a:lstStyle/>
          <a:p>
            <a:pPr marL="0" indent="0" algn="r">
              <a:buNone/>
            </a:pPr>
            <a:r>
              <a:rPr lang="en-US" sz="1050" b="1" dirty="0">
                <a:solidFill>
                  <a:srgbClr val="7C90A8"/>
                </a:solidFill>
                <a:latin typeface="Calibri" pitchFamily="34" charset="0"/>
                <a:ea typeface="Calibri" pitchFamily="34" charset="-122"/>
                <a:cs typeface="Calibri" pitchFamily="34" charset="-120"/>
              </a:rPr>
              <a:t>Planned</a:t>
            </a:r>
            <a:endParaRPr lang="en-US" sz="1050" dirty="0"/>
          </a:p>
        </p:txBody>
      </p:sp>
      <p:sp>
        <p:nvSpPr>
          <p:cNvPr id="31" name="Text 29"/>
          <p:cNvSpPr/>
          <p:nvPr/>
        </p:nvSpPr>
        <p:spPr>
          <a:xfrm>
            <a:off x="7040880" y="4352544"/>
            <a:ext cx="4023360" cy="713232"/>
          </a:xfrm>
          <a:prstGeom prst="rect">
            <a:avLst/>
          </a:prstGeom>
          <a:noFill/>
          <a:ln/>
        </p:spPr>
        <p:txBody>
          <a:bodyPr wrap="square" lIns="0" tIns="0" rIns="0" bIns="0" rtlCol="0" anchor="ctr"/>
          <a:lstStyle/>
          <a:p>
            <a:pPr marL="0" indent="0">
              <a:lnSpc>
                <a:spcPts val="1600"/>
              </a:lnSpc>
              <a:buNone/>
            </a:pPr>
            <a:r>
              <a:rPr lang="en-US" sz="1150" dirty="0">
                <a:solidFill>
                  <a:srgbClr val="AFC0D4"/>
                </a:solidFill>
                <a:latin typeface="Calibri" pitchFamily="34" charset="0"/>
                <a:ea typeface="Calibri" pitchFamily="34" charset="-122"/>
                <a:cs typeface="Calibri" pitchFamily="34" charset="-120"/>
              </a:rPr>
              <a:t>Charge the backtest for turnover so rebalancing is compared honestly.</a:t>
            </a:r>
            <a:endParaRPr lang="en-US" sz="1150" dirty="0"/>
          </a:p>
        </p:txBody>
      </p:sp>
      <p:sp>
        <p:nvSpPr>
          <p:cNvPr id="32" name="Shape 30"/>
          <p:cNvSpPr/>
          <p:nvPr/>
        </p:nvSpPr>
        <p:spPr>
          <a:xfrm>
            <a:off x="6739128" y="5111496"/>
            <a:ext cx="137160" cy="137160"/>
          </a:xfrm>
          <a:prstGeom prst="ellipse">
            <a:avLst/>
          </a:prstGeom>
          <a:solidFill>
            <a:srgbClr val="4A6180"/>
          </a:solidFill>
          <a:ln w="12700">
            <a:solidFill>
              <a:srgbClr val="333333"/>
            </a:solidFill>
            <a:prstDash val="solid"/>
          </a:ln>
        </p:spPr>
        <p:txBody>
          <a:bodyPr/>
          <a:lstStyle/>
          <a:p>
            <a:endParaRPr lang="en-US"/>
          </a:p>
        </p:txBody>
      </p:sp>
      <p:sp>
        <p:nvSpPr>
          <p:cNvPr id="33" name="Text 31"/>
          <p:cNvSpPr/>
          <p:nvPr/>
        </p:nvSpPr>
        <p:spPr>
          <a:xfrm>
            <a:off x="7040880" y="5029200"/>
            <a:ext cx="2926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Order generation</a:t>
            </a:r>
            <a:endParaRPr lang="en-US" sz="1400" dirty="0"/>
          </a:p>
        </p:txBody>
      </p:sp>
      <p:sp>
        <p:nvSpPr>
          <p:cNvPr id="34" name="Text 32"/>
          <p:cNvSpPr/>
          <p:nvPr/>
        </p:nvSpPr>
        <p:spPr>
          <a:xfrm>
            <a:off x="9875520" y="5047488"/>
            <a:ext cx="1280160" cy="237744"/>
          </a:xfrm>
          <a:prstGeom prst="rect">
            <a:avLst/>
          </a:prstGeom>
          <a:noFill/>
          <a:ln/>
        </p:spPr>
        <p:txBody>
          <a:bodyPr wrap="square" lIns="0" tIns="0" rIns="0" bIns="0" rtlCol="0" anchor="ctr"/>
          <a:lstStyle/>
          <a:p>
            <a:pPr marL="0" indent="0" algn="r">
              <a:buNone/>
            </a:pPr>
            <a:r>
              <a:rPr lang="en-US" sz="1050" b="1" dirty="0">
                <a:solidFill>
                  <a:srgbClr val="7C90A8"/>
                </a:solidFill>
                <a:latin typeface="Calibri" pitchFamily="34" charset="0"/>
                <a:ea typeface="Calibri" pitchFamily="34" charset="-122"/>
                <a:cs typeface="Calibri" pitchFamily="34" charset="-120"/>
              </a:rPr>
              <a:t>Planned</a:t>
            </a:r>
            <a:endParaRPr lang="en-US" sz="1050" dirty="0"/>
          </a:p>
        </p:txBody>
      </p:sp>
      <p:sp>
        <p:nvSpPr>
          <p:cNvPr id="35" name="Text 33"/>
          <p:cNvSpPr/>
          <p:nvPr/>
        </p:nvSpPr>
        <p:spPr>
          <a:xfrm>
            <a:off x="7040880" y="5303520"/>
            <a:ext cx="4023360" cy="713232"/>
          </a:xfrm>
          <a:prstGeom prst="rect">
            <a:avLst/>
          </a:prstGeom>
          <a:noFill/>
          <a:ln/>
        </p:spPr>
        <p:txBody>
          <a:bodyPr wrap="square" lIns="0" tIns="0" rIns="0" bIns="0" rtlCol="0" anchor="ctr"/>
          <a:lstStyle/>
          <a:p>
            <a:pPr marL="0" indent="0">
              <a:lnSpc>
                <a:spcPts val="1600"/>
              </a:lnSpc>
              <a:buNone/>
            </a:pPr>
            <a:r>
              <a:rPr lang="en-US" sz="1150" dirty="0">
                <a:solidFill>
                  <a:srgbClr val="AFC0D4"/>
                </a:solidFill>
                <a:latin typeface="Calibri" pitchFamily="34" charset="0"/>
                <a:ea typeface="Calibri" pitchFamily="34" charset="-122"/>
                <a:cs typeface="Calibri" pitchFamily="34" charset="-120"/>
              </a:rPr>
              <a:t>Translate target weights into concrete share quantities.</a:t>
            </a:r>
            <a:endParaRPr lang="en-US" sz="1150" dirty="0"/>
          </a:p>
        </p:txBody>
      </p:sp>
      <p:sp>
        <p:nvSpPr>
          <p:cNvPr id="36" name="Text 34"/>
          <p:cNvSpPr/>
          <p:nvPr/>
        </p:nvSpPr>
        <p:spPr>
          <a:xfrm>
            <a:off x="685800" y="6355080"/>
            <a:ext cx="5486400" cy="274320"/>
          </a:xfrm>
          <a:prstGeom prst="rect">
            <a:avLst/>
          </a:prstGeom>
          <a:noFill/>
          <a:ln/>
        </p:spPr>
        <p:txBody>
          <a:bodyPr wrap="square" lIns="0" tIns="0" rIns="0" bIns="0" rtlCol="0" anchor="ctr"/>
          <a:lstStyle/>
          <a:p>
            <a:pPr marL="0" indent="0">
              <a:buNone/>
            </a:pPr>
            <a:r>
              <a:rPr lang="en-US" sz="950" dirty="0">
                <a:solidFill>
                  <a:srgbClr val="9AA7B8"/>
                </a:solidFill>
                <a:latin typeface="Calibri" pitchFamily="34" charset="0"/>
                <a:ea typeface="Calibri" pitchFamily="34" charset="-122"/>
                <a:cs typeface="Calibri" pitchFamily="34" charset="-120"/>
              </a:rPr>
              <a:t>FinSight Analytics  ·  INFO 442 Group 2</a:t>
            </a:r>
            <a:endParaRPr lang="en-US" sz="950" dirty="0"/>
          </a:p>
        </p:txBody>
      </p:sp>
      <p:sp>
        <p:nvSpPr>
          <p:cNvPr id="37" name="Text 35"/>
          <p:cNvSpPr/>
          <p:nvPr/>
        </p:nvSpPr>
        <p:spPr>
          <a:xfrm>
            <a:off x="10591495" y="6355080"/>
            <a:ext cx="914400" cy="274320"/>
          </a:xfrm>
          <a:prstGeom prst="rect">
            <a:avLst/>
          </a:prstGeom>
          <a:noFill/>
          <a:ln/>
        </p:spPr>
        <p:txBody>
          <a:bodyPr wrap="square" lIns="0" tIns="0" rIns="0" bIns="0" rtlCol="0" anchor="ctr"/>
          <a:lstStyle/>
          <a:p>
            <a:pPr marL="0" indent="0" algn="r">
              <a:buNone/>
            </a:pPr>
            <a:r>
              <a:rPr lang="en-US" sz="950" dirty="0">
                <a:solidFill>
                  <a:srgbClr val="9AA7B8"/>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F3C"/>
        </a:solidFill>
        <a:effectLst/>
      </p:bgPr>
    </p:bg>
    <p:spTree>
      <p:nvGrpSpPr>
        <p:cNvPr id="1" name=""/>
        <p:cNvGrpSpPr/>
        <p:nvPr/>
      </p:nvGrpSpPr>
      <p:grpSpPr>
        <a:xfrm>
          <a:off x="0" y="0"/>
          <a:ext cx="0" cy="0"/>
          <a:chOff x="0" y="0"/>
          <a:chExt cx="0" cy="0"/>
        </a:xfrm>
      </p:grpSpPr>
      <p:sp>
        <p:nvSpPr>
          <p:cNvPr id="2" name="Shape 0"/>
          <p:cNvSpPr/>
          <p:nvPr/>
        </p:nvSpPr>
        <p:spPr>
          <a:xfrm>
            <a:off x="9052560" y="-1828800"/>
            <a:ext cx="5303520" cy="5303520"/>
          </a:xfrm>
          <a:prstGeom prst="ellipse">
            <a:avLst/>
          </a:prstGeom>
          <a:solidFill>
            <a:srgbClr val="00A896">
              <a:alpha val="10000"/>
            </a:srgbClr>
          </a:solidFill>
          <a:ln w="12700">
            <a:solidFill>
              <a:srgbClr val="333333"/>
            </a:solidFill>
            <a:prstDash val="solid"/>
          </a:ln>
        </p:spPr>
        <p:txBody>
          <a:bodyPr/>
          <a:lstStyle/>
          <a:p>
            <a:endParaRPr lang="en-US"/>
          </a:p>
        </p:txBody>
      </p:sp>
      <p:sp>
        <p:nvSpPr>
          <p:cNvPr id="3" name="Text 1"/>
          <p:cNvSpPr/>
          <p:nvPr/>
        </p:nvSpPr>
        <p:spPr>
          <a:xfrm>
            <a:off x="685800" y="1371600"/>
            <a:ext cx="7315200" cy="320040"/>
          </a:xfrm>
          <a:prstGeom prst="rect">
            <a:avLst/>
          </a:prstGeom>
          <a:noFill/>
          <a:ln/>
        </p:spPr>
        <p:txBody>
          <a:bodyPr wrap="square" lIns="0" tIns="0" rIns="0" bIns="0" rtlCol="0" anchor="ctr"/>
          <a:lstStyle/>
          <a:p>
            <a:pPr marL="0" indent="0">
              <a:buNone/>
            </a:pPr>
            <a:r>
              <a:rPr lang="en-US" sz="1300" b="1" kern="0" spc="250" dirty="0">
                <a:solidFill>
                  <a:srgbClr val="6FD3C4"/>
                </a:solidFill>
                <a:latin typeface="Calibri" pitchFamily="34" charset="0"/>
                <a:ea typeface="Calibri" pitchFamily="34" charset="-122"/>
                <a:cs typeface="Calibri" pitchFamily="34" charset="-120"/>
              </a:rPr>
              <a:t>Thank you</a:t>
            </a:r>
            <a:endParaRPr lang="en-US" sz="1300" dirty="0"/>
          </a:p>
        </p:txBody>
      </p:sp>
      <p:sp>
        <p:nvSpPr>
          <p:cNvPr id="4" name="Text 2"/>
          <p:cNvSpPr/>
          <p:nvPr/>
        </p:nvSpPr>
        <p:spPr>
          <a:xfrm>
            <a:off x="685800" y="1783080"/>
            <a:ext cx="8686800" cy="1463040"/>
          </a:xfrm>
          <a:prstGeom prst="rect">
            <a:avLst/>
          </a:prstGeom>
          <a:noFill/>
          <a:ln/>
        </p:spPr>
        <p:txBody>
          <a:bodyPr wrap="square" lIns="0" tIns="0" rIns="0" bIns="0" rtlCol="0" anchor="ctr"/>
          <a:lstStyle/>
          <a:p>
            <a:pPr marL="0" indent="0">
              <a:lnSpc>
                <a:spcPts val="4400"/>
              </a:lnSpc>
              <a:buNone/>
            </a:pPr>
            <a:r>
              <a:rPr lang="en-US" sz="3800" b="1" dirty="0">
                <a:solidFill>
                  <a:srgbClr val="FFFFFF"/>
                </a:solidFill>
                <a:latin typeface="Cambria" pitchFamily="34" charset="0"/>
                <a:ea typeface="Cambria" pitchFamily="34" charset="-122"/>
                <a:cs typeface="Cambria" pitchFamily="34" charset="-120"/>
              </a:rPr>
              <a:t>Questions — and a live</a:t>
            </a:r>
            <a:endParaRPr lang="en-US" sz="3800" dirty="0"/>
          </a:p>
          <a:p>
            <a:pPr marL="0" indent="0">
              <a:lnSpc>
                <a:spcPts val="4400"/>
              </a:lnSpc>
              <a:buNone/>
            </a:pPr>
            <a:r>
              <a:rPr lang="en-US" sz="3800" b="1" dirty="0">
                <a:solidFill>
                  <a:srgbClr val="FFFFFF"/>
                </a:solidFill>
                <a:latin typeface="Cambria" pitchFamily="34" charset="0"/>
                <a:ea typeface="Cambria" pitchFamily="34" charset="-122"/>
                <a:cs typeface="Cambria" pitchFamily="34" charset="-120"/>
              </a:rPr>
              <a:t>dashboard demo on request.</a:t>
            </a:r>
            <a:endParaRPr lang="en-US" sz="3800" dirty="0"/>
          </a:p>
        </p:txBody>
      </p:sp>
      <p:sp>
        <p:nvSpPr>
          <p:cNvPr id="5" name="Text 3"/>
          <p:cNvSpPr/>
          <p:nvPr/>
        </p:nvSpPr>
        <p:spPr>
          <a:xfrm>
            <a:off x="685800" y="3657600"/>
            <a:ext cx="2499284" cy="731520"/>
          </a:xfrm>
          <a:prstGeom prst="rect">
            <a:avLst/>
          </a:prstGeom>
          <a:noFill/>
          <a:ln/>
        </p:spPr>
        <p:txBody>
          <a:bodyPr wrap="square" lIns="0" tIns="0" rIns="0" bIns="0" rtlCol="0" anchor="ctr"/>
          <a:lstStyle/>
          <a:p>
            <a:pPr marL="0" indent="0">
              <a:buNone/>
            </a:pPr>
            <a:r>
              <a:rPr lang="en-US" sz="4400" b="1" dirty="0">
                <a:solidFill>
                  <a:srgbClr val="6FD3C4"/>
                </a:solidFill>
                <a:latin typeface="Cambria" pitchFamily="34" charset="0"/>
                <a:ea typeface="Cambria" pitchFamily="34" charset="-122"/>
                <a:cs typeface="Cambria" pitchFamily="34" charset="-120"/>
              </a:rPr>
              <a:t>20</a:t>
            </a:r>
            <a:endParaRPr lang="en-US" sz="4400" dirty="0"/>
          </a:p>
        </p:txBody>
      </p:sp>
      <p:sp>
        <p:nvSpPr>
          <p:cNvPr id="6" name="Text 4"/>
          <p:cNvSpPr/>
          <p:nvPr/>
        </p:nvSpPr>
        <p:spPr>
          <a:xfrm>
            <a:off x="685800" y="4434840"/>
            <a:ext cx="2499284" cy="457200"/>
          </a:xfrm>
          <a:prstGeom prst="rect">
            <a:avLst/>
          </a:prstGeom>
          <a:noFill/>
          <a:ln/>
        </p:spPr>
        <p:txBody>
          <a:bodyPr wrap="square" lIns="0" tIns="0" rIns="0" bIns="0" rtlCol="0" anchor="ctr"/>
          <a:lstStyle/>
          <a:p>
            <a:pPr marL="0" indent="0">
              <a:lnSpc>
                <a:spcPts val="1700"/>
              </a:lnSpc>
              <a:buNone/>
            </a:pPr>
            <a:r>
              <a:rPr lang="en-US" sz="1250" dirty="0">
                <a:solidFill>
                  <a:srgbClr val="AFC0D4"/>
                </a:solidFill>
                <a:latin typeface="Calibri" pitchFamily="34" charset="0"/>
                <a:ea typeface="Calibri" pitchFamily="34" charset="-122"/>
                <a:cs typeface="Calibri" pitchFamily="34" charset="-120"/>
              </a:rPr>
              <a:t>notebooks, all rerunnable</a:t>
            </a:r>
            <a:endParaRPr lang="en-US" sz="1250" dirty="0"/>
          </a:p>
        </p:txBody>
      </p:sp>
      <p:sp>
        <p:nvSpPr>
          <p:cNvPr id="7" name="Text 5"/>
          <p:cNvSpPr/>
          <p:nvPr/>
        </p:nvSpPr>
        <p:spPr>
          <a:xfrm>
            <a:off x="3459404" y="3657600"/>
            <a:ext cx="2499284" cy="731520"/>
          </a:xfrm>
          <a:prstGeom prst="rect">
            <a:avLst/>
          </a:prstGeom>
          <a:noFill/>
          <a:ln/>
        </p:spPr>
        <p:txBody>
          <a:bodyPr wrap="square" lIns="0" tIns="0" rIns="0" bIns="0" rtlCol="0" anchor="ctr"/>
          <a:lstStyle/>
          <a:p>
            <a:pPr marL="0" indent="0">
              <a:buNone/>
            </a:pPr>
            <a:r>
              <a:rPr lang="en-US" sz="4400" b="1" dirty="0">
                <a:solidFill>
                  <a:srgbClr val="6FD3C4"/>
                </a:solidFill>
                <a:latin typeface="Cambria" pitchFamily="34" charset="0"/>
                <a:ea typeface="Cambria" pitchFamily="34" charset="-122"/>
                <a:cs typeface="Cambria" pitchFamily="34" charset="-120"/>
              </a:rPr>
              <a:t>5</a:t>
            </a:r>
            <a:endParaRPr lang="en-US" sz="4400" dirty="0"/>
          </a:p>
        </p:txBody>
      </p:sp>
      <p:sp>
        <p:nvSpPr>
          <p:cNvPr id="8" name="Text 6"/>
          <p:cNvSpPr/>
          <p:nvPr/>
        </p:nvSpPr>
        <p:spPr>
          <a:xfrm>
            <a:off x="3459404" y="4434840"/>
            <a:ext cx="2499284" cy="457200"/>
          </a:xfrm>
          <a:prstGeom prst="rect">
            <a:avLst/>
          </a:prstGeom>
          <a:noFill/>
          <a:ln/>
        </p:spPr>
        <p:txBody>
          <a:bodyPr wrap="square" lIns="0" tIns="0" rIns="0" bIns="0" rtlCol="0" anchor="ctr"/>
          <a:lstStyle/>
          <a:p>
            <a:pPr marL="0" indent="0">
              <a:lnSpc>
                <a:spcPts val="1700"/>
              </a:lnSpc>
              <a:buNone/>
            </a:pPr>
            <a:r>
              <a:rPr lang="en-US" sz="1250" dirty="0">
                <a:solidFill>
                  <a:srgbClr val="AFC0D4"/>
                </a:solidFill>
                <a:latin typeface="Calibri" pitchFamily="34" charset="0"/>
                <a:ea typeface="Calibri" pitchFamily="34" charset="-122"/>
                <a:cs typeface="Calibri" pitchFamily="34" charset="-120"/>
              </a:rPr>
              <a:t>volatility models compared</a:t>
            </a:r>
            <a:endParaRPr lang="en-US" sz="1250" dirty="0"/>
          </a:p>
        </p:txBody>
      </p:sp>
      <p:sp>
        <p:nvSpPr>
          <p:cNvPr id="9" name="Text 7"/>
          <p:cNvSpPr/>
          <p:nvPr/>
        </p:nvSpPr>
        <p:spPr>
          <a:xfrm>
            <a:off x="6233008" y="3657600"/>
            <a:ext cx="2499284" cy="731520"/>
          </a:xfrm>
          <a:prstGeom prst="rect">
            <a:avLst/>
          </a:prstGeom>
          <a:noFill/>
          <a:ln/>
        </p:spPr>
        <p:txBody>
          <a:bodyPr wrap="square" lIns="0" tIns="0" rIns="0" bIns="0" rtlCol="0" anchor="ctr"/>
          <a:lstStyle/>
          <a:p>
            <a:pPr marL="0" indent="0">
              <a:buNone/>
            </a:pPr>
            <a:r>
              <a:rPr lang="en-US" sz="4400" b="1" dirty="0">
                <a:solidFill>
                  <a:srgbClr val="6FD3C4"/>
                </a:solidFill>
                <a:latin typeface="Cambria" pitchFamily="34" charset="0"/>
                <a:ea typeface="Cambria" pitchFamily="34" charset="-122"/>
                <a:cs typeface="Cambria" pitchFamily="34" charset="-120"/>
              </a:rPr>
              <a:t>1.60</a:t>
            </a:r>
            <a:endParaRPr lang="en-US" sz="4400" dirty="0"/>
          </a:p>
        </p:txBody>
      </p:sp>
      <p:sp>
        <p:nvSpPr>
          <p:cNvPr id="10" name="Text 8"/>
          <p:cNvSpPr/>
          <p:nvPr/>
        </p:nvSpPr>
        <p:spPr>
          <a:xfrm>
            <a:off x="6233008" y="4434840"/>
            <a:ext cx="2499284" cy="457200"/>
          </a:xfrm>
          <a:prstGeom prst="rect">
            <a:avLst/>
          </a:prstGeom>
          <a:noFill/>
          <a:ln/>
        </p:spPr>
        <p:txBody>
          <a:bodyPr wrap="square" lIns="0" tIns="0" rIns="0" bIns="0" rtlCol="0" anchor="ctr"/>
          <a:lstStyle/>
          <a:p>
            <a:pPr marL="0" indent="0">
              <a:lnSpc>
                <a:spcPts val="1700"/>
              </a:lnSpc>
              <a:buNone/>
            </a:pPr>
            <a:r>
              <a:rPr lang="en-US" sz="1250" dirty="0">
                <a:solidFill>
                  <a:srgbClr val="AFC0D4"/>
                </a:solidFill>
                <a:latin typeface="Calibri" pitchFamily="34" charset="0"/>
                <a:ea typeface="Calibri" pitchFamily="34" charset="-122"/>
                <a:cs typeface="Calibri" pitchFamily="34" charset="-120"/>
              </a:rPr>
              <a:t>best Sharpe vs. 1.00 SPY</a:t>
            </a:r>
            <a:endParaRPr lang="en-US" sz="1250" dirty="0"/>
          </a:p>
        </p:txBody>
      </p:sp>
      <p:sp>
        <p:nvSpPr>
          <p:cNvPr id="11" name="Text 9"/>
          <p:cNvSpPr/>
          <p:nvPr/>
        </p:nvSpPr>
        <p:spPr>
          <a:xfrm>
            <a:off x="9006611" y="3657600"/>
            <a:ext cx="2499284" cy="731520"/>
          </a:xfrm>
          <a:prstGeom prst="rect">
            <a:avLst/>
          </a:prstGeom>
          <a:noFill/>
          <a:ln/>
        </p:spPr>
        <p:txBody>
          <a:bodyPr wrap="square" lIns="0" tIns="0" rIns="0" bIns="0" rtlCol="0" anchor="ctr"/>
          <a:lstStyle/>
          <a:p>
            <a:pPr marL="0" indent="0">
              <a:buNone/>
            </a:pPr>
            <a:r>
              <a:rPr lang="en-US" sz="4400" b="1" dirty="0">
                <a:solidFill>
                  <a:srgbClr val="6FD3C4"/>
                </a:solidFill>
                <a:latin typeface="Cambria" pitchFamily="34" charset="0"/>
                <a:ea typeface="Cambria" pitchFamily="34" charset="-122"/>
                <a:cs typeface="Cambria" pitchFamily="34" charset="-120"/>
              </a:rPr>
              <a:t>5</a:t>
            </a:r>
            <a:endParaRPr lang="en-US" sz="4400" dirty="0"/>
          </a:p>
        </p:txBody>
      </p:sp>
      <p:sp>
        <p:nvSpPr>
          <p:cNvPr id="12" name="Text 10"/>
          <p:cNvSpPr/>
          <p:nvPr/>
        </p:nvSpPr>
        <p:spPr>
          <a:xfrm>
            <a:off x="9006611" y="4434840"/>
            <a:ext cx="2499284" cy="457200"/>
          </a:xfrm>
          <a:prstGeom prst="rect">
            <a:avLst/>
          </a:prstGeom>
          <a:noFill/>
          <a:ln/>
        </p:spPr>
        <p:txBody>
          <a:bodyPr wrap="square" lIns="0" tIns="0" rIns="0" bIns="0" rtlCol="0" anchor="ctr"/>
          <a:lstStyle/>
          <a:p>
            <a:pPr marL="0" indent="0">
              <a:lnSpc>
                <a:spcPts val="1700"/>
              </a:lnSpc>
              <a:buNone/>
            </a:pPr>
            <a:r>
              <a:rPr lang="en-US" sz="1250" dirty="0">
                <a:solidFill>
                  <a:srgbClr val="AFC0D4"/>
                </a:solidFill>
                <a:latin typeface="Calibri" pitchFamily="34" charset="0"/>
                <a:ea typeface="Calibri" pitchFamily="34" charset="-122"/>
                <a:cs typeface="Calibri" pitchFamily="34" charset="-120"/>
              </a:rPr>
              <a:t>live dashboard pages</a:t>
            </a:r>
            <a:endParaRPr lang="en-US" sz="1250" dirty="0"/>
          </a:p>
        </p:txBody>
      </p:sp>
      <p:sp>
        <p:nvSpPr>
          <p:cNvPr id="13" name="Text 11"/>
          <p:cNvSpPr/>
          <p:nvPr/>
        </p:nvSpPr>
        <p:spPr>
          <a:xfrm>
            <a:off x="685800" y="5577840"/>
            <a:ext cx="8229600" cy="27432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Danny Eapen  ·  Jeffrey Cheung  ·  Joel Thomas  ·  Samii Shabuse</a:t>
            </a:r>
            <a:endParaRPr lang="en-US" sz="1300" dirty="0"/>
          </a:p>
        </p:txBody>
      </p:sp>
      <p:sp>
        <p:nvSpPr>
          <p:cNvPr id="14" name="Text 12"/>
          <p:cNvSpPr/>
          <p:nvPr/>
        </p:nvSpPr>
        <p:spPr>
          <a:xfrm>
            <a:off x="685800" y="5897880"/>
            <a:ext cx="8229600" cy="274320"/>
          </a:xfrm>
          <a:prstGeom prst="rect">
            <a:avLst/>
          </a:prstGeom>
          <a:noFill/>
          <a:ln/>
        </p:spPr>
        <p:txBody>
          <a:bodyPr wrap="square" lIns="0" tIns="0" rIns="0" bIns="0" rtlCol="0" anchor="ctr"/>
          <a:lstStyle/>
          <a:p>
            <a:pPr marL="0" indent="0">
              <a:buNone/>
            </a:pPr>
            <a:r>
              <a:rPr lang="en-US" sz="1150" i="1" dirty="0">
                <a:solidFill>
                  <a:srgbClr val="8FA2BC"/>
                </a:solidFill>
                <a:latin typeface="Calibri" pitchFamily="34" charset="0"/>
                <a:ea typeface="Calibri" pitchFamily="34" charset="-122"/>
                <a:cs typeface="Calibri" pitchFamily="34" charset="-120"/>
              </a:rPr>
              <a:t>Educational and analytical project — not financial advice.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2486</Words>
  <Application>Microsoft Macintosh PowerPoint</Application>
  <PresentationFormat>Widescreen</PresentationFormat>
  <Paragraphs>369</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Predictive Portfolio Optimization &amp; Risk Analytics</dc:title>
  <dc:subject>PptxGenJS Presentation</dc:subject>
  <dc:creator>FinSight Analytics — INFO 442 Group 2</dc:creator>
  <cp:lastModifiedBy>Cheung,Jeffrey</cp:lastModifiedBy>
  <cp:revision>2</cp:revision>
  <dcterms:created xsi:type="dcterms:W3CDTF">2026-08-07T02:32:32Z</dcterms:created>
  <dcterms:modified xsi:type="dcterms:W3CDTF">2026-08-07T02:34:27Z</dcterms:modified>
</cp:coreProperties>
</file>