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02F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6202F"/>
                </a:solidFill>
                <a:latin typeface="Calibri"/>
              </a:rPr>
              <a:t>Random-forest feature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 importance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D6E8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cpi_pct_change</c:v>
                </c:pt>
                <c:pt idx="1">
                  <c:v>risk_free_rate</c:v>
                </c:pt>
                <c:pt idx="2">
                  <c:v>vix</c:v>
                </c:pt>
                <c:pt idx="3">
                  <c:v>yield_curve</c:v>
                </c:pt>
                <c:pt idx="4">
                  <c:v>recession_flag</c:v>
                </c:pt>
                <c:pt idx="5">
                  <c:v>rolling_vol_5d</c:v>
                </c:pt>
                <c:pt idx="6">
                  <c:v>rolling_abs_ret_20d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0.108</c:v>
                </c:pt>
                <c:pt idx="1">
                  <c:v>0.112</c:v>
                </c:pt>
                <c:pt idx="2">
                  <c:v>6.2E-2</c:v>
                </c:pt>
                <c:pt idx="3">
                  <c:v>3.9E-2</c:v>
                </c:pt>
                <c:pt idx="4">
                  <c:v>3.4000000000000002E-2</c:v>
                </c:pt>
                <c:pt idx="5">
                  <c:v>3.4000000000000002E-2</c:v>
                </c:pt>
                <c:pt idx="6">
                  <c:v>0.432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3F-D949-9CD0-611AD4F4F2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</c:scaling>
        <c:delete val="0"/>
        <c:axPos val="b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02F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6202F"/>
                </a:solidFill>
                <a:latin typeface="Calibri"/>
              </a:rPr>
              <a:t>Test RMSE — lower is better (all tickers, 2024–2025)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5D6E8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3F6-B44F-B8D9-B1B88FDC77A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3F6-B44F-B8D9-B1B88FDC77A0}"/>
              </c:ext>
            </c:extLst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F6-B44F-B8D9-B1B88FDC77A0}"/>
              </c:ext>
            </c:extLst>
          </c:dPt>
          <c:dPt>
            <c:idx val="3"/>
            <c:invertIfNegative val="0"/>
            <c:bubble3D val="0"/>
            <c:spPr>
              <a:solidFill>
                <a:srgbClr val="6FD3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3F6-B44F-B8D9-B1B88FDC77A0}"/>
              </c:ext>
            </c:extLst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3F6-B44F-B8D9-B1B88FDC77A0}"/>
              </c:ext>
            </c:extLst>
          </c:dPt>
          <c:dLbls>
            <c:numFmt formatCode="0.0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0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Linear Regression</c:v>
                </c:pt>
                <c:pt idx="1">
                  <c:v>Ridge Regression</c:v>
                </c:pt>
                <c:pt idx="2">
                  <c:v>Baseline: 20d rolling vol</c:v>
                </c:pt>
                <c:pt idx="3">
                  <c:v>Gradient Boosting</c:v>
                </c:pt>
                <c:pt idx="4">
                  <c:v>Random Forest (tuned)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7.7640000000000001E-3</c:v>
                </c:pt>
                <c:pt idx="1">
                  <c:v>7.7629999999999999E-3</c:v>
                </c:pt>
                <c:pt idx="2">
                  <c:v>7.1300000000000001E-3</c:v>
                </c:pt>
                <c:pt idx="3">
                  <c:v>5.9459999999999999E-3</c:v>
                </c:pt>
                <c:pt idx="4">
                  <c:v>5.8019999999999999E-3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3F6-B44F-B8D9-B1B88FDC77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0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.9999999999999993E-3"/>
        </c:scaling>
        <c:delete val="0"/>
        <c:axPos val="b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 Predictive Max Sharpe</c:v>
                </c:pt>
              </c:strCache>
            </c:strRef>
          </c:tx>
          <c:spPr>
            <a:ln w="31750" cap="flat">
              <a:solidFill>
                <a:srgbClr val="00A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Jan 24</c:v>
                </c:pt>
                <c:pt idx="1">
                  <c:v>  </c:v>
                </c:pt>
                <c:pt idx="2">
                  <c:v>   </c:v>
                </c:pt>
                <c:pt idx="3">
                  <c:v>Mar 24</c:v>
                </c:pt>
                <c:pt idx="4">
                  <c:v>     </c:v>
                </c:pt>
                <c:pt idx="5">
                  <c:v>      </c:v>
                </c:pt>
                <c:pt idx="6">
                  <c:v>Jun 24</c:v>
                </c:pt>
                <c:pt idx="7">
                  <c:v>        </c:v>
                </c:pt>
                <c:pt idx="8">
                  <c:v>         </c:v>
                </c:pt>
                <c:pt idx="9">
                  <c:v>Sep 24</c:v>
                </c:pt>
                <c:pt idx="10">
                  <c:v>           </c:v>
                </c:pt>
                <c:pt idx="11">
                  <c:v>            </c:v>
                </c:pt>
                <c:pt idx="12">
                  <c:v>Dec 24</c:v>
                </c:pt>
                <c:pt idx="13">
                  <c:v>              </c:v>
                </c:pt>
                <c:pt idx="14">
                  <c:v>               </c:v>
                </c:pt>
                <c:pt idx="15">
                  <c:v>Mar 25</c:v>
                </c:pt>
                <c:pt idx="16">
                  <c:v>                 </c:v>
                </c:pt>
                <c:pt idx="17">
                  <c:v>                  </c:v>
                </c:pt>
                <c:pt idx="18">
                  <c:v>Jun 25</c:v>
                </c:pt>
                <c:pt idx="19">
                  <c:v>                    </c:v>
                </c:pt>
                <c:pt idx="20">
                  <c:v>                     </c:v>
                </c:pt>
                <c:pt idx="21">
                  <c:v>Sep 25</c:v>
                </c:pt>
                <c:pt idx="22">
                  <c:v>                       </c:v>
                </c:pt>
                <c:pt idx="23">
                  <c:v>                        </c:v>
                </c:pt>
                <c:pt idx="24">
                  <c:v>Dec 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-0.77</c:v>
                </c:pt>
                <c:pt idx="1">
                  <c:v>2.44</c:v>
                </c:pt>
                <c:pt idx="2">
                  <c:v>7.26</c:v>
                </c:pt>
                <c:pt idx="3">
                  <c:v>9.1999999999999993</c:v>
                </c:pt>
                <c:pt idx="4">
                  <c:v>7.72</c:v>
                </c:pt>
                <c:pt idx="5">
                  <c:v>14.7</c:v>
                </c:pt>
                <c:pt idx="6">
                  <c:v>21.76</c:v>
                </c:pt>
                <c:pt idx="7">
                  <c:v>20.45</c:v>
                </c:pt>
                <c:pt idx="8">
                  <c:v>28.35</c:v>
                </c:pt>
                <c:pt idx="9">
                  <c:v>28.19</c:v>
                </c:pt>
                <c:pt idx="10">
                  <c:v>25.23</c:v>
                </c:pt>
                <c:pt idx="11">
                  <c:v>27.1</c:v>
                </c:pt>
                <c:pt idx="12">
                  <c:v>26.71</c:v>
                </c:pt>
                <c:pt idx="13">
                  <c:v>29.08</c:v>
                </c:pt>
                <c:pt idx="14">
                  <c:v>34.61</c:v>
                </c:pt>
                <c:pt idx="15">
                  <c:v>28.9</c:v>
                </c:pt>
                <c:pt idx="16">
                  <c:v>33.26</c:v>
                </c:pt>
                <c:pt idx="17">
                  <c:v>29.44</c:v>
                </c:pt>
                <c:pt idx="18">
                  <c:v>34.44</c:v>
                </c:pt>
                <c:pt idx="19">
                  <c:v>34.54</c:v>
                </c:pt>
                <c:pt idx="20">
                  <c:v>39</c:v>
                </c:pt>
                <c:pt idx="21">
                  <c:v>47.93</c:v>
                </c:pt>
                <c:pt idx="22">
                  <c:v>56.33</c:v>
                </c:pt>
                <c:pt idx="23">
                  <c:v>67.02</c:v>
                </c:pt>
                <c:pt idx="24">
                  <c:v>67.55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F5-9C48-8B21-61C158A48B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Historical Max Sharpe</c:v>
                </c:pt>
              </c:strCache>
            </c:strRef>
          </c:tx>
          <c:spPr>
            <a:ln w="31750" cap="flat">
              <a:solidFill>
                <a:srgbClr val="0E1F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1F3C"/>
              </a:solidFill>
              <a:ln w="9525" cap="flat">
                <a:solidFill>
                  <a:srgbClr val="0E1F3C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Jan 24</c:v>
                </c:pt>
                <c:pt idx="1">
                  <c:v>  </c:v>
                </c:pt>
                <c:pt idx="2">
                  <c:v>   </c:v>
                </c:pt>
                <c:pt idx="3">
                  <c:v>Mar 24</c:v>
                </c:pt>
                <c:pt idx="4">
                  <c:v>     </c:v>
                </c:pt>
                <c:pt idx="5">
                  <c:v>      </c:v>
                </c:pt>
                <c:pt idx="6">
                  <c:v>Jun 24</c:v>
                </c:pt>
                <c:pt idx="7">
                  <c:v>        </c:v>
                </c:pt>
                <c:pt idx="8">
                  <c:v>         </c:v>
                </c:pt>
                <c:pt idx="9">
                  <c:v>Sep 24</c:v>
                </c:pt>
                <c:pt idx="10">
                  <c:v>           </c:v>
                </c:pt>
                <c:pt idx="11">
                  <c:v>            </c:v>
                </c:pt>
                <c:pt idx="12">
                  <c:v>Dec 24</c:v>
                </c:pt>
                <c:pt idx="13">
                  <c:v>              </c:v>
                </c:pt>
                <c:pt idx="14">
                  <c:v>               </c:v>
                </c:pt>
                <c:pt idx="15">
                  <c:v>Mar 25</c:v>
                </c:pt>
                <c:pt idx="16">
                  <c:v>                 </c:v>
                </c:pt>
                <c:pt idx="17">
                  <c:v>                  </c:v>
                </c:pt>
                <c:pt idx="18">
                  <c:v>Jun 25</c:v>
                </c:pt>
                <c:pt idx="19">
                  <c:v>                    </c:v>
                </c:pt>
                <c:pt idx="20">
                  <c:v>                     </c:v>
                </c:pt>
                <c:pt idx="21">
                  <c:v>Sep 25</c:v>
                </c:pt>
                <c:pt idx="22">
                  <c:v>                       </c:v>
                </c:pt>
                <c:pt idx="23">
                  <c:v>                        </c:v>
                </c:pt>
                <c:pt idx="24">
                  <c:v>Dec 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-0.52</c:v>
                </c:pt>
                <c:pt idx="1">
                  <c:v>2.35</c:v>
                </c:pt>
                <c:pt idx="2">
                  <c:v>7.22</c:v>
                </c:pt>
                <c:pt idx="3">
                  <c:v>10.48</c:v>
                </c:pt>
                <c:pt idx="4">
                  <c:v>8.8699999999999992</c:v>
                </c:pt>
                <c:pt idx="5">
                  <c:v>14.55</c:v>
                </c:pt>
                <c:pt idx="6">
                  <c:v>20.69</c:v>
                </c:pt>
                <c:pt idx="7">
                  <c:v>19.52</c:v>
                </c:pt>
                <c:pt idx="8">
                  <c:v>27</c:v>
                </c:pt>
                <c:pt idx="9">
                  <c:v>27.95</c:v>
                </c:pt>
                <c:pt idx="10">
                  <c:v>24.59</c:v>
                </c:pt>
                <c:pt idx="11">
                  <c:v>25.13</c:v>
                </c:pt>
                <c:pt idx="12">
                  <c:v>23.08</c:v>
                </c:pt>
                <c:pt idx="13">
                  <c:v>25.87</c:v>
                </c:pt>
                <c:pt idx="14">
                  <c:v>30.68</c:v>
                </c:pt>
                <c:pt idx="15">
                  <c:v>27.25</c:v>
                </c:pt>
                <c:pt idx="16">
                  <c:v>31.98</c:v>
                </c:pt>
                <c:pt idx="17">
                  <c:v>28.19</c:v>
                </c:pt>
                <c:pt idx="18">
                  <c:v>33.32</c:v>
                </c:pt>
                <c:pt idx="19">
                  <c:v>33.61</c:v>
                </c:pt>
                <c:pt idx="20">
                  <c:v>36.79</c:v>
                </c:pt>
                <c:pt idx="21">
                  <c:v>46.3</c:v>
                </c:pt>
                <c:pt idx="22">
                  <c:v>55.54</c:v>
                </c:pt>
                <c:pt idx="23">
                  <c:v>66.36</c:v>
                </c:pt>
                <c:pt idx="24">
                  <c:v>66.819999999999993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F5-9C48-8B21-61C158A48B3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SPY Benchmark</c:v>
                </c:pt>
              </c:strCache>
            </c:strRef>
          </c:tx>
          <c:spPr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Jan 24</c:v>
                </c:pt>
                <c:pt idx="1">
                  <c:v>  </c:v>
                </c:pt>
                <c:pt idx="2">
                  <c:v>   </c:v>
                </c:pt>
                <c:pt idx="3">
                  <c:v>Mar 24</c:v>
                </c:pt>
                <c:pt idx="4">
                  <c:v>     </c:v>
                </c:pt>
                <c:pt idx="5">
                  <c:v>      </c:v>
                </c:pt>
                <c:pt idx="6">
                  <c:v>Jun 24</c:v>
                </c:pt>
                <c:pt idx="7">
                  <c:v>        </c:v>
                </c:pt>
                <c:pt idx="8">
                  <c:v>         </c:v>
                </c:pt>
                <c:pt idx="9">
                  <c:v>Sep 24</c:v>
                </c:pt>
                <c:pt idx="10">
                  <c:v>           </c:v>
                </c:pt>
                <c:pt idx="11">
                  <c:v>            </c:v>
                </c:pt>
                <c:pt idx="12">
                  <c:v>Dec 24</c:v>
                </c:pt>
                <c:pt idx="13">
                  <c:v>              </c:v>
                </c:pt>
                <c:pt idx="14">
                  <c:v>               </c:v>
                </c:pt>
                <c:pt idx="15">
                  <c:v>Mar 25</c:v>
                </c:pt>
                <c:pt idx="16">
                  <c:v>                 </c:v>
                </c:pt>
                <c:pt idx="17">
                  <c:v>                  </c:v>
                </c:pt>
                <c:pt idx="18">
                  <c:v>Jun 25</c:v>
                </c:pt>
                <c:pt idx="19">
                  <c:v>                    </c:v>
                </c:pt>
                <c:pt idx="20">
                  <c:v>                     </c:v>
                </c:pt>
                <c:pt idx="21">
                  <c:v>Sep 25</c:v>
                </c:pt>
                <c:pt idx="22">
                  <c:v>                       </c:v>
                </c:pt>
                <c:pt idx="23">
                  <c:v>                        </c:v>
                </c:pt>
                <c:pt idx="24">
                  <c:v>Dec 25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-0.56000000000000005</c:v>
                </c:pt>
                <c:pt idx="1">
                  <c:v>1.59</c:v>
                </c:pt>
                <c:pt idx="2">
                  <c:v>6.89</c:v>
                </c:pt>
                <c:pt idx="3">
                  <c:v>10.39</c:v>
                </c:pt>
                <c:pt idx="4">
                  <c:v>5.94</c:v>
                </c:pt>
                <c:pt idx="5">
                  <c:v>11.3</c:v>
                </c:pt>
                <c:pt idx="6">
                  <c:v>15.22</c:v>
                </c:pt>
                <c:pt idx="7">
                  <c:v>16.62</c:v>
                </c:pt>
                <c:pt idx="8">
                  <c:v>19.34</c:v>
                </c:pt>
                <c:pt idx="9">
                  <c:v>21.85</c:v>
                </c:pt>
                <c:pt idx="10">
                  <c:v>20.76</c:v>
                </c:pt>
                <c:pt idx="11">
                  <c:v>27.97</c:v>
                </c:pt>
                <c:pt idx="12">
                  <c:v>24.89</c:v>
                </c:pt>
                <c:pt idx="13">
                  <c:v>28.24</c:v>
                </c:pt>
                <c:pt idx="14">
                  <c:v>26.61</c:v>
                </c:pt>
                <c:pt idx="15">
                  <c:v>19.559999999999999</c:v>
                </c:pt>
                <c:pt idx="16">
                  <c:v>18.52</c:v>
                </c:pt>
                <c:pt idx="17">
                  <c:v>25.97</c:v>
                </c:pt>
                <c:pt idx="18">
                  <c:v>32.44</c:v>
                </c:pt>
                <c:pt idx="19">
                  <c:v>35.49</c:v>
                </c:pt>
                <c:pt idx="20">
                  <c:v>38.270000000000003</c:v>
                </c:pt>
                <c:pt idx="21">
                  <c:v>43.2</c:v>
                </c:pt>
                <c:pt idx="22">
                  <c:v>46.61</c:v>
                </c:pt>
                <c:pt idx="23">
                  <c:v>46.9</c:v>
                </c:pt>
                <c:pt idx="24">
                  <c:v>48.11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CF5-9C48-8B21-61C158A48B3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Equal Weight</c:v>
                </c:pt>
              </c:strCache>
            </c:strRef>
          </c:tx>
          <c:spPr>
            <a:ln w="31750" cap="flat">
              <a:solidFill>
                <a:srgbClr val="5D6E8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D6E85"/>
              </a:solidFill>
              <a:ln w="9525" cap="flat">
                <a:solidFill>
                  <a:srgbClr val="5D6E85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Jan 24</c:v>
                </c:pt>
                <c:pt idx="1">
                  <c:v>  </c:v>
                </c:pt>
                <c:pt idx="2">
                  <c:v>   </c:v>
                </c:pt>
                <c:pt idx="3">
                  <c:v>Mar 24</c:v>
                </c:pt>
                <c:pt idx="4">
                  <c:v>     </c:v>
                </c:pt>
                <c:pt idx="5">
                  <c:v>      </c:v>
                </c:pt>
                <c:pt idx="6">
                  <c:v>Jun 24</c:v>
                </c:pt>
                <c:pt idx="7">
                  <c:v>        </c:v>
                </c:pt>
                <c:pt idx="8">
                  <c:v>         </c:v>
                </c:pt>
                <c:pt idx="9">
                  <c:v>Sep 24</c:v>
                </c:pt>
                <c:pt idx="10">
                  <c:v>           </c:v>
                </c:pt>
                <c:pt idx="11">
                  <c:v>            </c:v>
                </c:pt>
                <c:pt idx="12">
                  <c:v>Dec 24</c:v>
                </c:pt>
                <c:pt idx="13">
                  <c:v>              </c:v>
                </c:pt>
                <c:pt idx="14">
                  <c:v>               </c:v>
                </c:pt>
                <c:pt idx="15">
                  <c:v>Mar 25</c:v>
                </c:pt>
                <c:pt idx="16">
                  <c:v>                 </c:v>
                </c:pt>
                <c:pt idx="17">
                  <c:v>                  </c:v>
                </c:pt>
                <c:pt idx="18">
                  <c:v>Jun 25</c:v>
                </c:pt>
                <c:pt idx="19">
                  <c:v>                    </c:v>
                </c:pt>
                <c:pt idx="20">
                  <c:v>                     </c:v>
                </c:pt>
                <c:pt idx="21">
                  <c:v>Sep 25</c:v>
                </c:pt>
                <c:pt idx="22">
                  <c:v>                       </c:v>
                </c:pt>
                <c:pt idx="23">
                  <c:v>                        </c:v>
                </c:pt>
                <c:pt idx="24">
                  <c:v>Dec 25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0.23</c:v>
                </c:pt>
                <c:pt idx="1">
                  <c:v>1.51</c:v>
                </c:pt>
                <c:pt idx="2">
                  <c:v>4.1399999999999997</c:v>
                </c:pt>
                <c:pt idx="3">
                  <c:v>8.2100000000000009</c:v>
                </c:pt>
                <c:pt idx="4">
                  <c:v>5.99</c:v>
                </c:pt>
                <c:pt idx="5">
                  <c:v>10.52</c:v>
                </c:pt>
                <c:pt idx="6">
                  <c:v>12.43</c:v>
                </c:pt>
                <c:pt idx="7">
                  <c:v>15.78</c:v>
                </c:pt>
                <c:pt idx="8">
                  <c:v>20.329999999999998</c:v>
                </c:pt>
                <c:pt idx="9">
                  <c:v>22.65</c:v>
                </c:pt>
                <c:pt idx="10">
                  <c:v>19.420000000000002</c:v>
                </c:pt>
                <c:pt idx="11">
                  <c:v>24.07</c:v>
                </c:pt>
                <c:pt idx="12">
                  <c:v>18.54</c:v>
                </c:pt>
                <c:pt idx="13">
                  <c:v>21.5</c:v>
                </c:pt>
                <c:pt idx="14">
                  <c:v>23.04</c:v>
                </c:pt>
                <c:pt idx="15">
                  <c:v>21.39</c:v>
                </c:pt>
                <c:pt idx="16">
                  <c:v>20.010000000000002</c:v>
                </c:pt>
                <c:pt idx="17">
                  <c:v>21.28</c:v>
                </c:pt>
                <c:pt idx="18">
                  <c:v>24.54</c:v>
                </c:pt>
                <c:pt idx="19">
                  <c:v>23.95</c:v>
                </c:pt>
                <c:pt idx="20">
                  <c:v>28.12</c:v>
                </c:pt>
                <c:pt idx="21">
                  <c:v>32.78</c:v>
                </c:pt>
                <c:pt idx="22">
                  <c:v>36.93</c:v>
                </c:pt>
                <c:pt idx="23">
                  <c:v>39.01</c:v>
                </c:pt>
                <c:pt idx="24">
                  <c:v>39.68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CF5-9C48-8B21-61C158A48B3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Historical Min Vol</c:v>
                </c:pt>
              </c:strCache>
            </c:strRef>
          </c:tx>
          <c:spPr>
            <a:ln w="31750" cap="flat">
              <a:solidFill>
                <a:srgbClr val="6FD3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FD3C4"/>
              </a:solidFill>
              <a:ln w="9525" cap="flat">
                <a:solidFill>
                  <a:srgbClr val="6FD3C4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Jan 24</c:v>
                </c:pt>
                <c:pt idx="1">
                  <c:v>  </c:v>
                </c:pt>
                <c:pt idx="2">
                  <c:v>   </c:v>
                </c:pt>
                <c:pt idx="3">
                  <c:v>Mar 24</c:v>
                </c:pt>
                <c:pt idx="4">
                  <c:v>     </c:v>
                </c:pt>
                <c:pt idx="5">
                  <c:v>      </c:v>
                </c:pt>
                <c:pt idx="6">
                  <c:v>Jun 24</c:v>
                </c:pt>
                <c:pt idx="7">
                  <c:v>        </c:v>
                </c:pt>
                <c:pt idx="8">
                  <c:v>         </c:v>
                </c:pt>
                <c:pt idx="9">
                  <c:v>Sep 24</c:v>
                </c:pt>
                <c:pt idx="10">
                  <c:v>           </c:v>
                </c:pt>
                <c:pt idx="11">
                  <c:v>            </c:v>
                </c:pt>
                <c:pt idx="12">
                  <c:v>Dec 24</c:v>
                </c:pt>
                <c:pt idx="13">
                  <c:v>              </c:v>
                </c:pt>
                <c:pt idx="14">
                  <c:v>               </c:v>
                </c:pt>
                <c:pt idx="15">
                  <c:v>Mar 25</c:v>
                </c:pt>
                <c:pt idx="16">
                  <c:v>                 </c:v>
                </c:pt>
                <c:pt idx="17">
                  <c:v>                  </c:v>
                </c:pt>
                <c:pt idx="18">
                  <c:v>Jun 25</c:v>
                </c:pt>
                <c:pt idx="19">
                  <c:v>                    </c:v>
                </c:pt>
                <c:pt idx="20">
                  <c:v>                     </c:v>
                </c:pt>
                <c:pt idx="21">
                  <c:v>Sep 25</c:v>
                </c:pt>
                <c:pt idx="22">
                  <c:v>                       </c:v>
                </c:pt>
                <c:pt idx="23">
                  <c:v>                        </c:v>
                </c:pt>
                <c:pt idx="24">
                  <c:v>Dec 25</c:v>
                </c:pt>
              </c:strCache>
            </c:strRef>
          </c:cat>
          <c:val>
            <c:numRef>
              <c:f>Sheet1!$F$2:$F$26</c:f>
              <c:numCache>
                <c:formatCode>General</c:formatCode>
                <c:ptCount val="25"/>
                <c:pt idx="0">
                  <c:v>0.13</c:v>
                </c:pt>
                <c:pt idx="1">
                  <c:v>0.68</c:v>
                </c:pt>
                <c:pt idx="2">
                  <c:v>0.51</c:v>
                </c:pt>
                <c:pt idx="3">
                  <c:v>4.46</c:v>
                </c:pt>
                <c:pt idx="4">
                  <c:v>2.59</c:v>
                </c:pt>
                <c:pt idx="5">
                  <c:v>5.03</c:v>
                </c:pt>
                <c:pt idx="6">
                  <c:v>5.94</c:v>
                </c:pt>
                <c:pt idx="7">
                  <c:v>9.67</c:v>
                </c:pt>
                <c:pt idx="8">
                  <c:v>13.02</c:v>
                </c:pt>
                <c:pt idx="9">
                  <c:v>15.79</c:v>
                </c:pt>
                <c:pt idx="10">
                  <c:v>13.6</c:v>
                </c:pt>
                <c:pt idx="11">
                  <c:v>15.01</c:v>
                </c:pt>
                <c:pt idx="12">
                  <c:v>10.25</c:v>
                </c:pt>
                <c:pt idx="13">
                  <c:v>12.92</c:v>
                </c:pt>
                <c:pt idx="14">
                  <c:v>16.940000000000001</c:v>
                </c:pt>
                <c:pt idx="15">
                  <c:v>18.96</c:v>
                </c:pt>
                <c:pt idx="16">
                  <c:v>20.52</c:v>
                </c:pt>
                <c:pt idx="17">
                  <c:v>19.95</c:v>
                </c:pt>
                <c:pt idx="18">
                  <c:v>21.64</c:v>
                </c:pt>
                <c:pt idx="19">
                  <c:v>20.6</c:v>
                </c:pt>
                <c:pt idx="20">
                  <c:v>23.57</c:v>
                </c:pt>
                <c:pt idx="21">
                  <c:v>29.18</c:v>
                </c:pt>
                <c:pt idx="22">
                  <c:v>30.97</c:v>
                </c:pt>
                <c:pt idx="23">
                  <c:v>33.71</c:v>
                </c:pt>
                <c:pt idx="24">
                  <c:v>34.51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CF5-9C48-8B21-61C158A48B36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RF Predictive Min Vol</c:v>
                </c:pt>
              </c:strCache>
            </c:strRef>
          </c:tx>
          <c:spPr>
            <a:ln w="31750" cap="flat">
              <a:solidFill>
                <a:srgbClr val="B9C6D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9C6D6"/>
              </a:solidFill>
              <a:ln w="9525" cap="flat">
                <a:solidFill>
                  <a:srgbClr val="B9C6D6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Jan 24</c:v>
                </c:pt>
                <c:pt idx="1">
                  <c:v>  </c:v>
                </c:pt>
                <c:pt idx="2">
                  <c:v>   </c:v>
                </c:pt>
                <c:pt idx="3">
                  <c:v>Mar 24</c:v>
                </c:pt>
                <c:pt idx="4">
                  <c:v>     </c:v>
                </c:pt>
                <c:pt idx="5">
                  <c:v>      </c:v>
                </c:pt>
                <c:pt idx="6">
                  <c:v>Jun 24</c:v>
                </c:pt>
                <c:pt idx="7">
                  <c:v>        </c:v>
                </c:pt>
                <c:pt idx="8">
                  <c:v>         </c:v>
                </c:pt>
                <c:pt idx="9">
                  <c:v>Sep 24</c:v>
                </c:pt>
                <c:pt idx="10">
                  <c:v>           </c:v>
                </c:pt>
                <c:pt idx="11">
                  <c:v>            </c:v>
                </c:pt>
                <c:pt idx="12">
                  <c:v>Dec 24</c:v>
                </c:pt>
                <c:pt idx="13">
                  <c:v>              </c:v>
                </c:pt>
                <c:pt idx="14">
                  <c:v>               </c:v>
                </c:pt>
                <c:pt idx="15">
                  <c:v>Mar 25</c:v>
                </c:pt>
                <c:pt idx="16">
                  <c:v>                 </c:v>
                </c:pt>
                <c:pt idx="17">
                  <c:v>                  </c:v>
                </c:pt>
                <c:pt idx="18">
                  <c:v>Jun 25</c:v>
                </c:pt>
                <c:pt idx="19">
                  <c:v>                    </c:v>
                </c:pt>
                <c:pt idx="20">
                  <c:v>                     </c:v>
                </c:pt>
                <c:pt idx="21">
                  <c:v>Sep 25</c:v>
                </c:pt>
                <c:pt idx="22">
                  <c:v>                       </c:v>
                </c:pt>
                <c:pt idx="23">
                  <c:v>                        </c:v>
                </c:pt>
                <c:pt idx="24">
                  <c:v>Dec 25</c:v>
                </c:pt>
              </c:strCache>
            </c:strRef>
          </c:cat>
          <c:val>
            <c:numRef>
              <c:f>Sheet1!$G$2:$G$26</c:f>
              <c:numCache>
                <c:formatCode>General</c:formatCode>
                <c:ptCount val="25"/>
                <c:pt idx="0">
                  <c:v>-0.13</c:v>
                </c:pt>
                <c:pt idx="1">
                  <c:v>-0.22</c:v>
                </c:pt>
                <c:pt idx="2">
                  <c:v>0.47</c:v>
                </c:pt>
                <c:pt idx="3">
                  <c:v>3.68</c:v>
                </c:pt>
                <c:pt idx="4">
                  <c:v>1.79</c:v>
                </c:pt>
                <c:pt idx="5">
                  <c:v>4.3600000000000003</c:v>
                </c:pt>
                <c:pt idx="6">
                  <c:v>4.95</c:v>
                </c:pt>
                <c:pt idx="7">
                  <c:v>9.06</c:v>
                </c:pt>
                <c:pt idx="8">
                  <c:v>12.7</c:v>
                </c:pt>
                <c:pt idx="9">
                  <c:v>14.43</c:v>
                </c:pt>
                <c:pt idx="10">
                  <c:v>11.51</c:v>
                </c:pt>
                <c:pt idx="11">
                  <c:v>13.43</c:v>
                </c:pt>
                <c:pt idx="12">
                  <c:v>9.1199999999999992</c:v>
                </c:pt>
                <c:pt idx="13">
                  <c:v>11.52</c:v>
                </c:pt>
                <c:pt idx="14">
                  <c:v>14.56</c:v>
                </c:pt>
                <c:pt idx="15">
                  <c:v>14.57</c:v>
                </c:pt>
                <c:pt idx="16">
                  <c:v>16.36</c:v>
                </c:pt>
                <c:pt idx="17">
                  <c:v>17.420000000000002</c:v>
                </c:pt>
                <c:pt idx="18">
                  <c:v>19.12</c:v>
                </c:pt>
                <c:pt idx="19">
                  <c:v>17.14</c:v>
                </c:pt>
                <c:pt idx="20">
                  <c:v>20.49</c:v>
                </c:pt>
                <c:pt idx="21">
                  <c:v>25.07</c:v>
                </c:pt>
                <c:pt idx="22">
                  <c:v>26.42</c:v>
                </c:pt>
                <c:pt idx="23">
                  <c:v>27.15</c:v>
                </c:pt>
                <c:pt idx="24">
                  <c:v>28.68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CF5-9C48-8B21-61C158A48B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02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6202F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6202F"/>
                </a:solidFill>
                <a:latin typeface="Calibri"/>
              </a:rPr>
              <a:t>Portfolio weight, % (max-Sharpe strategies)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 Max Sharpe</c:v>
                </c:pt>
              </c:strCache>
            </c:strRef>
          </c:tx>
          <c:spPr>
            <a:solidFill>
              <a:srgbClr val="0E1F3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LLY</c:v>
                </c:pt>
                <c:pt idx="1">
                  <c:v>GLD</c:v>
                </c:pt>
                <c:pt idx="2">
                  <c:v>MSFT</c:v>
                </c:pt>
                <c:pt idx="3">
                  <c:v>AAPL</c:v>
                </c:pt>
                <c:pt idx="4">
                  <c:v>TLT</c:v>
                </c:pt>
                <c:pt idx="5">
                  <c:v>AGG</c:v>
                </c:pt>
                <c:pt idx="6">
                  <c:v>CAT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25</c:v>
                </c:pt>
                <c:pt idx="2">
                  <c:v>15.4</c:v>
                </c:pt>
                <c:pt idx="3">
                  <c:v>15</c:v>
                </c:pt>
                <c:pt idx="4">
                  <c:v>10.4</c:v>
                </c:pt>
                <c:pt idx="5">
                  <c:v>4.3</c:v>
                </c:pt>
                <c:pt idx="6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2-0B41-9778-DE8A096F02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RF Predictive Max Sharpe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LLY</c:v>
                </c:pt>
                <c:pt idx="1">
                  <c:v>GLD</c:v>
                </c:pt>
                <c:pt idx="2">
                  <c:v>MSFT</c:v>
                </c:pt>
                <c:pt idx="3">
                  <c:v>AAPL</c:v>
                </c:pt>
                <c:pt idx="4">
                  <c:v>TLT</c:v>
                </c:pt>
                <c:pt idx="5">
                  <c:v>AGG</c:v>
                </c:pt>
                <c:pt idx="6">
                  <c:v>CAT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25</c:v>
                </c:pt>
                <c:pt idx="1">
                  <c:v>19.100000000000001</c:v>
                </c:pt>
                <c:pt idx="2">
                  <c:v>16.399999999999999</c:v>
                </c:pt>
                <c:pt idx="3">
                  <c:v>24.5</c:v>
                </c:pt>
                <c:pt idx="4">
                  <c:v>6.8</c:v>
                </c:pt>
                <c:pt idx="5">
                  <c:v>0</c:v>
                </c:pt>
                <c:pt idx="6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2-0B41-9778-DE8A096F02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0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02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930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framing: this is a predictive portfolio optimizer, not a stock price predictor. We forecast volatility, then feed that into allocation. Educational project, not financial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of the right-hand card: the whole project hinges on replacing one input to the optimizer — the risk estimate — with a model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joins on ticker + trading date. 42,210 raw ticker-day rows; 41,370 survive feature engineering once rolling windows warm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rolling_abs_return_20d dominates — recent realized movement is by far the strongest predictor of next-period volatility. The macro features add real but secondary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story: only the tree models beat the naive baseline. Linear and Ridge land below it with negative R² — the volatility relationship is not 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optimized max-Sharpe strategies beat SPY on every risk measure. The RF variant wins on return but takes more volatility to get there, so it loses on Sharpe.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Cumulative return, %, month-end. Both max-Sharpe lines pull away from SPY through 2025 with visibly shallower drawdowns.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land. The honest read: portfolio construction plus a diversified universe produced the outperformance. The volatility forecast changed the character of the portfolio but did not improve risk-adjusted return in this test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the four items on the right are not finished. The graded pipeline — data through optimization through dashboard — is complete; these are extensions in flight on feature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463040"/>
            <a:ext cx="5852160" cy="585216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2377440"/>
            <a:ext cx="3840480" cy="3840480"/>
          </a:xfrm>
          <a:prstGeom prst="ellipse">
            <a:avLst/>
          </a:prstGeom>
          <a:solidFill>
            <a:srgbClr val="E8A33D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442  ·  GROUP 2  ·  FINSIGHT ANALYTICS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Portfolio</a:t>
            </a:r>
            <a:endParaRPr lang="en-US" sz="48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analytics dashboard that forecasts asset volatility and turns</a:t>
            </a:r>
            <a:endParaRPr lang="en-US" sz="16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60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forecasts into portfolios — benchmarked against equal-weight and the S&amp;P 500.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800600"/>
            <a:ext cx="201168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5029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Eapen  ·  Jeffrey Cheung  ·  Joel Thomas  ·  Samii Shabuse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5376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 ·  INFO 442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averages miss changing risk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44168" y="1691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Return-chasing hides risk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44168" y="202082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investors compare portfolios on return alone and ignore volatility, drawdown, and how assets move together.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44168" y="30175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Backward-looking inputs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44168" y="334670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mean-variance optimization uses long-run historical averages. Market risk regimes shift; the inputs lag.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389120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44168" y="43434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accessible tooling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44168" y="467258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risk analytics sit behind paid terminals. Individual investors have no way to test an allocation before committing.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635240" y="1645920"/>
            <a:ext cx="3886200" cy="3931920"/>
          </a:xfrm>
          <a:prstGeom prst="roundRect">
            <a:avLst>
              <a:gd name="adj" fmla="val 1882"/>
            </a:avLst>
          </a:prstGeom>
          <a:solidFill>
            <a:srgbClr val="0E1F3C"/>
          </a:solidFill>
          <a:ln w="12700">
            <a:solidFill>
              <a:srgbClr val="0E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010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2286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</a:t>
            </a:r>
            <a:endParaRPr lang="en-US" sz="30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001000" y="37947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BC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feed those forecasts into the covariance matrix that drives the optimizer, instead of relying only on trailing history.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0100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use only — not financial advice.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 and goals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0820095" cy="1234440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8105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08483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model-predicted asset volatility, combined with historical returns and correlations, build portfolios that outperform equal-weight and S&amp;P 500 baselines on risk-adjusted return?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3127248"/>
            <a:ext cx="342381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3127248"/>
            <a:ext cx="342381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51560" y="3429000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4005072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51560" y="4370832"/>
            <a:ext cx="2692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next-period realized volatility from engineered market + macro features.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5120640"/>
            <a:ext cx="2692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RMSE · R²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3938" y="3127248"/>
            <a:ext cx="342381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3938" y="3127248"/>
            <a:ext cx="342381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49698" y="3429000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49698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49698" y="4005072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49698" y="4370832"/>
            <a:ext cx="2692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predicted risk into allocations for min-volatility and max-Sharpe objectives.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49698" y="5120640"/>
            <a:ext cx="2692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per asset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82077" y="3127248"/>
            <a:ext cx="342381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82077" y="3127248"/>
            <a:ext cx="342381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47837" y="342900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47837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47837" y="4005072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447837" y="4370832"/>
            <a:ext cx="26922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predictive strategies against equal-weight, historical-only, and SPY.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47837" y="5120640"/>
            <a:ext cx="2692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· drawdown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sources, one integrated panel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0E1F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920240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yfinance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2395728"/>
            <a:ext cx="2692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BC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OHLCV + adjusted close for 21 tickers, 2018–2025. Drives every return, volatility, and backtest number.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52044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× day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3938" y="164592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49698" y="1920240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Wikipedia S&amp;P 500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49698" y="2395728"/>
            <a:ext cx="2692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names and GICS sectors, joined on ticker. Used for sector labelling and diversification checks only.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49698" y="352044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company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2077" y="164592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47837" y="1920240"/>
            <a:ext cx="2692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47837" y="2395728"/>
            <a:ext cx="2692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VIX, 10-yr Treasury, yield-curve spread, fed funds, unemployment, CPI, recession flag, risk-free rate.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47837" y="352044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time series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4434840"/>
            <a:ext cx="24992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85800" y="5138928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tickers, incl. SPY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08681" y="4443984"/>
            <a:ext cx="187525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42,210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2494216" y="5157216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ticker-day rows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43662" y="4443984"/>
            <a:ext cx="27617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2018–2025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043662" y="5138928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coverage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06611" y="4434840"/>
            <a:ext cx="24992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006611" y="5138928"/>
            <a:ext cx="249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features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pipeline, all six stages built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1719072" cy="2103120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21945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41832" y="257860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41832" y="2962656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· Wikipedia · FRED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04872" y="27889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4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78608" y="1965960"/>
            <a:ext cx="1719072" cy="2103120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0" y="21945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34640" y="257860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834640" y="2962656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align trading dates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97680" y="27889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4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471416" y="1965960"/>
            <a:ext cx="1719072" cy="2103120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27448" y="21945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27448" y="257860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727448" y="2962656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panel, 42k rows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90488" y="27889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4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364224" y="1965960"/>
            <a:ext cx="1719072" cy="2103120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0256" y="21945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0256" y="257860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620256" y="2962656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features → select 17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83296" y="27889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4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257032" y="1965960"/>
            <a:ext cx="1719072" cy="2103120"/>
          </a:xfrm>
          <a:prstGeom prst="roundRect">
            <a:avLst>
              <a:gd name="adj" fmla="val 4255"/>
            </a:avLst>
          </a:prstGeom>
          <a:solidFill>
            <a:srgbClr val="0E1F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13064" y="21945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513064" y="257860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513064" y="2962656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volatility models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976104" y="278892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4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0149840" y="1965960"/>
            <a:ext cx="1719072" cy="2103120"/>
          </a:xfrm>
          <a:prstGeom prst="roundRect">
            <a:avLst>
              <a:gd name="adj" fmla="val 4255"/>
            </a:avLst>
          </a:prstGeom>
          <a:solidFill>
            <a:srgbClr val="0E1F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405872" y="219456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405872" y="2578608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0405872" y="2962656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strategies + backtest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" y="45262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lives in a numbered, rerunnable Jupyter notebook — 16 notebooks total, each writing versioned CSVs into data/processed/ so the dashboard and the report always read the same numbers.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deliberately diversified 20-asset universe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806440" cy="2880360"/>
          </a:xfrm>
          <a:prstGeom prst="roundRect">
            <a:avLst>
              <a:gd name="adj" fmla="val 2540"/>
            </a:avLst>
          </a:prstGeom>
          <a:solidFill>
            <a:srgbClr val="0E1F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20299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17320" y="19568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individual equities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· MSFT · AMZN · JPM · V · LLY · UNH</a:t>
            </a:r>
            <a:endParaRPr lang="en-US" sz="15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· KO · VZ · CAT · LMT · XOM · NEE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45643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GICS sectors: information technology, health care, financials, consumer staples, consumer discretionary, industrials, energy, utilities, and communication services.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691640"/>
            <a:ext cx="4690872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0" y="1911096"/>
            <a:ext cx="182880" cy="182880"/>
          </a:xfrm>
          <a:prstGeom prst="ellipse">
            <a:avLst/>
          </a:prstGeom>
          <a:solidFill>
            <a:srgbClr val="1B33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06640" y="18379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06640" y="2167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— aggregate bond  ·  TLT — 20+ yr Treasury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2697480"/>
            <a:ext cx="4690872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0" y="2916936"/>
            <a:ext cx="182880" cy="1828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06640" y="28437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06640" y="3172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 — gold  ·  VNQ — REITs  ·  VXUS — int'l equity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12280" y="3703320"/>
            <a:ext cx="4690872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32320" y="3922776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06640" y="38496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Equity ETFs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06640" y="4178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— Nasdaq growth  ·  SPY — benchmark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892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94560" y="4892040"/>
            <a:ext cx="9311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equities with bonds, gold, real estate, and international exposure gives the optimizer genuinely low-correlation assets to work with — without that, minimum-volatility and equal-weight collapse to nearly the same portfolio.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selection: 22 candidates down to 17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three independent signals — absolute target correlation, random-forest importance, and mutual information — then averaged. Redundant and raw-level columns were dropped.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— TOP SIGNALS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935224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852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rolling_abs_return_20d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264408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rolling_volatility_5d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593592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511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cpi_pct_change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922776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1832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251960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1832" y="41696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fed_funds_rate_pct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581144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1832" y="4498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yield_curve_spread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4910328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1832" y="4828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0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recession_flag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60520" y="2514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4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— REDUNDANT OR RAW-LEVEL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60520" y="2935224"/>
            <a:ext cx="118872" cy="118872"/>
          </a:xfrm>
          <a:prstGeom prst="ellipse">
            <a:avLst/>
          </a:prstGeom>
          <a:solidFill>
            <a:srgbClr val="C455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16552" y="2852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rolling_volatility_20d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60520" y="3264408"/>
            <a:ext cx="118872" cy="118872"/>
          </a:xfrm>
          <a:prstGeom prst="ellipse">
            <a:avLst/>
          </a:prstGeom>
          <a:solidFill>
            <a:srgbClr val="C455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16552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rolling_squared_return_20d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60520" y="3593592"/>
            <a:ext cx="118872" cy="118872"/>
          </a:xfrm>
          <a:prstGeom prst="ellipse">
            <a:avLst/>
          </a:prstGeom>
          <a:solidFill>
            <a:srgbClr val="C455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16552" y="3511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risk_free_rate_decimal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60520" y="3922776"/>
            <a:ext cx="118872" cy="118872"/>
          </a:xfrm>
          <a:prstGeom prst="ellipse">
            <a:avLst/>
          </a:prstGeom>
          <a:solidFill>
            <a:srgbClr val="C455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16552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moving_avg_20d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60520" y="4251960"/>
            <a:ext cx="118872" cy="118872"/>
          </a:xfrm>
          <a:prstGeom prst="ellipse">
            <a:avLst/>
          </a:prstGeom>
          <a:solidFill>
            <a:srgbClr val="C455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16552" y="41696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cpi_index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" y="5349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selected_features.csv is now the single source of truth for Linear, Ridge, Random Forest, and Gradient Boosting.</a:t>
            </a:r>
            <a:endParaRPr lang="en-US" sz="130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7635240" y="1600200"/>
          <a:ext cx="39319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 3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is the best volatility model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737360"/>
          <a:ext cx="67665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737360"/>
            <a:ext cx="3794760" cy="3657600"/>
          </a:xfrm>
          <a:prstGeom prst="roundRect">
            <a:avLst>
              <a:gd name="adj" fmla="val 2000"/>
            </a:avLst>
          </a:prstGeom>
          <a:solidFill>
            <a:srgbClr val="0E1F3C"/>
          </a:solidFill>
          <a:ln w="12700">
            <a:solidFill>
              <a:srgbClr val="0E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9244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(tuned)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92440" y="2331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0.339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09244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BC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0.002 for the rolling-volatility baseline and negative R² for both linear models.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9244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0" y="3794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0.00374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92440" y="4178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0" y="41788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0.00580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92440" y="45628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time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601200" y="45628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 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92440" y="4800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Boosting: R² 0.306 in 1.7 s — the fast backup.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Honest, auditable evaluation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2716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69848" y="2011680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Time-based split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9848" y="2514600"/>
            <a:ext cx="444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2018-01-31 → 2023-12-29. Test 2024-01-02 → 2025-12-01. No shuffling, no look-ahead.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78728" y="1737360"/>
            <a:ext cx="522716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62776" y="2011680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31,269 / 10,101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62776" y="2514600"/>
            <a:ext cx="444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 and test rows. Every model sees the identical split and identical 17-feature list.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749040"/>
            <a:ext cx="522716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" y="4023360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Logged runtimes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69848" y="4526280"/>
            <a:ext cx="444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writes training start/end timestamps and duration, so accuracy-vs-cost is a comparison we can actually make.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8728" y="3749040"/>
            <a:ext cx="522716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62776" y="4023360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baseline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662776" y="4526280"/>
            <a:ext cx="4449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20-day rolling volatility. Any model that can't beat it isn't earning its complexity.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57150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i="1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GARCH(1,1) was run separately on SPY only (MAE 0.00382 vs. baseline 0.00402) — a statistical cross-check, not part of the all-ticker leaderboard.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CONSTRUCTION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strategies, one benchmark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2381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2011680"/>
            <a:ext cx="182880" cy="182880"/>
          </a:xfrm>
          <a:prstGeom prst="ellipse">
            <a:avLst/>
          </a:prstGeom>
          <a:solidFill>
            <a:srgbClr val="5D6E8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0160" y="1947672"/>
            <a:ext cx="2600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Weight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05840" y="235000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to each of 20 assets. The naive baseline.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3938" y="1691640"/>
            <a:ext cx="342381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3978" y="2011680"/>
            <a:ext cx="182880" cy="182880"/>
          </a:xfrm>
          <a:prstGeom prst="ellipse">
            <a:avLst/>
          </a:prstGeom>
          <a:solidFill>
            <a:srgbClr val="1B33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78298" y="1947672"/>
            <a:ext cx="2600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Min Vol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703978" y="235000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variance using the historical covariance matrix.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2077" y="1691640"/>
            <a:ext cx="342381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02117" y="2011680"/>
            <a:ext cx="182880" cy="182880"/>
          </a:xfrm>
          <a:prstGeom prst="ellipse">
            <a:avLst/>
          </a:prstGeom>
          <a:solidFill>
            <a:srgbClr val="1B33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76437" y="1947672"/>
            <a:ext cx="2600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Max Sharpe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402117" y="235000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return per unit of historical risk.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337560"/>
            <a:ext cx="342381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05840" y="3657600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80160" y="3593592"/>
            <a:ext cx="2600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Predictive Min Vol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05840" y="399592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solver, but risk comes from RF-forecast volatility.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3938" y="3337560"/>
            <a:ext cx="342381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3978" y="3657600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78298" y="3593592"/>
            <a:ext cx="2600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Predictive Max Sharpe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703978" y="399592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Max-Sharpe on the RF-predicted covariance matrix.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82077" y="3337560"/>
            <a:ext cx="3423818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402117" y="3657600"/>
            <a:ext cx="182880" cy="1828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76437" y="3593592"/>
            <a:ext cx="26008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SPY Benchmark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402117" y="3995928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Buy-and-hold the S&amp;P 500 ETF.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" y="48920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long-only, fully invested, 25% cap per asset. Solved with SciPy SLSQP over expected returns and the covariance matrix — the only thing that changes between historical and predictive variants is where the risk estimate comes from.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 results, 2024–2025 test window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17352" cy="2688336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return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vol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F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6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Max 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6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6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6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6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6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6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Predictive Max Sharpe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6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6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6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6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62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Min Vol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Predictive Min Vol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 Benchmark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5D6E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47548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05840" y="4956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risk-adjusted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005840" y="52303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Max Sharpe — 1.60 Sharpe vs. 1.00 for SPY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46520" y="4754880"/>
            <a:ext cx="5056632" cy="1234440"/>
          </a:xfrm>
          <a:prstGeom prst="roundRect">
            <a:avLst>
              <a:gd name="adj" fmla="val 5926"/>
            </a:avLst>
          </a:prstGeom>
          <a:solidFill>
            <a:srgbClr val="0E1F3C"/>
          </a:solidFill>
          <a:ln w="12700">
            <a:solidFill>
              <a:srgbClr val="0E1F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766560" y="4956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raw return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766560" y="52303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Predictive Max Sharpe — 27.1% annualized, 67.5% cumulative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4" name="Text 9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of the portfolios over the test window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691640"/>
          <a:ext cx="10820095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optimizer actually allocates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737360"/>
          <a:ext cx="6858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818120" y="17830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real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818120" y="2112264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max-Sharpe portfolios push straight to the 25% cap on their favourite names. The cap is doing a lot of work.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818120" y="30815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tilts equity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818120" y="341071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in RF-forecast risk moves weight out of gold and bonds and into AAPL — which is exactly why it earns more return and more volatility.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18120" y="437997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Min-vol looks different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18120" y="470916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minimum-volatility portfolios sit mostly in AGG, TLT, and GLD, with single-digit equity positions.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Streamlit dashboard, five pages live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6766560" cy="749808"/>
          </a:xfrm>
          <a:prstGeom prst="roundRect">
            <a:avLst>
              <a:gd name="adj" fmla="val 7317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41832" y="1865376"/>
            <a:ext cx="402336" cy="402336"/>
          </a:xfrm>
          <a:prstGeom prst="ellipse">
            <a:avLst/>
          </a:prstGeom>
          <a:solidFill>
            <a:srgbClr val="D4DCE6"/>
          </a:solidFill>
          <a:ln w="12700">
            <a:solidFill>
              <a:srgbClr val="D4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41832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90472" y="17830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90472" y="20848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framing, asset universe, and the headline metrics.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532888"/>
            <a:ext cx="6766560" cy="749808"/>
          </a:xfrm>
          <a:prstGeom prst="roundRect">
            <a:avLst>
              <a:gd name="adj" fmla="val 7317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41832" y="2706624"/>
            <a:ext cx="402336" cy="402336"/>
          </a:xfrm>
          <a:prstGeom prst="ellipse">
            <a:avLst/>
          </a:prstGeom>
          <a:solidFill>
            <a:srgbClr val="D4DCE6"/>
          </a:solidFill>
          <a:ln w="12700">
            <a:solidFill>
              <a:srgbClr val="D4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90472" y="26243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90472" y="2926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RMSE, MAE, and R²; GARCH shown separately.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374136"/>
            <a:ext cx="6766560" cy="749808"/>
          </a:xfrm>
          <a:prstGeom prst="roundRect">
            <a:avLst>
              <a:gd name="adj" fmla="val 7317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41832" y="3547872"/>
            <a:ext cx="402336" cy="402336"/>
          </a:xfrm>
          <a:prstGeom prst="ellipse">
            <a:avLst/>
          </a:prstGeom>
          <a:solidFill>
            <a:srgbClr val="D4DCE6"/>
          </a:solidFill>
          <a:ln w="12700">
            <a:solidFill>
              <a:srgbClr val="D4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1832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90472" y="34655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Explorer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90472" y="37673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model and a ticker, see predicted vs. actual volatility.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215384"/>
            <a:ext cx="6766560" cy="749808"/>
          </a:xfrm>
          <a:prstGeom prst="roundRect">
            <a:avLst>
              <a:gd name="adj" fmla="val 7317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41832" y="4389120"/>
            <a:ext cx="402336" cy="402336"/>
          </a:xfrm>
          <a:prstGeom prst="ellipse">
            <a:avLst/>
          </a:prstGeom>
          <a:solidFill>
            <a:srgbClr val="D4DCE6"/>
          </a:solidFill>
          <a:ln w="12700">
            <a:solidFill>
              <a:srgbClr val="D4DC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1832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90472" y="43068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Strategies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90472" y="460857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weights, performance table, cumulative return curves.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056632"/>
            <a:ext cx="6766560" cy="749808"/>
          </a:xfrm>
          <a:prstGeom prst="roundRect">
            <a:avLst>
              <a:gd name="adj" fmla="val 7317"/>
            </a:avLst>
          </a:prstGeom>
          <a:solidFill>
            <a:srgbClr val="0E1F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41832" y="5230368"/>
            <a:ext cx="402336" cy="40233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1832" y="5230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90472" y="51480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Optimizer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90472" y="54498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assets, objective, and max weight — solves and backtests on demand.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18120" y="1691640"/>
            <a:ext cx="3703320" cy="4023360"/>
          </a:xfrm>
          <a:prstGeom prst="roundRect">
            <a:avLst>
              <a:gd name="adj" fmla="val 1975"/>
            </a:avLst>
          </a:prstGeom>
          <a:solidFill>
            <a:srgbClr val="F2F5F9"/>
          </a:solidFill>
          <a:ln w="12700">
            <a:solidFill>
              <a:srgbClr val="F2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13816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Optimizer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138160" y="239572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addition. It builds weights on demand from the random forest's predicted volatility plus historical correlations, rather than replaying a precomputed strategy.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38160" y="3611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optimization math lives in src/portfolio_optimizer.py — shared by the dashboard and the notebooks, so there's one implementation to trust.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3816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 in browser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937760" cy="4937760"/>
          </a:xfrm>
          <a:prstGeom prst="ellipse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RESEARCH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— but the optimizer, not the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forecast, does the heavy lifting.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500" dirty="0">
                <a:solidFill>
                  <a:srgbClr val="C6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portfolios beat both baselines decisively. Swapping historical risk for model-predicted risk shifted the portfolio further up the risk curve — more return, more volatility — rather than delivering a better tradeoff.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79476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1B33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69848" y="4041648"/>
            <a:ext cx="26557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+0.60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69848" y="4773168"/>
            <a:ext cx="2655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C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gained over SPY by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C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Max Sharpe (1.60 vs. 1.00)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3938" y="379476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1B33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67986" y="4041648"/>
            <a:ext cx="26557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-6.5 pts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767986" y="4773168"/>
            <a:ext cx="2655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C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maximum drawdown than SPY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C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(-12.2% vs. -18.8%)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82077" y="3794760"/>
            <a:ext cx="3423818" cy="1874520"/>
          </a:xfrm>
          <a:prstGeom prst="roundRect">
            <a:avLst>
              <a:gd name="adj" fmla="val 3902"/>
            </a:avLst>
          </a:prstGeom>
          <a:solidFill>
            <a:srgbClr val="1B33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66125" y="4041648"/>
            <a:ext cx="26557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-0.13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466125" y="4773168"/>
            <a:ext cx="2655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C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lost when swapping to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BCC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RF-predicted risk (1.47 vs. 1.60)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0820095" cy="1234440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1892808"/>
            <a:ext cx="219456" cy="21945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35608" y="180136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is predictable — nonlinearly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435608" y="2185416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reaches R² 0.339 while Linear and Ridge post negative R², below a naive 20-day rolling baseline. Tree models capture the interaction between recent realized movement and macro regime; linear models don't.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953512"/>
            <a:ext cx="10820095" cy="1234440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69848" y="3246120"/>
            <a:ext cx="219456" cy="219456"/>
          </a:xfrm>
          <a:prstGeom prst="ellipse">
            <a:avLst/>
          </a:prstGeom>
          <a:solidFill>
            <a:srgbClr val="1B335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35608" y="315468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data helps, but only after selection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435608" y="353872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every FRED column added noise. Ranking by correlation, RF importance, and mutual information — then cutting to 17 features — is what made the macro data pay off.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306824"/>
            <a:ext cx="10820095" cy="1234440"/>
          </a:xfrm>
          <a:prstGeom prst="roundRect">
            <a:avLst>
              <a:gd name="adj" fmla="val 5926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69848" y="4599432"/>
            <a:ext cx="219456" cy="21945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35608" y="450799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risk buys return, not Sharpe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435608" y="489204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Predictive Max Sharpe earned the highest return (27.1%) and cumulative return (67.5%), but Historical Max Sharpe kept the best Sharpe (1.60 vs. 1.47). Forecast risk shifted the portfolio up the risk curve, not off it.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5742432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both optimized max-Sharpe portfolios beat SPY on return, volatility, and drawdown at once — the diversified universe plus a real optimizer does most of the work, and the volatility forecast tunes it.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ACCOUNTING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where this goes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349240" cy="4279392"/>
          </a:xfrm>
          <a:prstGeom prst="roundRect">
            <a:avLst>
              <a:gd name="adj" fmla="val 1709"/>
            </a:avLst>
          </a:prstGeom>
          <a:solidFill>
            <a:srgbClr val="F2F5F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69848" y="1874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C4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CANNOT CLAIM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69848" y="2295144"/>
            <a:ext cx="137160" cy="137160"/>
          </a:xfrm>
          <a:prstGeom prst="ellipse">
            <a:avLst/>
          </a:prstGeom>
          <a:solidFill>
            <a:srgbClr val="C455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22128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window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5054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come from a single 2024–2025 split. A different window could reorder the strategies.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69848" y="3209544"/>
            <a:ext cx="137160" cy="137160"/>
          </a:xfrm>
          <a:prstGeom prst="ellipse">
            <a:avLst/>
          </a:prstGeom>
          <a:solidFill>
            <a:srgbClr val="C455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3127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held fixed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4198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backtest never rebalances, so it understates both turnover costs and the optimizer's adaptability.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69848" y="4123944"/>
            <a:ext cx="137160" cy="137160"/>
          </a:xfrm>
          <a:prstGeom prst="ellipse">
            <a:avLst/>
          </a:prstGeom>
          <a:solidFill>
            <a:srgbClr val="C455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40416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data only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3342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intraday, no real-time monitoring, no transaction costs or taxes modelled.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69848" y="5038344"/>
            <a:ext cx="137160" cy="137160"/>
          </a:xfrm>
          <a:prstGeom prst="ellipse">
            <a:avLst/>
          </a:prstGeom>
          <a:solidFill>
            <a:srgbClr val="C4553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71600" y="49560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20-asset universe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52486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D6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assets were chosen up front; the optimizer never sees anything outside that set.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1600200"/>
            <a:ext cx="5148072" cy="4279392"/>
          </a:xfrm>
          <a:prstGeom prst="roundRect">
            <a:avLst>
              <a:gd name="adj" fmla="val 1709"/>
            </a:avLst>
          </a:prstGeom>
          <a:solidFill>
            <a:srgbClr val="0E1F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39128" y="1874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IN DEVELOPMENT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39128" y="2295144"/>
            <a:ext cx="137160" cy="1371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2212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Risk-profile presets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0" y="22311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40880" y="25054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/ balanced / aggressive mapped onto the existing solver.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39128" y="3209544"/>
            <a:ext cx="137160" cy="1371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40880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 view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875520" y="31455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40880" y="34198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full risk-return curve with every strategy marked on it.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39128" y="4123944"/>
            <a:ext cx="137160" cy="137160"/>
          </a:xfrm>
          <a:prstGeom prst="ellipse">
            <a:avLst/>
          </a:prstGeom>
          <a:solidFill>
            <a:srgbClr val="4A618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40880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rebalance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75520" y="40599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C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40880" y="43342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Reoptimize periodically instead of holding one set of weights.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39128" y="5038344"/>
            <a:ext cx="137160" cy="137160"/>
          </a:xfrm>
          <a:prstGeom prst="ellipse">
            <a:avLst/>
          </a:prstGeom>
          <a:solidFill>
            <a:srgbClr val="4A618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40880" y="4956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generation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875520" y="49743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C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40880" y="5248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target weights into concrete share quantities.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 Analytics  ·  INFO 442 Group 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828800"/>
            <a:ext cx="5303520" cy="5303520"/>
          </a:xfrm>
          <a:prstGeom prst="ellipse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— and a live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demo on request.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3657600"/>
            <a:ext cx="24992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443484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notebooks, all rerunnable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59404" y="3657600"/>
            <a:ext cx="24992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59404" y="443484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models compared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33008" y="3657600"/>
            <a:ext cx="24992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233008" y="443484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Sharpe vs. 1.00 SPY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06611" y="3657600"/>
            <a:ext cx="24992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6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006611" y="443484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AFC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pages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5577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 Eapen  ·  Jeffrey Cheung  ·  Joel Thomas  ·  Samii Shabuse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5897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and analytical project — not financial advice.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2266</Words>
  <Application>Microsoft Macintosh PowerPoint</Application>
  <PresentationFormat>Widescreen</PresentationFormat>
  <Paragraphs>355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Portfolio Optimization &amp; Risk Analytics</dc:title>
  <dc:subject>PptxGenJS Presentation</dc:subject>
  <dc:creator>FinSight Analytics — INFO 442 Group 2</dc:creator>
  <cp:lastModifiedBy>Cheung,Jeffrey</cp:lastModifiedBy>
  <cp:revision>2</cp:revision>
  <dcterms:created xsi:type="dcterms:W3CDTF">2026-08-07T02:05:51Z</dcterms:created>
  <dcterms:modified xsi:type="dcterms:W3CDTF">2026-08-07T02:09:39Z</dcterms:modified>
</cp:coreProperties>
</file>